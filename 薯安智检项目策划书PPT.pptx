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.svg" ContentType="image/svg+xml"/>
  <Override PartName="/ppt/media/image50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7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我们的项目展示。今天我们将向大家介绍我们的“薯安智检”项目，这是一款面向农业种植户的马铃薯病害智能识别系统。我们的目标是通过科技赋能农业，实现马铃薯病害的精准防控，助力农业数字化转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展示将分为八个部分，首先是项目概况，让大家对我们的项目有一个整体的了解。接着，我们将分析行业背景与痛点，阐述我们项目的必要性。然后，我们会详细介绍系统的架构与技术选型，展示我们的技术实力。之后，是我们的团队介绍，以及系统的核心功能模块。最后，我们将介绍财务计划、风险控制，并对项目进行总结与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名称是“薯安智检”，一款马铃薯病害智能识别系统。项目背景是基于当前农业数字化转型的趋势，以及马铃薯种植中病害防控的痛点。我们的目标是利用AI技术，实现马铃薯病害的快速识别和精准防控。我们的愿景是通过科技赋能农业，让每一块马铃薯都健康生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前，农业行业正朝着数字化、智能化方向快速发展，市场对智能识别系统的需求非常旺盛。同时，国家也出台了多项政策支持农业数字化转型。然而，传统的人工识别方式存在效率低、误判率高等痛点，现有产品也存在交互复杂、成本高等问题。这些痛点正是我们项目要解决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通过对比分析，我们发现现有竞品在病害识别、前端交互、后端性能和防控支持等方面都存在一些不足。而我们的项目在这些方面都具有明显的优势，特别是在接入了kimi K2.5模型后，我们的识别准确率和响应速度都有了显著提升，同时还能提供个性化的防控建议和AI智能问答服务。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在技术和商业模式上都进行了创新。在技术方面，我们采用了简洁化的前端设计和高效稳定的后端架构，并将AI模型与天气、位置数据进行了深度融合。在商业模式方面，我们采用了“基础功能免费+增值服务付费”的模式，既降低了用户的使用门槛，又保证了项目的可持续发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我们的系统架构分为四个核心层次：前端交互层、后端服务层、AI模型层和数据对接层。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前端交互层负责用户交互，后端服务层负责业务逻辑处理，AI模型层负责病害识别和智能问答，数据对接层负责对接天气和位置数据。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这种架构设计确保了系统的稳定性和高效性。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技术选型方面，我们采用了成熟稳定的技术栈。前端使用HTML+CSS+JavaScript，结合Flask模板渲染技术，实现了多终端适配。后端使用Python+Flask框架，搭配SQLite数据库，确保了系统的稳定性和高效性。AI模型方面，我们接入了kimi K2.5模型，并结合了CNN卷积神经网络和机器学习算法。同时，我们还对接了中国天气网和百度地图的API，获取天气和位置数据。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我们的团队由五位成员组成，分别负责项目管理、前端开发、后端开发、AI模型开发和测试运维。团队成员均来自物联网工程专业，具备丰富的项目经验和专业技能，能够确保项目的顺利实施和高质量完成。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我们的系统主要包含五个核心功能模块：病害识别、严重程度评估、环境风险分析、精准防控建议和AI智能问答。这些功能模块相互配合，形成了一个完整的马铃薯病害防控闭环，能够为用户提供全方位的服务。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财务方面，我们制定了详细的计划。项目总资金为XX万元，主要用于产品研发、市场推广和团队建设。我们计划通过多种渠道筹集资金，并制定了三年发展规划，从产品研发到市场推广，再到品牌巩固，逐步实现项目的可持续发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也充分考虑了项目可能面临的风险，并制定了相应的应对措施。在市场方面，我们将加强调研和推广；在法律和监管方面，我们将确保合规运营；在技术方面，我们将持续优化模型；在财务方面，我们将拓宽融资渠道，控制成本。通过这些措施，我们有信心应对各种风险，确保项目的顺利进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对项目进行总结与展望。我们的愿景是通过科技赋能农业，实现马铃薯病害的精准防控。我们的目标是成为行业标杆产品，助力农业高质量发展。展望未来，我们将拓展更多功能，构建完整的防控生态，为用户提供更全面的服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我的介绍到此结束，感谢大家的聆听！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svg"/><Relationship Id="rId7" Type="http://schemas.openxmlformats.org/officeDocument/2006/relationships/image" Target="../media/image12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21.svg"/><Relationship Id="rId15" Type="http://schemas.openxmlformats.org/officeDocument/2006/relationships/image" Target="../media/image20.png"/><Relationship Id="rId14" Type="http://schemas.openxmlformats.org/officeDocument/2006/relationships/image" Target="../media/image19.svg"/><Relationship Id="rId13" Type="http://schemas.openxmlformats.org/officeDocument/2006/relationships/image" Target="../media/image18.png"/><Relationship Id="rId12" Type="http://schemas.openxmlformats.org/officeDocument/2006/relationships/image" Target="../media/image17.svg"/><Relationship Id="rId11" Type="http://schemas.openxmlformats.org/officeDocument/2006/relationships/image" Target="../media/image16.png"/><Relationship Id="rId10" Type="http://schemas.openxmlformats.org/officeDocument/2006/relationships/image" Target="../media/image15.sv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svg"/><Relationship Id="rId8" Type="http://schemas.openxmlformats.org/officeDocument/2006/relationships/image" Target="../media/image4.png"/><Relationship Id="rId7" Type="http://schemas.openxmlformats.org/officeDocument/2006/relationships/image" Target="../media/image28.svg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1.jpe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9.svg"/><Relationship Id="rId7" Type="http://schemas.openxmlformats.org/officeDocument/2006/relationships/image" Target="../media/image38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44.svg"/><Relationship Id="rId4" Type="http://schemas.openxmlformats.org/officeDocument/2006/relationships/image" Target="../media/image43.png"/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image" Target="../media/image40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jpeg"/><Relationship Id="rId8" Type="http://schemas.openxmlformats.org/officeDocument/2006/relationships/image" Target="../media/image50.svg"/><Relationship Id="rId7" Type="http://schemas.openxmlformats.org/officeDocument/2006/relationships/image" Target="../media/image49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37.svg"/><Relationship Id="rId3" Type="http://schemas.openxmlformats.org/officeDocument/2006/relationships/image" Target="../media/image36.png"/><Relationship Id="rId2" Type="http://schemas.openxmlformats.org/officeDocument/2006/relationships/image" Target="../media/image46.sv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6.png"/><Relationship Id="rId8" Type="http://schemas.openxmlformats.org/officeDocument/2006/relationships/image" Target="../media/image55.svg"/><Relationship Id="rId7" Type="http://schemas.openxmlformats.org/officeDocument/2006/relationships/image" Target="../media/image54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37.svg"/><Relationship Id="rId3" Type="http://schemas.openxmlformats.org/officeDocument/2006/relationships/image" Target="../media/image36.png"/><Relationship Id="rId2" Type="http://schemas.openxmlformats.org/officeDocument/2006/relationships/image" Target="../media/image46.svg"/><Relationship Id="rId14" Type="http://schemas.openxmlformats.org/officeDocument/2006/relationships/notesSlide" Target="../notesSlides/notesSlide8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59.svg"/><Relationship Id="rId11" Type="http://schemas.openxmlformats.org/officeDocument/2006/relationships/image" Target="../media/image58.png"/><Relationship Id="rId10" Type="http://schemas.openxmlformats.org/officeDocument/2006/relationships/image" Target="../media/image57.svg"/><Relationship Id="rId1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4.png"/><Relationship Id="rId8" Type="http://schemas.openxmlformats.org/officeDocument/2006/relationships/image" Target="../media/image48.svg"/><Relationship Id="rId7" Type="http://schemas.openxmlformats.org/officeDocument/2006/relationships/image" Target="../media/image47.png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46.svg"/><Relationship Id="rId3" Type="http://schemas.openxmlformats.org/officeDocument/2006/relationships/image" Target="../media/image45.png"/><Relationship Id="rId2" Type="http://schemas.openxmlformats.org/officeDocument/2006/relationships/image" Target="../media/image61.svg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65.svg"/><Relationship Id="rId1" Type="http://schemas.openxmlformats.org/officeDocument/2006/relationships/image" Target="../media/image60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70.jpeg"/><Relationship Id="rId4" Type="http://schemas.openxmlformats.org/officeDocument/2006/relationships/image" Target="../media/image69.jpeg"/><Relationship Id="rId3" Type="http://schemas.openxmlformats.org/officeDocument/2006/relationships/image" Target="../media/image68.jpeg"/><Relationship Id="rId2" Type="http://schemas.openxmlformats.org/officeDocument/2006/relationships/image" Target="../media/image67.jpeg"/><Relationship Id="rId1" Type="http://schemas.openxmlformats.org/officeDocument/2006/relationships/image" Target="../media/image66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4" Type="http://schemas.openxmlformats.org/officeDocument/2006/relationships/image" Target="../media/image72.svg"/><Relationship Id="rId3" Type="http://schemas.openxmlformats.org/officeDocument/2006/relationships/image" Target="../media/image71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7.svg"/><Relationship Id="rId7" Type="http://schemas.openxmlformats.org/officeDocument/2006/relationships/image" Target="../media/image16.png"/><Relationship Id="rId6" Type="http://schemas.openxmlformats.org/officeDocument/2006/relationships/image" Target="../media/image78.svg"/><Relationship Id="rId5" Type="http://schemas.openxmlformats.org/officeDocument/2006/relationships/image" Target="../media/image77.png"/><Relationship Id="rId4" Type="http://schemas.openxmlformats.org/officeDocument/2006/relationships/image" Target="../media/image65.svg"/><Relationship Id="rId3" Type="http://schemas.openxmlformats.org/officeDocument/2006/relationships/image" Target="../media/image64.png"/><Relationship Id="rId2" Type="http://schemas.openxmlformats.org/officeDocument/2006/relationships/image" Target="../media/image76.svg"/><Relationship Id="rId10" Type="http://schemas.openxmlformats.org/officeDocument/2006/relationships/notesSlide" Target="../notesSlides/notesSlide12.xml"/><Relationship Id="rId1" Type="http://schemas.openxmlformats.org/officeDocument/2006/relationships/image" Target="../media/image75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79.jpeg"/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80.png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CAF50">
                  <a:alpha val="100000"/>
                </a:srgbClr>
              </a:gs>
              <a:gs pos="100000">
                <a:srgbClr val="2196F3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00" y="1397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508000" y="2159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薯安智检项目策划书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29210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200">
                <a:solidFill>
                  <a:srgbClr val="FFFFFF">
                    <a:alpha val="6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SMART POTATO DISEASE DETECTION PROJECT PROPOSAL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7188">
            <a:off x="4826016" y="3486150"/>
            <a:ext cx="254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CAF50">
                <a:alpha val="8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/>
          <p:nvPr/>
        </p:nvSpPr>
        <p:spPr>
          <a:xfrm>
            <a:off x="1016000" y="3810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DCE6F0"/>
                </a:solidFill>
                <a:latin typeface="Noto Sans SC"/>
                <a:ea typeface="Noto Sans SC"/>
                <a:cs typeface="Noto Sans SC"/>
                <a:sym typeface="Noto Sans SC"/>
              </a:rPr>
              <a:t>北京农学院第十七届“农林杯”大学生创业计划竞赛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080000" y="4572000"/>
            <a:ext cx="2032000" cy="4064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080000" y="4572000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2026年3月27日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0" y="55880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0584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143000"/>
            <a:ext cx="5080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2476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76400" y="1778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762000" y="25400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项目概况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2476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E9E9E"/>
                </a:solidFill>
                <a:latin typeface="Noto Sans SC"/>
                <a:ea typeface="Noto Sans SC"/>
                <a:cs typeface="Noto Sans SC"/>
                <a:sym typeface="Noto Sans SC"/>
              </a:rPr>
              <a:t>Project Overview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492500" y="1524000"/>
            <a:ext cx="2476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6900" y="17780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492500" y="25400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行业背景与痛点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92500" y="2921000"/>
            <a:ext cx="2476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E9E9E"/>
                </a:solidFill>
                <a:latin typeface="Noto Sans SC"/>
                <a:ea typeface="Noto Sans SC"/>
                <a:cs typeface="Noto Sans SC"/>
                <a:sym typeface="Noto Sans SC"/>
              </a:rPr>
              <a:t>Industry &amp; Pain Points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524000"/>
            <a:ext cx="2476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37400" y="17780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223000" y="25400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系统架构与技术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2921000"/>
            <a:ext cx="2476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E9E9E"/>
                </a:solidFill>
                <a:latin typeface="Noto Sans SC"/>
                <a:ea typeface="Noto Sans SC"/>
                <a:cs typeface="Noto Sans SC"/>
                <a:sym typeface="Noto Sans SC"/>
              </a:rPr>
              <a:t>Architecture &amp; Tech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953500" y="1524000"/>
            <a:ext cx="2476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67900" y="1778000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953500" y="25400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团队介绍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953500" y="2921000"/>
            <a:ext cx="2476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E9E9E"/>
                </a:solidFill>
                <a:latin typeface="Noto Sans SC"/>
                <a:ea typeface="Noto Sans SC"/>
                <a:cs typeface="Noto Sans SC"/>
                <a:sym typeface="Noto Sans SC"/>
              </a:rPr>
              <a:t>Team Introduction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3683000"/>
            <a:ext cx="2476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76400" y="3937000"/>
            <a:ext cx="609600" cy="609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62000" y="46990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系统功能模块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080000"/>
            <a:ext cx="2476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E9E9E"/>
                </a:solidFill>
                <a:latin typeface="Noto Sans SC"/>
                <a:ea typeface="Noto Sans SC"/>
                <a:cs typeface="Noto Sans SC"/>
                <a:sym typeface="Noto Sans SC"/>
              </a:rPr>
              <a:t>System Features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492500" y="3683000"/>
            <a:ext cx="2476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06900" y="3937000"/>
            <a:ext cx="609600" cy="6096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3492500" y="46990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财务计划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3492500" y="5080000"/>
            <a:ext cx="2476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E9E9E"/>
                </a:solidFill>
                <a:latin typeface="Noto Sans SC"/>
                <a:ea typeface="Noto Sans SC"/>
                <a:cs typeface="Noto Sans SC"/>
                <a:sym typeface="Noto Sans SC"/>
              </a:rPr>
              <a:t>Financial Plan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223000" y="3683000"/>
            <a:ext cx="2476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137400" y="3937000"/>
            <a:ext cx="609600" cy="6096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6223000" y="46990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风险控制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223000" y="5080000"/>
            <a:ext cx="2476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E9E9E"/>
                </a:solidFill>
                <a:latin typeface="Noto Sans SC"/>
                <a:ea typeface="Noto Sans SC"/>
                <a:cs typeface="Noto Sans SC"/>
                <a:sym typeface="Noto Sans SC"/>
              </a:rPr>
              <a:t>Risk Control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953500" y="3683000"/>
            <a:ext cx="2476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867900" y="3937000"/>
            <a:ext cx="609600" cy="6096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8953500" y="46990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953500" y="5080000"/>
            <a:ext cx="2476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E9E9E"/>
                </a:solidFill>
                <a:latin typeface="Noto Sans SC"/>
                <a:ea typeface="Noto Sans SC"/>
                <a:cs typeface="Noto Sans SC"/>
                <a:sym typeface="Noto Sans SC"/>
              </a:rPr>
              <a:t>Summary &amp; Outlook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201168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项目概况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14500"/>
            <a:ext cx="762000" cy="50800"/>
          </a:xfrm>
          <a:prstGeom prst="roundRect">
            <a:avLst>
              <a:gd name="adj" fmla="val 0"/>
            </a:avLst>
          </a:prstGeom>
          <a:solidFill>
            <a:srgbClr val="2196F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2000" y="2032000"/>
            <a:ext cx="3048000" cy="1714500"/>
          </a:xfrm>
          <a:prstGeom prst="roundRect">
            <a:avLst>
              <a:gd name="adj" fmla="val 11111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000000">
                <a:alpha val="15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1000" y="2032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4572000" y="1981200"/>
            <a:ext cx="685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96F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项目名称：</a:t>
            </a: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薯安智检——马铃薯病害智能识别系统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91000" y="2667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572000" y="2616200"/>
            <a:ext cx="685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96F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针对农业数字化转型需求，解决马铃薯种植中传统人工病害识别效率低、误判率高的痛点，满足规模化精细化种植的防控需求。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91000" y="3556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572000" y="3505200"/>
            <a:ext cx="685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96F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项目目标：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实现早/晚疫病与健康叶片的快速识别、病害严重程度量化评估、环境风险动态分析及AI智能问答，提供精准防控建议。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91000" y="4572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572000" y="4521200"/>
            <a:ext cx="685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项目愿景：</a:t>
            </a:r>
            <a:r>
              <a:rPr lang="en-US" sz="1600" b="0" i="1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“科技赋能农业，精准防控病害，让每一块马铃薯都健康生长。”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5588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CAF5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571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农业智能化 · 病害精准防控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4025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行业背景及痛点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0320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78000" y="1905000"/>
            <a:ext cx="939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农业行业现状：</a:t>
            </a:r>
            <a:r>
              <a:rPr lang="en-US" sz="16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国家农业现代化战略推进，“人工智能+农业”成为发展主流，智能识别系统市场需求旺盛。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175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3048000"/>
            <a:ext cx="939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用户需求分析：</a:t>
            </a:r>
            <a:r>
              <a:rPr lang="en-US" sz="16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种植户、农业技术人员、合作社及管理部门对病害识别系统有迫切需求。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064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18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4191000"/>
            <a:ext cx="939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政策环境：</a:t>
            </a:r>
            <a:r>
              <a:rPr lang="en-US" sz="16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国家出台多项政策支持农业数字化、智能化发展，为项目提供了有力的政策支撑。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5207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rcRect l="21878" r="21878"/>
          <a:stretch>
            <a:fillRect/>
          </a:stretch>
        </p:blipFill>
        <p:spPr>
          <a:xfrm>
            <a:off x="1016000" y="5461000"/>
            <a:ext cx="508000" cy="508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1778000" y="5334000"/>
            <a:ext cx="939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痛点分析：</a:t>
            </a:r>
            <a:r>
              <a:rPr lang="en-US" sz="16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传统人工识别效率低、误判率高；现有产品交互复杂、适配性差；成本高、技术门槛高；数据衔接不畅。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竞争分析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4CAF50">
              <a:alpha val="10000"/>
            </a:srgbClr>
          </a:solidFill>
          <a:ln cap="flat" cmpd="sng">
            <a:solidFill>
              <a:srgbClr val="329636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889000" y="13716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对比维度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413000" y="13716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竞品 A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699000" y="13716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竞品 B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985000" y="13716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本项目优势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1905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" y="21590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21844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病害识别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413000" y="20320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单一病害识别，准确率偏低，覆盖范围有限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20320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多病害识别，但响应速度慢，模型老旧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985000" y="2006600"/>
            <a:ext cx="4191000" cy="812800"/>
          </a:xfrm>
          <a:prstGeom prst="roundRect">
            <a:avLst>
              <a:gd name="adj" fmla="val 15625"/>
            </a:avLst>
          </a:prstGeom>
          <a:solidFill>
            <a:srgbClr val="4CAF5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112000" y="2057400"/>
            <a:ext cx="3937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接入 Kimi K2.5 模型，准确率≥95%，响应&lt;5s，支持AI问答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048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9000" y="3302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33274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前端交互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413000" y="31750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操作流程复杂，移动端适配性差，用户体验不佳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699000" y="31750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功能单一，界面陈旧，交互逻辑生硬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985000" y="3149600"/>
            <a:ext cx="4191000" cy="812800"/>
          </a:xfrm>
          <a:prstGeom prst="roundRect">
            <a:avLst>
              <a:gd name="adj" fmla="val 15625"/>
            </a:avLst>
          </a:prstGeom>
          <a:solidFill>
            <a:srgbClr val="4CAF5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112000" y="3200400"/>
            <a:ext cx="3937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简洁易用，适配多终端，操作流程简单，用户体验佳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191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9000" y="4445000"/>
            <a:ext cx="508000" cy="508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524000" y="44704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后端性能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2413000" y="43180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接口调用不稳定，数据存储未加密，存在安全隐患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699000" y="43180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高并发处理能力弱，高峰期易卡顿，响应延迟高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985000" y="4292600"/>
            <a:ext cx="4191000" cy="812800"/>
          </a:xfrm>
          <a:prstGeom prst="roundRect">
            <a:avLst>
              <a:gd name="adj" fmla="val 15625"/>
            </a:avLst>
          </a:prstGeom>
          <a:solidFill>
            <a:srgbClr val="4CAF5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7112000" y="4343400"/>
            <a:ext cx="3937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架构稳定，支持高并发，全链路数据加密存储，极速响应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62000" y="5334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9000" y="5588000"/>
            <a:ext cx="508000" cy="5080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1524000" y="56134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防控支持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2413000" y="54610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仅提供基础信息，无精准防控建议，指导性差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4699000" y="54610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建议过于通用，缺乏针对性，未结合实地数据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985000" y="5435600"/>
            <a:ext cx="4191000" cy="812800"/>
          </a:xfrm>
          <a:prstGeom prst="roundRect">
            <a:avLst>
              <a:gd name="adj" fmla="val 15625"/>
            </a:avLst>
          </a:prstGeom>
          <a:solidFill>
            <a:srgbClr val="4CAF5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7112000" y="5486400"/>
            <a:ext cx="3937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基于位置天气大数据，推送个性化方案，支持AI智能问答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889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项目创新点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l="21872" r="21872"/>
          <a:stretch>
            <a:fillRect/>
          </a:stretch>
        </p:blipFill>
        <p:spPr>
          <a:xfrm>
            <a:off x="3683000" y="889000"/>
            <a:ext cx="635000" cy="635000"/>
          </a:xfrm>
          <a:prstGeom prst="ellipse">
            <a:avLst/>
          </a:prstGeom>
          <a:noFill/>
          <a:ln w="25400" cap="flat" cmpd="sng">
            <a:solidFill>
              <a:srgbClr val="4CAF50">
                <a:alpha val="100000"/>
              </a:srgbClr>
            </a:solidFill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62000" y="1905000"/>
            <a:ext cx="10668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159000"/>
            <a:ext cx="762000" cy="762000"/>
          </a:xfrm>
          <a:prstGeom prst="ellipse">
            <a:avLst/>
          </a:prstGeom>
          <a:solidFill>
            <a:srgbClr val="218CF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6500" y="2349500"/>
            <a:ext cx="381000" cy="381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032000" y="20955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18CF3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技术创新：全栈优化与深度融合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032000" y="2540000"/>
            <a:ext cx="889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端侧优化：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前端采用简洁化设计适配多终端，后端架构高效稳定支持高并发场景。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数据融合：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将AI模型与实时天气、地理位置数据深度耦合，实现智能化决策辅助。</a:t>
            </a:r>
            <a:endParaRPr lang="en-US" sz="14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无缝适配：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突破设备壁垒，实现PC、移动端、IoT设备的无缝切换与数据同步。</a:t>
            </a:r>
            <a:endParaRPr lang="en-US" sz="14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937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4191000"/>
            <a:ext cx="762000" cy="762000"/>
          </a:xfrm>
          <a:prstGeom prst="ellipse">
            <a:avLst/>
          </a:prstGeom>
          <a:solidFill>
            <a:srgbClr val="4CAF5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6500" y="4381500"/>
            <a:ext cx="381000" cy="381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2032000" y="41275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商业模式创新：普惠与增值双赢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032000" y="45720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 采用</a:t>
            </a: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“基础功能免费 + 增值服务付费”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的差异化策略，大幅降低基层用户准入门槛。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 通过高价值增值服务满足深度需求，构建可持续的商业闭环，兼顾用户体验与项目盈利。</a:t>
            </a:r>
            <a:endParaRPr lang="en-US" sz="14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5842000"/>
            <a:ext cx="10668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CAF50">
                  <a:alpha val="100000"/>
                </a:srgbClr>
              </a:gs>
              <a:gs pos="100000">
                <a:srgbClr val="218CF3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2006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系统架构以前端交互层、后端服务层、AI模型层、数据对接层四大核心为支撑，实现各模块无缝衔接、稳定运行。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22500"/>
            <a:ext cx="5334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4384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311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前端交互层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524000" y="26416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负责用户交互，包括图片上传、识别结果展示、智能问答等功能。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238500"/>
            <a:ext cx="5334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4544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3327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96F3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后端服务层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524000" y="36576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系统核心支撑，负责业务逻辑处理、数据存储与传输、接口管理。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254500"/>
            <a:ext cx="5334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4704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4343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AI模型层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524000" y="46736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接入kimi K2.5模型，结合CNN卷积神经网络，实现病害识别与智能问答。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270500"/>
            <a:ext cx="5334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54864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524000" y="5359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96F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数据对接层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524000" y="56896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对接权威天气数据平台、位置信息接口，为AI模型提供精准数据支撑。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rcRect t="7303" b="7303"/>
          <a:stretch>
            <a:fillRect/>
          </a:stretch>
        </p:blipFill>
        <p:spPr>
          <a:xfrm>
            <a:off x="6604000" y="2413000"/>
            <a:ext cx="4826000" cy="2413000"/>
          </a:xfrm>
          <a:prstGeom prst="roundRect">
            <a:avLst>
              <a:gd name="adj" fmla="val 5263"/>
            </a:avLst>
          </a:prstGeom>
          <a:noFill/>
          <a:ln w="508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152400" dist="76200" dir="54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21" name="AutoShape 21"/>
          <p:cNvSpPr/>
          <p:nvPr/>
        </p:nvSpPr>
        <p:spPr>
          <a:xfrm>
            <a:off x="6604000" y="4953000"/>
            <a:ext cx="482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系统架构流程示意图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201168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技术选型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87500"/>
            <a:ext cx="762000" cy="50800"/>
          </a:xfrm>
          <a:prstGeom prst="roundRect">
            <a:avLst>
              <a:gd name="adj" fmla="val 0"/>
            </a:avLst>
          </a:prstGeom>
          <a:solidFill>
            <a:srgbClr val="2196F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235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前端交互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HTML+CSS+JS结合Flask模板渲染，实现多终端自适应布局。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2032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2286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07000" y="2235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后端服务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794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基于Python+Flask框架搭建，提供稳定接口，适配轻量级数据库。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2032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286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890000" y="2235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数据存储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2794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采用SQLite轻量数据库，高效存储用户信息及病害识别记录。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064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318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524000" y="4267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智能模型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4826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集成Kimi K2.5 API，结合CNN卷积神经网络与机器学习算法。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445000" y="4064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99000" y="43180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207000" y="4267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天气服务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699000" y="4826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对接中国天气网API，实时获取气象数据，辅助环境分析。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128000" y="4064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82000" y="43180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890000" y="4267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位置服务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382000" y="4826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接入百度地图API，实现经纬度解析与定位服务，精准关联地域。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81000"/>
            <a:ext cx="201168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团队介绍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016000"/>
            <a:ext cx="762000" cy="50800"/>
          </a:xfrm>
          <a:prstGeom prst="roundRect">
            <a:avLst>
              <a:gd name="adj" fmla="val 0"/>
            </a:avLst>
          </a:prstGeom>
          <a:solidFill>
            <a:srgbClr val="2196F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1600" cy="889000"/>
          </a:xfrm>
          <a:prstGeom prst="roundRect">
            <a:avLst>
              <a:gd name="adj" fmla="val 12500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1625600"/>
            <a:ext cx="431800" cy="431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460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王鹏飞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项目总负责人</a:t>
            </a:r>
            <a:endParaRPr lang="en-US" sz="12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064000" y="14605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专业背景：</a:t>
            </a:r>
            <a:r>
              <a:rPr lang="en-US" sz="1300" b="1" i="0" u="none" strike="noStrike">
                <a:solidFill>
                  <a:srgbClr val="2196F3"/>
                </a:solidFill>
                <a:latin typeface="Noto Sans SC"/>
                <a:ea typeface="Noto Sans SC"/>
                <a:cs typeface="Noto Sans SC"/>
                <a:sym typeface="Noto Sans SC"/>
              </a:rPr>
              <a:t>23物联网工程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969000" y="1460500"/>
            <a:ext cx="520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拥有5年农业智能项目管理经验，熟悉农业数字化转型政策，擅长统筹协调、政企对接及项目推广。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2413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2413000"/>
            <a:ext cx="101600" cy="889000"/>
          </a:xfrm>
          <a:prstGeom prst="roundRect">
            <a:avLst>
              <a:gd name="adj" fmla="val 12500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500" y="2641600"/>
            <a:ext cx="431800" cy="431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2476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鲍蕴航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前端开发工程师</a:t>
            </a:r>
            <a:endParaRPr lang="en-US" sz="12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064000" y="24765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专业背景：</a:t>
            </a:r>
            <a:r>
              <a:rPr lang="en-US" sz="1300" b="1" i="0" u="none" strike="noStrike">
                <a:solidFill>
                  <a:srgbClr val="2196F3"/>
                </a:solidFill>
                <a:latin typeface="Noto Sans SC"/>
                <a:ea typeface="Noto Sans SC"/>
                <a:cs typeface="Noto Sans SC"/>
                <a:sym typeface="Noto Sans SC"/>
              </a:rPr>
              <a:t>23物联网工程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969000" y="2476500"/>
            <a:ext cx="520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拥有3年前端开发经验，熟练掌握HTML+CSS+JavaScript，熟悉Flask模板渲染逻辑，擅长多终端适配。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429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3429000"/>
            <a:ext cx="101600" cy="889000"/>
          </a:xfrm>
          <a:prstGeom prst="roundRect">
            <a:avLst>
              <a:gd name="adj" fmla="val 12500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3657600"/>
            <a:ext cx="431800" cy="431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651000" y="3492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谢毅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后端开发工程师</a:t>
            </a:r>
            <a:endParaRPr lang="en-US" sz="12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4064000" y="34925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专业背景：</a:t>
            </a:r>
            <a:r>
              <a:rPr lang="en-US" sz="1300" b="1" i="0" u="none" strike="noStrike">
                <a:solidFill>
                  <a:srgbClr val="2196F3"/>
                </a:solidFill>
                <a:latin typeface="Noto Sans SC"/>
                <a:ea typeface="Noto Sans SC"/>
                <a:cs typeface="Noto Sans SC"/>
                <a:sym typeface="Noto Sans SC"/>
              </a:rPr>
              <a:t>23物联网工程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969000" y="3492500"/>
            <a:ext cx="520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拥有4年后端开发经验，熟练掌握Python+Flask框架，擅长接口开发、SQLite数据库操作及数据加密处理。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445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4445000"/>
            <a:ext cx="101600" cy="889000"/>
          </a:xfrm>
          <a:prstGeom prst="roundRect">
            <a:avLst>
              <a:gd name="adj" fmla="val 12500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500" y="4673600"/>
            <a:ext cx="431800" cy="431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651000" y="4508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王希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AI模型工程师</a:t>
            </a:r>
            <a:endParaRPr lang="en-US" sz="12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4064000" y="45085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专业背景：</a:t>
            </a:r>
            <a:r>
              <a:rPr lang="en-US" sz="1300" b="1" i="0" u="none" strike="noStrike">
                <a:solidFill>
                  <a:srgbClr val="2196F3"/>
                </a:solidFill>
                <a:latin typeface="Noto Sans SC"/>
                <a:ea typeface="Noto Sans SC"/>
                <a:cs typeface="Noto Sans SC"/>
                <a:sym typeface="Noto Sans SC"/>
              </a:rPr>
              <a:t>24物联网工程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5969000" y="4508500"/>
            <a:ext cx="520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拥有3年AI模型开发经验，熟练掌握Python requests库调用方法、CNN卷积神经网络算法，熟悉kimi系列模型接入与优化。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5461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762000" y="5461000"/>
            <a:ext cx="101600" cy="889000"/>
          </a:xfrm>
          <a:prstGeom prst="roundRect">
            <a:avLst>
              <a:gd name="adj" fmla="val 12500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79500" y="5689600"/>
            <a:ext cx="431800" cy="431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1651000" y="5524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果家弘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测试运维工程师</a:t>
            </a:r>
            <a:endParaRPr lang="en-US" sz="12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4064000" y="55245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专业背景：</a:t>
            </a:r>
            <a:r>
              <a:rPr lang="en-US" sz="1300" b="1" i="0" u="none" strike="noStrike">
                <a:solidFill>
                  <a:srgbClr val="2196F3"/>
                </a:solidFill>
                <a:latin typeface="Noto Sans SC"/>
                <a:ea typeface="Noto Sans SC"/>
                <a:cs typeface="Noto Sans SC"/>
                <a:sym typeface="Noto Sans SC"/>
              </a:rPr>
              <a:t>24物联网工程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5969000" y="5524500"/>
            <a:ext cx="520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拥有2年软件测试与运维经验，熟悉功能测试、性能测试流程，擅长漏洞排查和版本迭代。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3022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系统功能模块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1930400" cy="3048000"/>
          </a:xfrm>
          <a:prstGeom prst="roundRect">
            <a:avLst>
              <a:gd name="adj" fmla="val 657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219200" y="2032000"/>
            <a:ext cx="1016000" cy="1016000"/>
          </a:xfrm>
          <a:prstGeom prst="roundRect">
            <a:avLst>
              <a:gd name="adj" fmla="val 25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889000" y="3175000"/>
            <a:ext cx="167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病害识别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3619500"/>
            <a:ext cx="1676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快速识别马铃薯叶片早疫病、晚疫病与健康叶片。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946400" y="1778000"/>
            <a:ext cx="1930400" cy="3048000"/>
          </a:xfrm>
          <a:prstGeom prst="roundRect">
            <a:avLst>
              <a:gd name="adj" fmla="val 657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03600" y="2032000"/>
            <a:ext cx="1016000" cy="1016000"/>
          </a:xfrm>
          <a:prstGeom prst="roundRect">
            <a:avLst>
              <a:gd name="adj" fmla="val 25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3073400" y="3175000"/>
            <a:ext cx="167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96F3"/>
                </a:solidFill>
                <a:latin typeface="Noto Sans SC"/>
                <a:ea typeface="Noto Sans SC"/>
                <a:cs typeface="Noto Sans SC"/>
                <a:sym typeface="Noto Sans SC"/>
              </a:rPr>
              <a:t>严重程度评估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073400" y="3619500"/>
            <a:ext cx="1676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基于图像分析算法，量化评估病害的严重程度等级。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130800" y="1778000"/>
            <a:ext cx="1930400" cy="3048000"/>
          </a:xfrm>
          <a:prstGeom prst="roundRect">
            <a:avLst>
              <a:gd name="adj" fmla="val 657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588000" y="2032000"/>
            <a:ext cx="1016000" cy="1016000"/>
          </a:xfrm>
          <a:prstGeom prst="roundRect">
            <a:avLst>
              <a:gd name="adj" fmla="val 25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5257800" y="3175000"/>
            <a:ext cx="167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环境风险分析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257800" y="3619500"/>
            <a:ext cx="1676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结合实时天气和地理位置数据，智能分析病害发生的环境风险。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315200" y="1778000"/>
            <a:ext cx="1930400" cy="3048000"/>
          </a:xfrm>
          <a:prstGeom prst="roundRect">
            <a:avLst>
              <a:gd name="adj" fmla="val 657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772400" y="2032000"/>
            <a:ext cx="1016000" cy="1016000"/>
          </a:xfrm>
          <a:prstGeom prst="roundRect">
            <a:avLst>
              <a:gd name="adj" fmla="val 25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7442200" y="3175000"/>
            <a:ext cx="167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96F3"/>
                </a:solidFill>
                <a:latin typeface="Noto Sans SC"/>
                <a:ea typeface="Noto Sans SC"/>
                <a:cs typeface="Noto Sans SC"/>
                <a:sym typeface="Noto Sans SC"/>
              </a:rPr>
              <a:t>精准防控建议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442200" y="3619500"/>
            <a:ext cx="1676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根据识别结果和风险等级，自动推送个性化的农业防控建议。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499600" y="1778000"/>
            <a:ext cx="1930400" cy="3048000"/>
          </a:xfrm>
          <a:prstGeom prst="roundRect">
            <a:avLst>
              <a:gd name="adj" fmla="val 657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56800" y="2032000"/>
            <a:ext cx="1016000" cy="1016000"/>
          </a:xfrm>
          <a:prstGeom prst="roundRect">
            <a:avLst>
              <a:gd name="adj" fmla="val 25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1" name="AutoShape 21"/>
          <p:cNvSpPr/>
          <p:nvPr/>
        </p:nvSpPr>
        <p:spPr>
          <a:xfrm>
            <a:off x="9626600" y="3175000"/>
            <a:ext cx="167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AI智能问答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626600" y="3619500"/>
            <a:ext cx="1676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7x24小时在线解答用户关于马铃薯种植和病害防治的疑难问题。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461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CAF5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62000" y="5651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构建马铃薯病害全生命周期防控闭环，赋能智慧农业数字化升级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201168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财务计划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2235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资金规划与分配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总投入：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XX万元</a:t>
            </a:r>
            <a:endParaRPr lang="en-US" sz="1100"/>
          </a:p>
          <a:p>
            <a:pPr marL="12700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产品研发 (40%)</a:t>
            </a:r>
            <a:endParaRPr lang="en-US" sz="14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2700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市场推广 (30%)</a:t>
            </a:r>
            <a:endParaRPr lang="en-US" sz="14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2700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团队建设 (20%)</a:t>
            </a:r>
            <a:endParaRPr lang="en-US" sz="14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2700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运营流动 (10%)</a:t>
            </a:r>
            <a:endParaRPr lang="en-US" sz="14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445000" y="2032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2286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207000" y="2235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多元融资渠道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2794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2196F3"/>
                </a:solidFill>
                <a:latin typeface="Noto Sans SC"/>
                <a:ea typeface="Noto Sans SC"/>
                <a:cs typeface="Noto Sans SC"/>
                <a:sym typeface="Noto Sans SC"/>
              </a:rPr>
              <a:t>▶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创业竞赛：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争取种子轮奖金支持</a:t>
            </a:r>
            <a:endParaRPr lang="en-US" sz="1100"/>
          </a:p>
          <a:p>
            <a:pPr marL="12700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2196F3"/>
                </a:solidFill>
                <a:latin typeface="Noto Sans SC"/>
                <a:ea typeface="Noto Sans SC"/>
                <a:cs typeface="Noto Sans SC"/>
                <a:sym typeface="Noto Sans SC"/>
              </a:rPr>
              <a:t>▶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政府扶持：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申报农业科技专项补贴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2700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2196F3"/>
                </a:solidFill>
                <a:latin typeface="Noto Sans SC"/>
                <a:ea typeface="Noto Sans SC"/>
                <a:cs typeface="Noto Sans SC"/>
                <a:sym typeface="Noto Sans SC"/>
              </a:rPr>
              <a:t>▶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天使投资：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引入早期风险投资资金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2700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2196F3"/>
                </a:solidFill>
                <a:latin typeface="Noto Sans SC"/>
                <a:ea typeface="Noto Sans SC"/>
                <a:cs typeface="Noto Sans SC"/>
                <a:sym typeface="Noto Sans SC"/>
              </a:rPr>
              <a:t>▶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政策贷款：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低息科技企业贷款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128000" y="2032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286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890000" y="2235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三年发展路径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2794000"/>
            <a:ext cx="2794000" cy="635000"/>
          </a:xfrm>
          <a:prstGeom prst="roundRect">
            <a:avLst>
              <a:gd name="adj" fmla="val 10000"/>
            </a:avLst>
          </a:prstGeom>
          <a:solidFill>
            <a:srgbClr val="4CAF5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509000" y="28575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 · 基础夯实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完成产品研发，试点推广，实现产品化</a:t>
            </a:r>
            <a:endParaRPr lang="en-US" sz="12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382000" y="3492500"/>
            <a:ext cx="2794000" cy="635000"/>
          </a:xfrm>
          <a:prstGeom prst="roundRect">
            <a:avLst>
              <a:gd name="adj" fmla="val 10000"/>
            </a:avLst>
          </a:prstGeom>
          <a:solidFill>
            <a:srgbClr val="2196F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509000" y="3556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196F3"/>
                </a:solidFill>
                <a:latin typeface="Noto Sans SC"/>
                <a:ea typeface="Noto Sans SC"/>
                <a:cs typeface="Noto Sans SC"/>
                <a:sym typeface="Noto Sans SC"/>
              </a:rPr>
              <a:t>2027年 · 市场拓展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覆盖2000+种植户，盈利模式跑通</a:t>
            </a:r>
            <a:endParaRPr lang="en-US" sz="12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382000" y="4191000"/>
            <a:ext cx="2794000" cy="635000"/>
          </a:xfrm>
          <a:prstGeom prst="roundRect">
            <a:avLst>
              <a:gd name="adj" fmla="val 10000"/>
            </a:avLst>
          </a:prstGeom>
          <a:solidFill>
            <a:srgbClr val="FF98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509000" y="42545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9800"/>
                </a:solidFill>
                <a:latin typeface="Noto Sans SC"/>
                <a:ea typeface="Noto Sans SC"/>
                <a:cs typeface="Noto Sans SC"/>
                <a:sym typeface="Noto Sans SC"/>
              </a:rPr>
              <a:t>2028年 · 生态构建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品牌巩固，建立完整防控生态闭环</a:t>
            </a:r>
            <a:endParaRPr lang="en-US" sz="12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4CAF50">
              <a:alpha val="10000"/>
            </a:srgbClr>
          </a:solidFill>
          <a:ln w="12700" cap="flat" cmpd="sng">
            <a:solidFill>
              <a:srgbClr val="4CAF50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016000" y="558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74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通过精细化财务管理与多渠道融资，确保项目三年稳步推进，实现从技术验证到商业变现的跨越。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4025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风险分析与控制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905000"/>
            <a:ext cx="51435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159000"/>
            <a:ext cx="609600" cy="609600"/>
          </a:xfrm>
          <a:prstGeom prst="ellipse">
            <a:avLst/>
          </a:prstGeom>
          <a:solidFill>
            <a:srgbClr val="4CAF5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2286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2095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市场风险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78000" y="24384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挑战：市场竞争激烈，用户接受度可能不高。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778000" y="2794000"/>
            <a:ext cx="3873500" cy="508000"/>
          </a:xfrm>
          <a:prstGeom prst="roundRect">
            <a:avLst>
              <a:gd name="adj" fmla="val 12500"/>
            </a:avLst>
          </a:prstGeom>
          <a:solidFill>
            <a:srgbClr val="2196F3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879600" y="2870200"/>
            <a:ext cx="368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196F3"/>
                </a:solidFill>
                <a:latin typeface="Noto Sans SC"/>
                <a:ea typeface="Noto Sans SC"/>
                <a:cs typeface="Noto Sans SC"/>
                <a:sym typeface="Noto Sans SC"/>
              </a:rPr>
              <a:t>应对：</a:t>
            </a:r>
            <a:r>
              <a:rPr lang="en-US" sz="12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加强市场调研，优化产品功能，加大推广力度。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86500" y="1905000"/>
            <a:ext cx="51435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540500" y="2159000"/>
            <a:ext cx="609600" cy="609600"/>
          </a:xfrm>
          <a:prstGeom prst="ellipse">
            <a:avLst/>
          </a:prstGeom>
          <a:solidFill>
            <a:srgbClr val="4CAF5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500" y="22860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302500" y="2095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法律和监管风险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302500" y="24384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挑战：数据隐私保护政策趋严。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302500" y="2794000"/>
            <a:ext cx="3873500" cy="508000"/>
          </a:xfrm>
          <a:prstGeom prst="roundRect">
            <a:avLst>
              <a:gd name="adj" fmla="val 12500"/>
            </a:avLst>
          </a:prstGeom>
          <a:solidFill>
            <a:srgbClr val="2196F3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404100" y="2870200"/>
            <a:ext cx="368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196F3"/>
                </a:solidFill>
                <a:latin typeface="Noto Sans SC"/>
                <a:ea typeface="Noto Sans SC"/>
                <a:cs typeface="Noto Sans SC"/>
                <a:sym typeface="Noto Sans SC"/>
              </a:rPr>
              <a:t>应对：</a:t>
            </a:r>
            <a:r>
              <a:rPr lang="en-US" sz="12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加强数据安全管理，确保合规运营。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3810000"/>
            <a:ext cx="51435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4064000"/>
            <a:ext cx="609600" cy="609600"/>
          </a:xfrm>
          <a:prstGeom prst="ellipse">
            <a:avLst/>
          </a:prstGeom>
          <a:solidFill>
            <a:srgbClr val="4CAF5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000" y="41910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778000" y="4000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技术风险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778000" y="43434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挑战：AI模型可能存在不确定性，技术更新换代快。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778000" y="4699000"/>
            <a:ext cx="3873500" cy="508000"/>
          </a:xfrm>
          <a:prstGeom prst="roundRect">
            <a:avLst>
              <a:gd name="adj" fmla="val 12500"/>
            </a:avLst>
          </a:prstGeom>
          <a:solidFill>
            <a:srgbClr val="2196F3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879600" y="4775200"/>
            <a:ext cx="368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196F3"/>
                </a:solidFill>
                <a:latin typeface="Noto Sans SC"/>
                <a:ea typeface="Noto Sans SC"/>
                <a:cs typeface="Noto Sans SC"/>
                <a:sym typeface="Noto Sans SC"/>
              </a:rPr>
              <a:t>应对：</a:t>
            </a:r>
            <a:r>
              <a:rPr lang="en-US" sz="12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持续关注技术发展，加强模型优化和迭代。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86500" y="3810000"/>
            <a:ext cx="51435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540500" y="4064000"/>
            <a:ext cx="609600" cy="609600"/>
          </a:xfrm>
          <a:prstGeom prst="ellipse">
            <a:avLst/>
          </a:prstGeom>
          <a:solidFill>
            <a:srgbClr val="4CAF5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4191000"/>
            <a:ext cx="355600" cy="355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302500" y="4000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财务风险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302500" y="43434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挑战：资金不足，盈利模式可能不成熟。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302500" y="4699000"/>
            <a:ext cx="3873500" cy="508000"/>
          </a:xfrm>
          <a:prstGeom prst="roundRect">
            <a:avLst>
              <a:gd name="adj" fmla="val 12500"/>
            </a:avLst>
          </a:prstGeom>
          <a:solidFill>
            <a:srgbClr val="2196F3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7404100" y="4775200"/>
            <a:ext cx="368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196F3"/>
                </a:solidFill>
                <a:latin typeface="Noto Sans SC"/>
                <a:ea typeface="Noto Sans SC"/>
                <a:cs typeface="Noto Sans SC"/>
                <a:sym typeface="Noto Sans SC"/>
              </a:rPr>
              <a:t>应对：</a:t>
            </a:r>
            <a:r>
              <a:rPr lang="en-US" sz="12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拓宽融资渠道，优化盈利模式，控制成本。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62000" y="5842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CAF5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2514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2196F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762000" cy="762000"/>
          </a:xfrm>
          <a:prstGeom prst="ellipse">
            <a:avLst/>
          </a:prstGeom>
          <a:solidFill>
            <a:srgbClr val="4CAF5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6500" y="2032000"/>
            <a:ext cx="381000" cy="381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032000" y="1778000"/>
            <a:ext cx="914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项目愿景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“科技赋能农业，精准防控病害，让每一块马铃薯都健康生长。”</a:t>
            </a:r>
            <a:endParaRPr lang="en-US" sz="15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29845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3175000"/>
            <a:ext cx="762000" cy="762000"/>
          </a:xfrm>
          <a:prstGeom prst="ellipse">
            <a:avLst/>
          </a:prstGeom>
          <a:solidFill>
            <a:srgbClr val="2196F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500" y="3365500"/>
            <a:ext cx="381000" cy="381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032000" y="3111500"/>
            <a:ext cx="914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96F3"/>
                </a:solidFill>
                <a:latin typeface="Noto Sans SC"/>
                <a:ea typeface="Noto Sans SC"/>
                <a:cs typeface="Noto Sans SC"/>
                <a:sym typeface="Noto Sans SC"/>
              </a:rPr>
              <a:t>发展目标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成为马铃薯病害智能识别领域的标杆产品，助力种植产业高质量发展。</a:t>
            </a:r>
            <a:endParaRPr lang="en-US" sz="15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318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16000" y="4508500"/>
            <a:ext cx="1016000" cy="1016000"/>
          </a:xfrm>
          <a:prstGeom prst="ellipse">
            <a:avLst/>
          </a:prstGeom>
          <a:solidFill>
            <a:srgbClr val="2196F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143000" y="4635500"/>
            <a:ext cx="762000" cy="762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2286000" y="4445000"/>
            <a:ext cx="863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96F3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拓展更多病害识别种类，构建防控案例资源库，实现与农业管理部门数据互通，构建完整的防控生态。</a:t>
            </a:r>
            <a:endParaRPr lang="en-US" sz="15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00" y="1778000"/>
            <a:ext cx="609600" cy="609600"/>
          </a:xfrm>
          <a:prstGeom prst="rect">
            <a:avLst/>
          </a:prstGeom>
          <a:effectLst>
            <a:outerShdw blurRad="101600" dist="50800" dir="5400000" algn="tl" rotWithShape="0">
              <a:srgbClr val="000000">
                <a:alpha val="2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1016000" y="2540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715000" y="3556000"/>
            <a:ext cx="76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CAF50">
                  <a:alpha val="100000"/>
                </a:srgbClr>
              </a:gs>
              <a:gs pos="100000">
                <a:srgbClr val="2196F3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3810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spc="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期待与您共同探索智慧农业的无限可能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18000" y="4826000"/>
            <a:ext cx="3556000" cy="5080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318000" y="49276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 交流环节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2784</Words>
  <Application>WPS 演示</Application>
  <PresentationFormat/>
  <Paragraphs>301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宋体</vt:lpstr>
      <vt:lpstr>Wingdings</vt:lpstr>
      <vt:lpstr>Arial</vt:lpstr>
      <vt:lpstr>Noto Sans SC</vt:lpstr>
      <vt:lpstr>Segoe Print</vt:lpstr>
      <vt:lpstr>微软雅黑</vt:lpstr>
      <vt:lpstr>Arial Unicode MS</vt:lpstr>
      <vt:lpstr>Noto Sans SC</vt:lpstr>
      <vt:lpstr>Saturday Sans Regular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早已放下</cp:lastModifiedBy>
  <cp:revision>1</cp:revision>
  <dcterms:created xsi:type="dcterms:W3CDTF">2026-03-26T18:07:09Z</dcterms:created>
  <dcterms:modified xsi:type="dcterms:W3CDTF">2026-03-26T18:07:09Z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286D7373D37C45519D6276E3DD9DEFDF_12</vt:lpwstr>
  </property>
</Properties>
</file>