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.webp" ContentType="image/webp"/>
  <Override PartName="/ppt/media/image9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5" r:id="rId19"/>
    <p:sldId id="276" r:id="rId20"/>
    <p:sldId id="277" r:id="rId21"/>
    <p:sldId id="272" r:id="rId22"/>
    <p:sldId id="273" r:id="rId23"/>
  </p:sldIdLst>
  <p:sldSz cx="12192000" cy="6858000"/>
  <p:notesSz cx="6858000" cy="12192000"/>
  <p:embeddedFontLst>
    <p:embeddedFont>
      <p:font typeface="MiSans" pitchFamily="34" charset="-122"/>
      <p:regular r:id="rId27"/>
    </p:embeddedFont>
    <p:embeddedFont>
      <p:font typeface="MiSans" pitchFamily="34" charset="-120"/>
      <p:regular r:id="rId28"/>
    </p:embeddedFont>
    <p:embeddedFont>
      <p:font typeface="Alimama ShuHeiTi" pitchFamily="34" charset="-122"/>
      <p:bold r:id="rId29"/>
    </p:embeddedFont>
    <p:embeddedFont>
      <p:font typeface="Alimama ShuHeiTi" pitchFamily="34" charset="-120"/>
      <p:bold r:id="rId30"/>
    </p:embeddedFont>
    <p:embeddedFont>
      <p:font typeface="Calibri" panose="020F0502020204030204" charset="0"/>
      <p:regular r:id="rId31"/>
      <p:bold r:id="rId32"/>
      <p:italic r:id="rId33"/>
      <p:boldItalic r:id="rId34"/>
    </p:embeddedFont>
    <p:embeddedFont>
      <p:font typeface="等线" panose="02010600030101010101" charset="-122"/>
      <p:regular r:id="rId3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font" Target="fonts/font9.fntdata"/><Relationship Id="rId34" Type="http://schemas.openxmlformats.org/officeDocument/2006/relationships/font" Target="fonts/font8.fntdata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web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web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tags" Target="../tags/tag1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5.xml"/><Relationship Id="rId5" Type="http://schemas.openxmlformats.org/officeDocument/2006/relationships/image" Target="../media/image13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12.png"/><Relationship Id="rId1" Type="http://schemas.openxmlformats.org/officeDocument/2006/relationships/tags" Target="../tags/tag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57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0.wp.com/7cf9eab09bcfcec7d6574ed633632b524d35d1d9.jpg"/>
          <p:cNvPicPr>
            <a:picLocks noChangeAspect="1"/>
          </p:cNvPicPr>
          <p:nvPr/>
        </p:nvPicPr>
        <p:blipFill>
          <a:blip r:embed="rId1">
            <a:alphaModFix amt="40000"/>
          </a:blip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A574A">
                  <a:alpha val="95000"/>
                </a:srgbClr>
              </a:gs>
              <a:gs pos="50000">
                <a:srgbClr val="2A574A">
                  <a:alpha val="85000"/>
                </a:srgbClr>
              </a:gs>
              <a:gs pos="100000">
                <a:srgbClr val="2A574A">
                  <a:alpha val="7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1000" y="685767"/>
            <a:ext cx="3286125" cy="381000"/>
          </a:xfrm>
          <a:custGeom>
            <a:avLst/>
            <a:gdLst/>
            <a:ahLst/>
            <a:cxnLst/>
            <a:rect l="l" t="t" r="r" b="b"/>
            <a:pathLst>
              <a:path w="3286125" h="381000">
                <a:moveTo>
                  <a:pt x="0" y="0"/>
                </a:moveTo>
                <a:lnTo>
                  <a:pt x="3286125" y="0"/>
                </a:lnTo>
                <a:lnTo>
                  <a:pt x="32861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5" name="Text 2"/>
          <p:cNvSpPr/>
          <p:nvPr/>
        </p:nvSpPr>
        <p:spPr>
          <a:xfrm>
            <a:off x="381000" y="685767"/>
            <a:ext cx="3362325" cy="381000"/>
          </a:xfrm>
          <a:prstGeom prst="rect">
            <a:avLst/>
          </a:prstGeom>
          <a:noFill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2026年北京农学院"农林杯"创业计划竞赛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09750"/>
            <a:ext cx="118872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kern="0" spc="-180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薯安智检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181201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8" name="Text 5"/>
          <p:cNvSpPr/>
          <p:nvPr/>
        </p:nvSpPr>
        <p:spPr>
          <a:xfrm>
            <a:off x="381000" y="3466869"/>
            <a:ext cx="1165860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4F7F6">
                    <a:alpha val="95000"/>
                  </a:srgbClr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马铃薯病害智能识别系统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266903"/>
            <a:ext cx="7429500" cy="895350"/>
          </a:xfrm>
          <a:prstGeom prst="rect">
            <a:avLst/>
          </a:prstGeom>
          <a:noFill/>
        </p:spPr>
        <p:txBody>
          <a:bodyPr wrap="square" lIns="0" tIns="15240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4F7F6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科技赋能农业，精准防控病害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4F7F6">
                    <a:alpha val="8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让每一块马铃薯都健康生长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6719" y="594353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11" name="Text 8"/>
          <p:cNvSpPr/>
          <p:nvPr/>
        </p:nvSpPr>
        <p:spPr>
          <a:xfrm>
            <a:off x="583565" y="5248275"/>
            <a:ext cx="1628775" cy="7816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sz="1350" dirty="0">
                <a:solidFill>
                  <a:srgbClr val="F4F7F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项目负责人：王鹏飞</a:t>
            </a:r>
            <a:endParaRPr lang="en-US" sz="1350" dirty="0">
              <a:solidFill>
                <a:srgbClr val="F4F7F6">
                  <a:alpha val="9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sz="1350" dirty="0">
                <a:solidFill>
                  <a:srgbClr val="F4F7F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成员</a:t>
            </a:r>
            <a:r>
              <a:rPr lang="zh-CN" altLang="en-US" sz="1350" dirty="0">
                <a:solidFill>
                  <a:srgbClr val="F4F7F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：</a:t>
            </a:r>
            <a:r>
              <a:rPr lang="zh-CN" altLang="en-US" sz="1350" dirty="0">
                <a:solidFill>
                  <a:srgbClr val="F4F7F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鲍蕴航、谢毅、王希</a:t>
            </a:r>
            <a:r>
              <a:rPr lang="zh-CN" altLang="en-US" sz="1350" dirty="0">
                <a:solidFill>
                  <a:srgbClr val="F4F7F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、果家弘</a:t>
            </a:r>
            <a:endParaRPr lang="zh-CN" altLang="en-US" sz="1350" dirty="0">
              <a:solidFill>
                <a:srgbClr val="F4F7F6">
                  <a:alpha val="9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768865" y="594353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41039" y="0"/>
                  <a:pt x="35719" y="5321"/>
                  <a:pt x="35719" y="11906"/>
                </a:cubicBezTo>
                <a:lnTo>
                  <a:pt x="35719" y="23812"/>
                </a:ln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lnTo>
                  <a:pt x="0" y="65484"/>
                </a:lnTo>
                <a:lnTo>
                  <a:pt x="166688" y="65484"/>
                </a:ln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30969" y="23812"/>
                </a:lnTo>
                <a:lnTo>
                  <a:pt x="130969" y="11906"/>
                </a:lnTo>
                <a:cubicBezTo>
                  <a:pt x="130969" y="5321"/>
                  <a:pt x="125648" y="0"/>
                  <a:pt x="119063" y="0"/>
                </a:cubicBezTo>
                <a:cubicBezTo>
                  <a:pt x="112477" y="0"/>
                  <a:pt x="107156" y="5321"/>
                  <a:pt x="107156" y="11906"/>
                </a:cubicBezTo>
                <a:lnTo>
                  <a:pt x="107156" y="23812"/>
                </a:lnTo>
                <a:lnTo>
                  <a:pt x="59531" y="23812"/>
                </a:lnTo>
                <a:lnTo>
                  <a:pt x="59531" y="11906"/>
                </a:lnTo>
                <a:cubicBezTo>
                  <a:pt x="59531" y="5321"/>
                  <a:pt x="54211" y="0"/>
                  <a:pt x="47625" y="0"/>
                </a:cubicBezTo>
                <a:close/>
                <a:moveTo>
                  <a:pt x="0" y="83344"/>
                </a:move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83344"/>
                </a:lnTo>
                <a:lnTo>
                  <a:pt x="0" y="83344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13" name="Text 10"/>
          <p:cNvSpPr/>
          <p:nvPr/>
        </p:nvSpPr>
        <p:spPr>
          <a:xfrm>
            <a:off x="3085538" y="5905417"/>
            <a:ext cx="933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4F7F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2026年3月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目录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914400" cy="57150"/>
          </a:xfrm>
          <a:custGeom>
            <a:avLst/>
            <a:gdLst/>
            <a:ahLst/>
            <a:cxnLst/>
            <a:rect l="l" t="t" r="r" b="b"/>
            <a:pathLst>
              <a:path w="914400" h="57150">
                <a:moveTo>
                  <a:pt x="0" y="0"/>
                </a:moveTo>
                <a:lnTo>
                  <a:pt x="914400" y="0"/>
                </a:lnTo>
                <a:lnTo>
                  <a:pt x="9144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4" name="Shape 2"/>
          <p:cNvSpPr/>
          <p:nvPr/>
        </p:nvSpPr>
        <p:spPr>
          <a:xfrm>
            <a:off x="399521" y="1314401"/>
            <a:ext cx="5581121" cy="2466975"/>
          </a:xfrm>
          <a:custGeom>
            <a:avLst/>
            <a:gdLst/>
            <a:ahLst/>
            <a:cxnLst/>
            <a:rect l="l" t="t" r="r" b="b"/>
            <a:pathLst>
              <a:path w="5581121" h="2466975">
                <a:moveTo>
                  <a:pt x="37042" y="0"/>
                </a:moveTo>
                <a:lnTo>
                  <a:pt x="5466826" y="0"/>
                </a:lnTo>
                <a:cubicBezTo>
                  <a:pt x="5529949" y="0"/>
                  <a:pt x="5581121" y="51172"/>
                  <a:pt x="5581121" y="114295"/>
                </a:cubicBezTo>
                <a:lnTo>
                  <a:pt x="5581121" y="2352680"/>
                </a:lnTo>
                <a:cubicBezTo>
                  <a:pt x="5581121" y="2415803"/>
                  <a:pt x="5529949" y="2466975"/>
                  <a:pt x="5466826" y="2466975"/>
                </a:cubicBezTo>
                <a:lnTo>
                  <a:pt x="37042" y="2466975"/>
                </a:lnTo>
                <a:cubicBezTo>
                  <a:pt x="16584" y="2466975"/>
                  <a:pt x="0" y="2450391"/>
                  <a:pt x="0" y="242993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9521" y="1314401"/>
            <a:ext cx="37042" cy="2466975"/>
          </a:xfrm>
          <a:custGeom>
            <a:avLst/>
            <a:gdLst/>
            <a:ahLst/>
            <a:cxnLst/>
            <a:rect l="l" t="t" r="r" b="b"/>
            <a:pathLst>
              <a:path w="37042" h="2466975">
                <a:moveTo>
                  <a:pt x="37042" y="0"/>
                </a:moveTo>
                <a:lnTo>
                  <a:pt x="37042" y="0"/>
                </a:lnTo>
                <a:lnTo>
                  <a:pt x="37042" y="2466975"/>
                </a:lnTo>
                <a:lnTo>
                  <a:pt x="37042" y="2466975"/>
                </a:lnTo>
                <a:cubicBezTo>
                  <a:pt x="16584" y="2466975"/>
                  <a:pt x="0" y="2450391"/>
                  <a:pt x="0" y="242993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6" name="Shape 4"/>
          <p:cNvSpPr/>
          <p:nvPr/>
        </p:nvSpPr>
        <p:spPr>
          <a:xfrm>
            <a:off x="722809" y="188829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7" name="Text 5"/>
          <p:cNvSpPr/>
          <p:nvPr/>
        </p:nvSpPr>
        <p:spPr>
          <a:xfrm>
            <a:off x="651371" y="1888298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4726" y="2021582"/>
            <a:ext cx="12858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项目概述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2809" y="2650215"/>
            <a:ext cx="50387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项目背景、行业痛点分析与核心愿景，阐述马铃薯病害防控的市场机遇与政策支持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28788" y="1314401"/>
            <a:ext cx="5581121" cy="2466975"/>
          </a:xfrm>
          <a:custGeom>
            <a:avLst/>
            <a:gdLst/>
            <a:ahLst/>
            <a:cxnLst/>
            <a:rect l="l" t="t" r="r" b="b"/>
            <a:pathLst>
              <a:path w="5581121" h="2466975">
                <a:moveTo>
                  <a:pt x="37042" y="0"/>
                </a:moveTo>
                <a:lnTo>
                  <a:pt x="5466826" y="0"/>
                </a:lnTo>
                <a:cubicBezTo>
                  <a:pt x="5529949" y="0"/>
                  <a:pt x="5581121" y="51172"/>
                  <a:pt x="5581121" y="114295"/>
                </a:cubicBezTo>
                <a:lnTo>
                  <a:pt x="5581121" y="2352680"/>
                </a:lnTo>
                <a:cubicBezTo>
                  <a:pt x="5581121" y="2415803"/>
                  <a:pt x="5529949" y="2466975"/>
                  <a:pt x="5466826" y="2466975"/>
                </a:cubicBezTo>
                <a:lnTo>
                  <a:pt x="37042" y="2466975"/>
                </a:lnTo>
                <a:cubicBezTo>
                  <a:pt x="16584" y="2466975"/>
                  <a:pt x="0" y="2450391"/>
                  <a:pt x="0" y="242993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28788" y="1314401"/>
            <a:ext cx="37042" cy="2466975"/>
          </a:xfrm>
          <a:custGeom>
            <a:avLst/>
            <a:gdLst/>
            <a:ahLst/>
            <a:cxnLst/>
            <a:rect l="l" t="t" r="r" b="b"/>
            <a:pathLst>
              <a:path w="37042" h="2466975">
                <a:moveTo>
                  <a:pt x="37042" y="0"/>
                </a:moveTo>
                <a:lnTo>
                  <a:pt x="37042" y="0"/>
                </a:lnTo>
                <a:lnTo>
                  <a:pt x="37042" y="2466975"/>
                </a:lnTo>
                <a:lnTo>
                  <a:pt x="37042" y="2466975"/>
                </a:lnTo>
                <a:cubicBezTo>
                  <a:pt x="16584" y="2466975"/>
                  <a:pt x="0" y="2450391"/>
                  <a:pt x="0" y="242993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12" name="Shape 10"/>
          <p:cNvSpPr/>
          <p:nvPr/>
        </p:nvSpPr>
        <p:spPr>
          <a:xfrm>
            <a:off x="6552076" y="202761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13" name="Text 11"/>
          <p:cNvSpPr/>
          <p:nvPr/>
        </p:nvSpPr>
        <p:spPr>
          <a:xfrm>
            <a:off x="6480638" y="2027618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3993" y="2160902"/>
            <a:ext cx="12858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52076" y="2789536"/>
            <a:ext cx="503872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病害智能识别、AI问答服务、个性化防控建议与数据支撑体系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9521" y="4009926"/>
            <a:ext cx="5581121" cy="2466975"/>
          </a:xfrm>
          <a:custGeom>
            <a:avLst/>
            <a:gdLst/>
            <a:ahLst/>
            <a:cxnLst/>
            <a:rect l="l" t="t" r="r" b="b"/>
            <a:pathLst>
              <a:path w="5581121" h="2466975">
                <a:moveTo>
                  <a:pt x="37042" y="0"/>
                </a:moveTo>
                <a:lnTo>
                  <a:pt x="5466826" y="0"/>
                </a:lnTo>
                <a:cubicBezTo>
                  <a:pt x="5529949" y="0"/>
                  <a:pt x="5581121" y="51172"/>
                  <a:pt x="5581121" y="114295"/>
                </a:cubicBezTo>
                <a:lnTo>
                  <a:pt x="5581121" y="2352680"/>
                </a:lnTo>
                <a:cubicBezTo>
                  <a:pt x="5581121" y="2415803"/>
                  <a:pt x="5529949" y="2466975"/>
                  <a:pt x="5466826" y="2466975"/>
                </a:cubicBezTo>
                <a:lnTo>
                  <a:pt x="37042" y="2466975"/>
                </a:lnTo>
                <a:cubicBezTo>
                  <a:pt x="16584" y="2466975"/>
                  <a:pt x="0" y="2450391"/>
                  <a:pt x="0" y="242993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9521" y="4009926"/>
            <a:ext cx="37042" cy="2466975"/>
          </a:xfrm>
          <a:custGeom>
            <a:avLst/>
            <a:gdLst/>
            <a:ahLst/>
            <a:cxnLst/>
            <a:rect l="l" t="t" r="r" b="b"/>
            <a:pathLst>
              <a:path w="37042" h="2466975">
                <a:moveTo>
                  <a:pt x="37042" y="0"/>
                </a:moveTo>
                <a:lnTo>
                  <a:pt x="37042" y="0"/>
                </a:lnTo>
                <a:lnTo>
                  <a:pt x="37042" y="2466975"/>
                </a:lnTo>
                <a:lnTo>
                  <a:pt x="37042" y="2466975"/>
                </a:lnTo>
                <a:cubicBezTo>
                  <a:pt x="16584" y="2466975"/>
                  <a:pt x="0" y="2450391"/>
                  <a:pt x="0" y="242993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18" name="Shape 16"/>
          <p:cNvSpPr/>
          <p:nvPr/>
        </p:nvSpPr>
        <p:spPr>
          <a:xfrm>
            <a:off x="722809" y="458382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19" name="Text 17"/>
          <p:cNvSpPr/>
          <p:nvPr/>
        </p:nvSpPr>
        <p:spPr>
          <a:xfrm>
            <a:off x="651371" y="4583824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84726" y="4717107"/>
            <a:ext cx="12858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技术架构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2809" y="5345741"/>
            <a:ext cx="50387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前端、后端、AI模型与数据对接四大技术层级，展示核心技术创新点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8788" y="4009926"/>
            <a:ext cx="5581121" cy="2466975"/>
          </a:xfrm>
          <a:custGeom>
            <a:avLst/>
            <a:gdLst/>
            <a:ahLst/>
            <a:cxnLst/>
            <a:rect l="l" t="t" r="r" b="b"/>
            <a:pathLst>
              <a:path w="5581121" h="2466975">
                <a:moveTo>
                  <a:pt x="37042" y="0"/>
                </a:moveTo>
                <a:lnTo>
                  <a:pt x="5466826" y="0"/>
                </a:lnTo>
                <a:cubicBezTo>
                  <a:pt x="5529949" y="0"/>
                  <a:pt x="5581121" y="51172"/>
                  <a:pt x="5581121" y="114295"/>
                </a:cubicBezTo>
                <a:lnTo>
                  <a:pt x="5581121" y="2352680"/>
                </a:lnTo>
                <a:cubicBezTo>
                  <a:pt x="5581121" y="2415803"/>
                  <a:pt x="5529949" y="2466975"/>
                  <a:pt x="5466826" y="2466975"/>
                </a:cubicBezTo>
                <a:lnTo>
                  <a:pt x="37042" y="2466975"/>
                </a:lnTo>
                <a:cubicBezTo>
                  <a:pt x="16584" y="2466975"/>
                  <a:pt x="0" y="2450391"/>
                  <a:pt x="0" y="242993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28788" y="4009926"/>
            <a:ext cx="37042" cy="2466975"/>
          </a:xfrm>
          <a:custGeom>
            <a:avLst/>
            <a:gdLst/>
            <a:ahLst/>
            <a:cxnLst/>
            <a:rect l="l" t="t" r="r" b="b"/>
            <a:pathLst>
              <a:path w="37042" h="2466975">
                <a:moveTo>
                  <a:pt x="37042" y="0"/>
                </a:moveTo>
                <a:lnTo>
                  <a:pt x="37042" y="0"/>
                </a:lnTo>
                <a:lnTo>
                  <a:pt x="37042" y="2466975"/>
                </a:lnTo>
                <a:lnTo>
                  <a:pt x="37042" y="2466975"/>
                </a:lnTo>
                <a:cubicBezTo>
                  <a:pt x="16584" y="2466975"/>
                  <a:pt x="0" y="2450391"/>
                  <a:pt x="0" y="2429933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24" name="Shape 22"/>
          <p:cNvSpPr/>
          <p:nvPr/>
        </p:nvSpPr>
        <p:spPr>
          <a:xfrm>
            <a:off x="6552076" y="472314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25" name="Text 23"/>
          <p:cNvSpPr/>
          <p:nvPr/>
        </p:nvSpPr>
        <p:spPr>
          <a:xfrm>
            <a:off x="6480638" y="4723143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3993" y="4856427"/>
            <a:ext cx="15716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团队与规划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52076" y="5485061"/>
            <a:ext cx="503872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团队优势、商业模式创新与三年发展规划及财务计划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57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icl-group.com/13a31d0fedaa7e886fa0765af89fb2c5b6a598a4.jpg"/>
          <p:cNvPicPr>
            <a:picLocks noChangeAspect="1"/>
          </p:cNvPicPr>
          <p:nvPr/>
        </p:nvPicPr>
        <p:blipFill>
          <a:blip r:embed="rId1">
            <a:alphaModFix amt="30000"/>
          </a:blip>
          <a:srcRect l="12116" r="12116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A574A">
                  <a:alpha val="95000"/>
                </a:srgbClr>
              </a:gs>
              <a:gs pos="50000">
                <a:srgbClr val="2A574A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1000" y="1878955"/>
            <a:ext cx="1095375" cy="419100"/>
          </a:xfrm>
          <a:custGeom>
            <a:avLst/>
            <a:gdLst/>
            <a:ahLst/>
            <a:cxnLst/>
            <a:rect l="l" t="t" r="r" b="b"/>
            <a:pathLst>
              <a:path w="1095375" h="419100">
                <a:moveTo>
                  <a:pt x="0" y="0"/>
                </a:moveTo>
                <a:lnTo>
                  <a:pt x="1095375" y="0"/>
                </a:lnTo>
                <a:lnTo>
                  <a:pt x="10953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5" name="Text 2"/>
          <p:cNvSpPr/>
          <p:nvPr/>
        </p:nvSpPr>
        <p:spPr>
          <a:xfrm>
            <a:off x="381000" y="1878955"/>
            <a:ext cx="1181100" cy="419100"/>
          </a:xfrm>
          <a:prstGeom prst="rect">
            <a:avLst/>
          </a:prstGeom>
          <a:noFill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PART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602756"/>
            <a:ext cx="11772900" cy="857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项目概述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688457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8" name="Text 5"/>
          <p:cNvSpPr/>
          <p:nvPr/>
        </p:nvSpPr>
        <p:spPr>
          <a:xfrm>
            <a:off x="381000" y="4050357"/>
            <a:ext cx="6543675" cy="933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4F7F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项目背景、痛点分析与核心愿景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4F7F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探索农业科技创新的无限可能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934" y="354934"/>
            <a:ext cx="11641852" cy="3549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5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项目背景与行业痛点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54934" y="780732"/>
            <a:ext cx="851843" cy="35493"/>
          </a:xfrm>
          <a:custGeom>
            <a:avLst/>
            <a:gdLst/>
            <a:ahLst/>
            <a:cxnLst/>
            <a:rect l="l" t="t" r="r" b="b"/>
            <a:pathLst>
              <a:path w="851843" h="35493">
                <a:moveTo>
                  <a:pt x="0" y="0"/>
                </a:moveTo>
                <a:lnTo>
                  <a:pt x="851843" y="0"/>
                </a:lnTo>
                <a:lnTo>
                  <a:pt x="851843" y="35493"/>
                </a:lnTo>
                <a:lnTo>
                  <a:pt x="0" y="35493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4" name="Shape 2"/>
          <p:cNvSpPr/>
          <p:nvPr/>
        </p:nvSpPr>
        <p:spPr>
          <a:xfrm>
            <a:off x="354934" y="958124"/>
            <a:ext cx="5634585" cy="4232594"/>
          </a:xfrm>
          <a:custGeom>
            <a:avLst/>
            <a:gdLst/>
            <a:ahLst/>
            <a:cxnLst/>
            <a:rect l="l" t="t" r="r" b="b"/>
            <a:pathLst>
              <a:path w="5634585" h="4232594">
                <a:moveTo>
                  <a:pt x="106492" y="0"/>
                </a:moveTo>
                <a:lnTo>
                  <a:pt x="5528093" y="0"/>
                </a:lnTo>
                <a:cubicBezTo>
                  <a:pt x="5586907" y="0"/>
                  <a:pt x="5634585" y="47678"/>
                  <a:pt x="5634585" y="106492"/>
                </a:cubicBezTo>
                <a:lnTo>
                  <a:pt x="5634585" y="4126102"/>
                </a:lnTo>
                <a:cubicBezTo>
                  <a:pt x="5634585" y="4184916"/>
                  <a:pt x="5586907" y="4232594"/>
                  <a:pt x="5528093" y="4232594"/>
                </a:cubicBezTo>
                <a:lnTo>
                  <a:pt x="106492" y="4232594"/>
                </a:lnTo>
                <a:cubicBezTo>
                  <a:pt x="47678" y="4232594"/>
                  <a:pt x="0" y="4184916"/>
                  <a:pt x="0" y="4126102"/>
                </a:cubicBezTo>
                <a:lnTo>
                  <a:pt x="0" y="106492"/>
                </a:lnTo>
                <a:cubicBezTo>
                  <a:pt x="0" y="47717"/>
                  <a:pt x="47717" y="0"/>
                  <a:pt x="10649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3240" dist="3549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7834" y="1171022"/>
            <a:ext cx="425921" cy="425921"/>
          </a:xfrm>
          <a:custGeom>
            <a:avLst/>
            <a:gdLst/>
            <a:ahLst/>
            <a:cxnLst/>
            <a:rect l="l" t="t" r="r" b="b"/>
            <a:pathLst>
              <a:path w="425921" h="425921">
                <a:moveTo>
                  <a:pt x="70988" y="0"/>
                </a:moveTo>
                <a:lnTo>
                  <a:pt x="354933" y="0"/>
                </a:lnTo>
                <a:cubicBezTo>
                  <a:pt x="394113" y="0"/>
                  <a:pt x="425921" y="31809"/>
                  <a:pt x="425921" y="70988"/>
                </a:cubicBezTo>
                <a:lnTo>
                  <a:pt x="425921" y="354933"/>
                </a:lnTo>
                <a:cubicBezTo>
                  <a:pt x="425921" y="394113"/>
                  <a:pt x="394113" y="425921"/>
                  <a:pt x="354933" y="425921"/>
                </a:cubicBezTo>
                <a:lnTo>
                  <a:pt x="70988" y="425921"/>
                </a:lnTo>
                <a:cubicBezTo>
                  <a:pt x="31809" y="425921"/>
                  <a:pt x="0" y="394113"/>
                  <a:pt x="0" y="354933"/>
                </a:cubicBezTo>
                <a:lnTo>
                  <a:pt x="0" y="70988"/>
                </a:lnTo>
                <a:cubicBezTo>
                  <a:pt x="0" y="31809"/>
                  <a:pt x="31809" y="0"/>
                  <a:pt x="70988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6" name="Shape 4"/>
          <p:cNvSpPr/>
          <p:nvPr/>
        </p:nvSpPr>
        <p:spPr>
          <a:xfrm>
            <a:off x="691999" y="1295188"/>
            <a:ext cx="177467" cy="177467"/>
          </a:xfrm>
          <a:custGeom>
            <a:avLst/>
            <a:gdLst/>
            <a:ahLst/>
            <a:cxnLst/>
            <a:rect l="l" t="t" r="r" b="b"/>
            <a:pathLst>
              <a:path w="177467" h="177467">
                <a:moveTo>
                  <a:pt x="177467" y="11092"/>
                </a:moveTo>
                <a:cubicBezTo>
                  <a:pt x="177467" y="48561"/>
                  <a:pt x="150916" y="79826"/>
                  <a:pt x="115631" y="87139"/>
                </a:cubicBezTo>
                <a:cubicBezTo>
                  <a:pt x="112893" y="67001"/>
                  <a:pt x="103846" y="48873"/>
                  <a:pt x="90501" y="34835"/>
                </a:cubicBezTo>
                <a:cubicBezTo>
                  <a:pt x="104401" y="13865"/>
                  <a:pt x="128213" y="0"/>
                  <a:pt x="155284" y="0"/>
                </a:cubicBezTo>
                <a:lnTo>
                  <a:pt x="166376" y="0"/>
                </a:lnTo>
                <a:cubicBezTo>
                  <a:pt x="172511" y="0"/>
                  <a:pt x="177467" y="4957"/>
                  <a:pt x="177467" y="11092"/>
                </a:cubicBezTo>
                <a:close/>
                <a:moveTo>
                  <a:pt x="0" y="33275"/>
                </a:moveTo>
                <a:cubicBezTo>
                  <a:pt x="0" y="27140"/>
                  <a:pt x="4957" y="22183"/>
                  <a:pt x="11092" y="22183"/>
                </a:cubicBezTo>
                <a:lnTo>
                  <a:pt x="22183" y="22183"/>
                </a:lnTo>
                <a:cubicBezTo>
                  <a:pt x="65060" y="22183"/>
                  <a:pt x="99825" y="56949"/>
                  <a:pt x="99825" y="99825"/>
                </a:cubicBezTo>
                <a:lnTo>
                  <a:pt x="99825" y="166376"/>
                </a:lnTo>
                <a:cubicBezTo>
                  <a:pt x="99825" y="172511"/>
                  <a:pt x="94869" y="177467"/>
                  <a:pt x="88734" y="177467"/>
                </a:cubicBezTo>
                <a:cubicBezTo>
                  <a:pt x="82599" y="177467"/>
                  <a:pt x="77642" y="172511"/>
                  <a:pt x="77642" y="166376"/>
                </a:cubicBezTo>
                <a:lnTo>
                  <a:pt x="77642" y="110917"/>
                </a:lnTo>
                <a:cubicBezTo>
                  <a:pt x="34766" y="110917"/>
                  <a:pt x="0" y="76151"/>
                  <a:pt x="0" y="33275"/>
                </a:cubicBezTo>
                <a:close/>
              </a:path>
            </a:pathLst>
          </a:custGeom>
          <a:solidFill>
            <a:srgbClr val="F4F7F6"/>
          </a:solidFill>
        </p:spPr>
      </p:sp>
      <p:sp>
        <p:nvSpPr>
          <p:cNvPr id="7" name="Text 5"/>
          <p:cNvSpPr/>
          <p:nvPr/>
        </p:nvSpPr>
        <p:spPr>
          <a:xfrm>
            <a:off x="1100158" y="1241963"/>
            <a:ext cx="958323" cy="2839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5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行业背景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7834" y="1738856"/>
            <a:ext cx="5279651" cy="461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b="1" dirty="0">
                <a:solidFill>
                  <a:srgbClr val="2A57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马铃薯产业地位：</a:t>
            </a:r>
            <a:r>
              <a:rPr lang="en-US" sz="112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马铃薯作为我国主要粮食作物和经济作物，种植面积广泛，是农业经济的重要支柱。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7834" y="2271026"/>
            <a:ext cx="1552838" cy="3549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5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7000万亩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66831" y="2341968"/>
            <a:ext cx="1064803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马铃薯种植面积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7834" y="2770308"/>
            <a:ext cx="5208664" cy="4930"/>
          </a:xfrm>
          <a:custGeom>
            <a:avLst/>
            <a:gdLst/>
            <a:ahLst/>
            <a:cxnLst/>
            <a:rect l="l" t="t" r="r" b="b"/>
            <a:pathLst>
              <a:path w="5208664" h="4930">
                <a:moveTo>
                  <a:pt x="0" y="0"/>
                </a:moveTo>
                <a:lnTo>
                  <a:pt x="5208664" y="0"/>
                </a:lnTo>
                <a:lnTo>
                  <a:pt x="5208664" y="4930"/>
                </a:lnTo>
                <a:lnTo>
                  <a:pt x="0" y="4930"/>
                </a:lnTo>
                <a:lnTo>
                  <a:pt x="0" y="0"/>
                </a:lnTo>
                <a:close/>
              </a:path>
            </a:pathLst>
          </a:custGeom>
          <a:solidFill>
            <a:srgbClr val="8AA39B">
              <a:alpha val="2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567834" y="2914731"/>
            <a:ext cx="5279651" cy="461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b="1" dirty="0">
                <a:solidFill>
                  <a:srgbClr val="2A57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数字化转型趋势：</a:t>
            </a:r>
            <a:r>
              <a:rPr lang="en-US" sz="112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国家"十四五"规划明确提出加快农业数字化转型，推广智能检测、智能防控技术。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7834" y="3446901"/>
            <a:ext cx="984943" cy="3549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5" b="1" dirty="0">
                <a:solidFill>
                  <a:srgbClr val="D4A05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25%+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1847" y="3517842"/>
            <a:ext cx="1348751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智能农业市场增长率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7834" y="3946183"/>
            <a:ext cx="5208664" cy="4930"/>
          </a:xfrm>
          <a:custGeom>
            <a:avLst/>
            <a:gdLst/>
            <a:ahLst/>
            <a:cxnLst/>
            <a:rect l="l" t="t" r="r" b="b"/>
            <a:pathLst>
              <a:path w="5208664" h="4930">
                <a:moveTo>
                  <a:pt x="0" y="0"/>
                </a:moveTo>
                <a:lnTo>
                  <a:pt x="5208664" y="0"/>
                </a:lnTo>
                <a:lnTo>
                  <a:pt x="5208664" y="4930"/>
                </a:lnTo>
                <a:lnTo>
                  <a:pt x="0" y="4930"/>
                </a:lnTo>
                <a:lnTo>
                  <a:pt x="0" y="0"/>
                </a:lnTo>
                <a:close/>
              </a:path>
            </a:pathLst>
          </a:custGeom>
          <a:solidFill>
            <a:srgbClr val="8AA39B">
              <a:alpha val="2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567834" y="4090605"/>
            <a:ext cx="5279651" cy="461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b="1" dirty="0">
                <a:solidFill>
                  <a:srgbClr val="2A57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市场需求旺盛：</a:t>
            </a:r>
            <a:r>
              <a:rPr lang="en-US" sz="112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传统人工识别模式已无法满足规模化、精细化种植需求，智能识别系统市场空间广阔。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7834" y="4622777"/>
            <a:ext cx="1322131" cy="3549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5" b="1" dirty="0">
                <a:solidFill>
                  <a:srgbClr val="8AA39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15-30%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34368" y="4693716"/>
            <a:ext cx="1064803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病害造成损失率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4934" y="5368001"/>
            <a:ext cx="5634585" cy="1490725"/>
          </a:xfrm>
          <a:custGeom>
            <a:avLst/>
            <a:gdLst/>
            <a:ahLst/>
            <a:cxnLst/>
            <a:rect l="l" t="t" r="r" b="b"/>
            <a:pathLst>
              <a:path w="5634585" h="1490725">
                <a:moveTo>
                  <a:pt x="106482" y="0"/>
                </a:moveTo>
                <a:lnTo>
                  <a:pt x="5528103" y="0"/>
                </a:lnTo>
                <a:cubicBezTo>
                  <a:pt x="5586911" y="0"/>
                  <a:pt x="5634585" y="47674"/>
                  <a:pt x="5634585" y="106482"/>
                </a:cubicBezTo>
                <a:lnTo>
                  <a:pt x="5634585" y="1384242"/>
                </a:lnTo>
                <a:cubicBezTo>
                  <a:pt x="5634585" y="1443051"/>
                  <a:pt x="5586911" y="1490725"/>
                  <a:pt x="5528103" y="1490725"/>
                </a:cubicBezTo>
                <a:lnTo>
                  <a:pt x="106482" y="1490725"/>
                </a:lnTo>
                <a:cubicBezTo>
                  <a:pt x="47674" y="1490725"/>
                  <a:pt x="0" y="1443051"/>
                  <a:pt x="0" y="1384242"/>
                </a:cubicBezTo>
                <a:lnTo>
                  <a:pt x="0" y="106482"/>
                </a:lnTo>
                <a:cubicBezTo>
                  <a:pt x="0" y="47674"/>
                  <a:pt x="47674" y="0"/>
                  <a:pt x="106482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20" name="Shape 18"/>
          <p:cNvSpPr/>
          <p:nvPr/>
        </p:nvSpPr>
        <p:spPr>
          <a:xfrm>
            <a:off x="576769" y="5580899"/>
            <a:ext cx="133100" cy="177467"/>
          </a:xfrm>
          <a:custGeom>
            <a:avLst/>
            <a:gdLst/>
            <a:ahLst/>
            <a:cxnLst/>
            <a:rect l="l" t="t" r="r" b="b"/>
            <a:pathLst>
              <a:path w="133100" h="177467">
                <a:moveTo>
                  <a:pt x="0" y="22183"/>
                </a:moveTo>
                <a:cubicBezTo>
                  <a:pt x="0" y="9948"/>
                  <a:pt x="9948" y="0"/>
                  <a:pt x="22183" y="0"/>
                </a:cubicBezTo>
                <a:lnTo>
                  <a:pt x="74002" y="0"/>
                </a:lnTo>
                <a:cubicBezTo>
                  <a:pt x="79895" y="0"/>
                  <a:pt x="85545" y="2322"/>
                  <a:pt x="89704" y="6482"/>
                </a:cubicBezTo>
                <a:lnTo>
                  <a:pt x="126619" y="43431"/>
                </a:lnTo>
                <a:cubicBezTo>
                  <a:pt x="130778" y="47590"/>
                  <a:pt x="133100" y="53240"/>
                  <a:pt x="133100" y="59133"/>
                </a:cubicBezTo>
                <a:lnTo>
                  <a:pt x="133100" y="155284"/>
                </a:lnTo>
                <a:cubicBezTo>
                  <a:pt x="133100" y="167519"/>
                  <a:pt x="123153" y="177467"/>
                  <a:pt x="110917" y="177467"/>
                </a:cubicBezTo>
                <a:lnTo>
                  <a:pt x="22183" y="177467"/>
                </a:lnTo>
                <a:cubicBezTo>
                  <a:pt x="9948" y="177467"/>
                  <a:pt x="0" y="167519"/>
                  <a:pt x="0" y="155284"/>
                </a:cubicBezTo>
                <a:lnTo>
                  <a:pt x="0" y="22183"/>
                </a:lnTo>
                <a:close/>
                <a:moveTo>
                  <a:pt x="72096" y="20277"/>
                </a:moveTo>
                <a:lnTo>
                  <a:pt x="72096" y="52686"/>
                </a:lnTo>
                <a:cubicBezTo>
                  <a:pt x="72096" y="57296"/>
                  <a:pt x="75805" y="61004"/>
                  <a:pt x="80415" y="61004"/>
                </a:cubicBezTo>
                <a:lnTo>
                  <a:pt x="112823" y="61004"/>
                </a:lnTo>
                <a:lnTo>
                  <a:pt x="72096" y="20277"/>
                </a:lnTo>
                <a:close/>
                <a:moveTo>
                  <a:pt x="41594" y="88734"/>
                </a:moveTo>
                <a:cubicBezTo>
                  <a:pt x="36984" y="88734"/>
                  <a:pt x="33275" y="92442"/>
                  <a:pt x="33275" y="97052"/>
                </a:cubicBezTo>
                <a:cubicBezTo>
                  <a:pt x="33275" y="101662"/>
                  <a:pt x="36984" y="105371"/>
                  <a:pt x="41594" y="105371"/>
                </a:cubicBezTo>
                <a:lnTo>
                  <a:pt x="91507" y="105371"/>
                </a:lnTo>
                <a:cubicBezTo>
                  <a:pt x="96117" y="105371"/>
                  <a:pt x="99825" y="101662"/>
                  <a:pt x="99825" y="97052"/>
                </a:cubicBezTo>
                <a:cubicBezTo>
                  <a:pt x="99825" y="92442"/>
                  <a:pt x="96117" y="88734"/>
                  <a:pt x="91507" y="88734"/>
                </a:cubicBezTo>
                <a:lnTo>
                  <a:pt x="41594" y="88734"/>
                </a:lnTo>
                <a:close/>
                <a:moveTo>
                  <a:pt x="41594" y="122009"/>
                </a:moveTo>
                <a:cubicBezTo>
                  <a:pt x="36984" y="122009"/>
                  <a:pt x="33275" y="125718"/>
                  <a:pt x="33275" y="130328"/>
                </a:cubicBezTo>
                <a:cubicBezTo>
                  <a:pt x="33275" y="134938"/>
                  <a:pt x="36984" y="138646"/>
                  <a:pt x="41594" y="138646"/>
                </a:cubicBezTo>
                <a:lnTo>
                  <a:pt x="91507" y="138646"/>
                </a:lnTo>
                <a:cubicBezTo>
                  <a:pt x="96117" y="138646"/>
                  <a:pt x="99825" y="134938"/>
                  <a:pt x="99825" y="130328"/>
                </a:cubicBezTo>
                <a:cubicBezTo>
                  <a:pt x="99825" y="125718"/>
                  <a:pt x="96117" y="122009"/>
                  <a:pt x="91507" y="122009"/>
                </a:cubicBezTo>
                <a:lnTo>
                  <a:pt x="41594" y="122009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21" name="Text 19"/>
          <p:cNvSpPr/>
          <p:nvPr/>
        </p:nvSpPr>
        <p:spPr>
          <a:xfrm>
            <a:off x="860685" y="5545468"/>
            <a:ext cx="798603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政策支持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0149" y="5935757"/>
            <a:ext cx="141974" cy="141974"/>
          </a:xfrm>
          <a:custGeom>
            <a:avLst/>
            <a:gdLst/>
            <a:ahLst/>
            <a:cxnLst/>
            <a:rect l="l" t="t" r="r" b="b"/>
            <a:pathLst>
              <a:path w="141974" h="141974">
                <a:moveTo>
                  <a:pt x="70987" y="141974"/>
                </a:moveTo>
                <a:cubicBezTo>
                  <a:pt x="110166" y="141974"/>
                  <a:pt x="141974" y="110166"/>
                  <a:pt x="141974" y="70987"/>
                </a:cubicBezTo>
                <a:cubicBezTo>
                  <a:pt x="141974" y="31808"/>
                  <a:pt x="110166" y="0"/>
                  <a:pt x="70987" y="0"/>
                </a:cubicBezTo>
                <a:cubicBezTo>
                  <a:pt x="31808" y="0"/>
                  <a:pt x="0" y="31808"/>
                  <a:pt x="0" y="70987"/>
                </a:cubicBezTo>
                <a:cubicBezTo>
                  <a:pt x="0" y="110166"/>
                  <a:pt x="31808" y="141974"/>
                  <a:pt x="70987" y="141974"/>
                </a:cubicBezTo>
                <a:close/>
                <a:moveTo>
                  <a:pt x="94390" y="58980"/>
                </a:moveTo>
                <a:lnTo>
                  <a:pt x="72207" y="94474"/>
                </a:lnTo>
                <a:cubicBezTo>
                  <a:pt x="71042" y="96331"/>
                  <a:pt x="69046" y="97496"/>
                  <a:pt x="66855" y="97607"/>
                </a:cubicBezTo>
                <a:cubicBezTo>
                  <a:pt x="64665" y="97718"/>
                  <a:pt x="62557" y="96720"/>
                  <a:pt x="61254" y="94945"/>
                </a:cubicBezTo>
                <a:lnTo>
                  <a:pt x="47944" y="77198"/>
                </a:lnTo>
                <a:cubicBezTo>
                  <a:pt x="45726" y="74259"/>
                  <a:pt x="46336" y="70100"/>
                  <a:pt x="49275" y="67881"/>
                </a:cubicBezTo>
                <a:cubicBezTo>
                  <a:pt x="52214" y="65663"/>
                  <a:pt x="56374" y="66273"/>
                  <a:pt x="58592" y="69212"/>
                </a:cubicBezTo>
                <a:lnTo>
                  <a:pt x="66079" y="79195"/>
                </a:lnTo>
                <a:lnTo>
                  <a:pt x="83105" y="51937"/>
                </a:lnTo>
                <a:cubicBezTo>
                  <a:pt x="85046" y="48831"/>
                  <a:pt x="89150" y="47861"/>
                  <a:pt x="92283" y="49829"/>
                </a:cubicBezTo>
                <a:cubicBezTo>
                  <a:pt x="95416" y="51798"/>
                  <a:pt x="96359" y="55874"/>
                  <a:pt x="94390" y="59008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3" name="Text 21"/>
          <p:cNvSpPr/>
          <p:nvPr/>
        </p:nvSpPr>
        <p:spPr>
          <a:xfrm>
            <a:off x="780810" y="5900325"/>
            <a:ext cx="3717939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4F7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《"十四五"推进农业农村现代化规划》支持农业数字化转型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0149" y="6219597"/>
            <a:ext cx="141974" cy="141974"/>
          </a:xfrm>
          <a:custGeom>
            <a:avLst/>
            <a:gdLst/>
            <a:ahLst/>
            <a:cxnLst/>
            <a:rect l="l" t="t" r="r" b="b"/>
            <a:pathLst>
              <a:path w="141974" h="141974">
                <a:moveTo>
                  <a:pt x="70987" y="141974"/>
                </a:moveTo>
                <a:cubicBezTo>
                  <a:pt x="110166" y="141974"/>
                  <a:pt x="141974" y="110166"/>
                  <a:pt x="141974" y="70987"/>
                </a:cubicBezTo>
                <a:cubicBezTo>
                  <a:pt x="141974" y="31808"/>
                  <a:pt x="110166" y="0"/>
                  <a:pt x="70987" y="0"/>
                </a:cubicBezTo>
                <a:cubicBezTo>
                  <a:pt x="31808" y="0"/>
                  <a:pt x="0" y="31808"/>
                  <a:pt x="0" y="70987"/>
                </a:cubicBezTo>
                <a:cubicBezTo>
                  <a:pt x="0" y="110166"/>
                  <a:pt x="31808" y="141974"/>
                  <a:pt x="70987" y="141974"/>
                </a:cubicBezTo>
                <a:close/>
                <a:moveTo>
                  <a:pt x="94390" y="58980"/>
                </a:moveTo>
                <a:lnTo>
                  <a:pt x="72207" y="94474"/>
                </a:lnTo>
                <a:cubicBezTo>
                  <a:pt x="71042" y="96331"/>
                  <a:pt x="69046" y="97496"/>
                  <a:pt x="66855" y="97607"/>
                </a:cubicBezTo>
                <a:cubicBezTo>
                  <a:pt x="64665" y="97718"/>
                  <a:pt x="62557" y="96720"/>
                  <a:pt x="61254" y="94945"/>
                </a:cubicBezTo>
                <a:lnTo>
                  <a:pt x="47944" y="77198"/>
                </a:lnTo>
                <a:cubicBezTo>
                  <a:pt x="45726" y="74259"/>
                  <a:pt x="46336" y="70100"/>
                  <a:pt x="49275" y="67881"/>
                </a:cubicBezTo>
                <a:cubicBezTo>
                  <a:pt x="52214" y="65663"/>
                  <a:pt x="56374" y="66273"/>
                  <a:pt x="58592" y="69212"/>
                </a:cubicBezTo>
                <a:lnTo>
                  <a:pt x="66079" y="79195"/>
                </a:lnTo>
                <a:lnTo>
                  <a:pt x="83105" y="51937"/>
                </a:lnTo>
                <a:cubicBezTo>
                  <a:pt x="85046" y="48831"/>
                  <a:pt x="89150" y="47861"/>
                  <a:pt x="92283" y="49829"/>
                </a:cubicBezTo>
                <a:cubicBezTo>
                  <a:pt x="95416" y="51798"/>
                  <a:pt x="96359" y="55874"/>
                  <a:pt x="94390" y="59008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5" name="Text 23"/>
          <p:cNvSpPr/>
          <p:nvPr/>
        </p:nvSpPr>
        <p:spPr>
          <a:xfrm>
            <a:off x="780810" y="6184164"/>
            <a:ext cx="2484541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4F7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各地农业扶持政策为项目落地提供保障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0149" y="6503436"/>
            <a:ext cx="141974" cy="141974"/>
          </a:xfrm>
          <a:custGeom>
            <a:avLst/>
            <a:gdLst/>
            <a:ahLst/>
            <a:cxnLst/>
            <a:rect l="l" t="t" r="r" b="b"/>
            <a:pathLst>
              <a:path w="141974" h="141974">
                <a:moveTo>
                  <a:pt x="70987" y="141974"/>
                </a:moveTo>
                <a:cubicBezTo>
                  <a:pt x="110166" y="141974"/>
                  <a:pt x="141974" y="110166"/>
                  <a:pt x="141974" y="70987"/>
                </a:cubicBezTo>
                <a:cubicBezTo>
                  <a:pt x="141974" y="31808"/>
                  <a:pt x="110166" y="0"/>
                  <a:pt x="70987" y="0"/>
                </a:cubicBezTo>
                <a:cubicBezTo>
                  <a:pt x="31808" y="0"/>
                  <a:pt x="0" y="31808"/>
                  <a:pt x="0" y="70987"/>
                </a:cubicBezTo>
                <a:cubicBezTo>
                  <a:pt x="0" y="110166"/>
                  <a:pt x="31808" y="141974"/>
                  <a:pt x="70987" y="141974"/>
                </a:cubicBezTo>
                <a:close/>
                <a:moveTo>
                  <a:pt x="94390" y="58980"/>
                </a:moveTo>
                <a:lnTo>
                  <a:pt x="72207" y="94474"/>
                </a:lnTo>
                <a:cubicBezTo>
                  <a:pt x="71042" y="96331"/>
                  <a:pt x="69046" y="97496"/>
                  <a:pt x="66855" y="97607"/>
                </a:cubicBezTo>
                <a:cubicBezTo>
                  <a:pt x="64665" y="97718"/>
                  <a:pt x="62557" y="96720"/>
                  <a:pt x="61254" y="94945"/>
                </a:cubicBezTo>
                <a:lnTo>
                  <a:pt x="47944" y="77198"/>
                </a:lnTo>
                <a:cubicBezTo>
                  <a:pt x="45726" y="74259"/>
                  <a:pt x="46336" y="70100"/>
                  <a:pt x="49275" y="67881"/>
                </a:cubicBezTo>
                <a:cubicBezTo>
                  <a:pt x="52214" y="65663"/>
                  <a:pt x="56374" y="66273"/>
                  <a:pt x="58592" y="69212"/>
                </a:cubicBezTo>
                <a:lnTo>
                  <a:pt x="66079" y="79195"/>
                </a:lnTo>
                <a:lnTo>
                  <a:pt x="83105" y="51937"/>
                </a:lnTo>
                <a:cubicBezTo>
                  <a:pt x="85046" y="48831"/>
                  <a:pt x="89150" y="47861"/>
                  <a:pt x="92283" y="49829"/>
                </a:cubicBezTo>
                <a:cubicBezTo>
                  <a:pt x="95416" y="51798"/>
                  <a:pt x="96359" y="55874"/>
                  <a:pt x="94390" y="59008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7" name="Text 25"/>
          <p:cNvSpPr/>
          <p:nvPr/>
        </p:nvSpPr>
        <p:spPr>
          <a:xfrm>
            <a:off x="780810" y="6468003"/>
            <a:ext cx="1916646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4F7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农业科技扶持资金可申请支持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03421" y="958124"/>
            <a:ext cx="5634585" cy="5900786"/>
          </a:xfrm>
          <a:custGeom>
            <a:avLst/>
            <a:gdLst/>
            <a:ahLst/>
            <a:cxnLst/>
            <a:rect l="l" t="t" r="r" b="b"/>
            <a:pathLst>
              <a:path w="5634585" h="5900786">
                <a:moveTo>
                  <a:pt x="106494" y="0"/>
                </a:moveTo>
                <a:lnTo>
                  <a:pt x="5528091" y="0"/>
                </a:lnTo>
                <a:cubicBezTo>
                  <a:pt x="5586906" y="0"/>
                  <a:pt x="5634585" y="47679"/>
                  <a:pt x="5634585" y="106494"/>
                </a:cubicBezTo>
                <a:lnTo>
                  <a:pt x="5634585" y="5794292"/>
                </a:lnTo>
                <a:cubicBezTo>
                  <a:pt x="5634585" y="5853107"/>
                  <a:pt x="5586906" y="5900786"/>
                  <a:pt x="5528091" y="5900786"/>
                </a:cubicBezTo>
                <a:lnTo>
                  <a:pt x="106494" y="5900786"/>
                </a:lnTo>
                <a:cubicBezTo>
                  <a:pt x="47679" y="5900786"/>
                  <a:pt x="0" y="5853107"/>
                  <a:pt x="0" y="5794292"/>
                </a:cubicBezTo>
                <a:lnTo>
                  <a:pt x="0" y="106494"/>
                </a:lnTo>
                <a:cubicBezTo>
                  <a:pt x="0" y="47718"/>
                  <a:pt x="47718" y="0"/>
                  <a:pt x="10649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3240" dist="3549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16320" y="1171022"/>
            <a:ext cx="425921" cy="425921"/>
          </a:xfrm>
          <a:custGeom>
            <a:avLst/>
            <a:gdLst/>
            <a:ahLst/>
            <a:cxnLst/>
            <a:rect l="l" t="t" r="r" b="b"/>
            <a:pathLst>
              <a:path w="425921" h="425921">
                <a:moveTo>
                  <a:pt x="70988" y="0"/>
                </a:moveTo>
                <a:lnTo>
                  <a:pt x="354933" y="0"/>
                </a:lnTo>
                <a:cubicBezTo>
                  <a:pt x="394113" y="0"/>
                  <a:pt x="425921" y="31809"/>
                  <a:pt x="425921" y="70988"/>
                </a:cubicBezTo>
                <a:lnTo>
                  <a:pt x="425921" y="354933"/>
                </a:lnTo>
                <a:cubicBezTo>
                  <a:pt x="425921" y="394113"/>
                  <a:pt x="394113" y="425921"/>
                  <a:pt x="354933" y="425921"/>
                </a:cubicBezTo>
                <a:lnTo>
                  <a:pt x="70988" y="425921"/>
                </a:lnTo>
                <a:cubicBezTo>
                  <a:pt x="31809" y="425921"/>
                  <a:pt x="0" y="394113"/>
                  <a:pt x="0" y="354933"/>
                </a:cubicBezTo>
                <a:lnTo>
                  <a:pt x="0" y="70988"/>
                </a:lnTo>
                <a:cubicBezTo>
                  <a:pt x="0" y="31809"/>
                  <a:pt x="31809" y="0"/>
                  <a:pt x="70988" y="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30" name="Shape 28"/>
          <p:cNvSpPr/>
          <p:nvPr/>
        </p:nvSpPr>
        <p:spPr>
          <a:xfrm>
            <a:off x="6540485" y="1295188"/>
            <a:ext cx="177467" cy="177467"/>
          </a:xfrm>
          <a:custGeom>
            <a:avLst/>
            <a:gdLst/>
            <a:ahLst/>
            <a:cxnLst/>
            <a:rect l="l" t="t" r="r" b="b"/>
            <a:pathLst>
              <a:path w="177467" h="177467">
                <a:moveTo>
                  <a:pt x="88734" y="0"/>
                </a:moveTo>
                <a:cubicBezTo>
                  <a:pt x="93829" y="0"/>
                  <a:pt x="98508" y="2808"/>
                  <a:pt x="100934" y="7279"/>
                </a:cubicBezTo>
                <a:lnTo>
                  <a:pt x="175803" y="145925"/>
                </a:lnTo>
                <a:cubicBezTo>
                  <a:pt x="178126" y="150223"/>
                  <a:pt x="178022" y="155422"/>
                  <a:pt x="175526" y="159617"/>
                </a:cubicBezTo>
                <a:cubicBezTo>
                  <a:pt x="173031" y="163811"/>
                  <a:pt x="168490" y="166376"/>
                  <a:pt x="163603" y="166376"/>
                </a:cubicBezTo>
                <a:lnTo>
                  <a:pt x="13865" y="166376"/>
                </a:lnTo>
                <a:cubicBezTo>
                  <a:pt x="8977" y="166376"/>
                  <a:pt x="4471" y="163811"/>
                  <a:pt x="1941" y="159617"/>
                </a:cubicBezTo>
                <a:cubicBezTo>
                  <a:pt x="-589" y="155422"/>
                  <a:pt x="-659" y="150223"/>
                  <a:pt x="1664" y="145925"/>
                </a:cubicBezTo>
                <a:lnTo>
                  <a:pt x="76533" y="7279"/>
                </a:lnTo>
                <a:cubicBezTo>
                  <a:pt x="78959" y="2808"/>
                  <a:pt x="83638" y="0"/>
                  <a:pt x="88734" y="0"/>
                </a:cubicBezTo>
                <a:close/>
                <a:moveTo>
                  <a:pt x="88734" y="58231"/>
                </a:moveTo>
                <a:cubicBezTo>
                  <a:pt x="84124" y="58231"/>
                  <a:pt x="80415" y="61940"/>
                  <a:pt x="80415" y="66550"/>
                </a:cubicBezTo>
                <a:lnTo>
                  <a:pt x="80415" y="105371"/>
                </a:lnTo>
                <a:cubicBezTo>
                  <a:pt x="80415" y="109981"/>
                  <a:pt x="84124" y="113690"/>
                  <a:pt x="88734" y="113690"/>
                </a:cubicBezTo>
                <a:cubicBezTo>
                  <a:pt x="93344" y="113690"/>
                  <a:pt x="97052" y="109981"/>
                  <a:pt x="97052" y="105371"/>
                </a:cubicBezTo>
                <a:lnTo>
                  <a:pt x="97052" y="66550"/>
                </a:lnTo>
                <a:cubicBezTo>
                  <a:pt x="97052" y="61940"/>
                  <a:pt x="93344" y="58231"/>
                  <a:pt x="88734" y="58231"/>
                </a:cubicBezTo>
                <a:close/>
                <a:moveTo>
                  <a:pt x="97988" y="133100"/>
                </a:moveTo>
                <a:cubicBezTo>
                  <a:pt x="98199" y="129665"/>
                  <a:pt x="96486" y="126397"/>
                  <a:pt x="93541" y="124616"/>
                </a:cubicBezTo>
                <a:cubicBezTo>
                  <a:pt x="90596" y="122834"/>
                  <a:pt x="86906" y="122834"/>
                  <a:pt x="83961" y="124616"/>
                </a:cubicBezTo>
                <a:cubicBezTo>
                  <a:pt x="81016" y="126397"/>
                  <a:pt x="79303" y="129665"/>
                  <a:pt x="79514" y="133100"/>
                </a:cubicBezTo>
                <a:cubicBezTo>
                  <a:pt x="79303" y="136536"/>
                  <a:pt x="81016" y="139804"/>
                  <a:pt x="83961" y="141585"/>
                </a:cubicBezTo>
                <a:cubicBezTo>
                  <a:pt x="86906" y="143367"/>
                  <a:pt x="90596" y="143367"/>
                  <a:pt x="93541" y="141585"/>
                </a:cubicBezTo>
                <a:cubicBezTo>
                  <a:pt x="96486" y="139804"/>
                  <a:pt x="98199" y="136536"/>
                  <a:pt x="97988" y="133100"/>
                </a:cubicBezTo>
                <a:close/>
              </a:path>
            </a:pathLst>
          </a:custGeom>
          <a:solidFill>
            <a:srgbClr val="1E2D2B"/>
          </a:solidFill>
        </p:spPr>
      </p:sp>
      <p:sp>
        <p:nvSpPr>
          <p:cNvPr id="31" name="Text 29"/>
          <p:cNvSpPr/>
          <p:nvPr/>
        </p:nvSpPr>
        <p:spPr>
          <a:xfrm>
            <a:off x="6948644" y="1241963"/>
            <a:ext cx="958323" cy="2839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5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核心痛点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33573" y="1738856"/>
            <a:ext cx="34508" cy="621135"/>
          </a:xfrm>
          <a:custGeom>
            <a:avLst/>
            <a:gdLst/>
            <a:ahLst/>
            <a:cxnLst/>
            <a:rect l="l" t="t" r="r" b="b"/>
            <a:pathLst>
              <a:path w="34508" h="621135">
                <a:moveTo>
                  <a:pt x="0" y="0"/>
                </a:moveTo>
                <a:lnTo>
                  <a:pt x="34508" y="0"/>
                </a:lnTo>
                <a:lnTo>
                  <a:pt x="34508" y="621135"/>
                </a:lnTo>
                <a:lnTo>
                  <a:pt x="0" y="621135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33" name="Text 31"/>
          <p:cNvSpPr/>
          <p:nvPr/>
        </p:nvSpPr>
        <p:spPr>
          <a:xfrm>
            <a:off x="6628294" y="1774287"/>
            <a:ext cx="5084437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人工识别效率低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28294" y="2093637"/>
            <a:ext cx="5066690" cy="2307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依赖经验判断，耗时耗力，难以满足大规模种植需求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33573" y="3167452"/>
            <a:ext cx="34508" cy="621135"/>
          </a:xfrm>
          <a:custGeom>
            <a:avLst/>
            <a:gdLst/>
            <a:ahLst/>
            <a:cxnLst/>
            <a:rect l="l" t="t" r="r" b="b"/>
            <a:pathLst>
              <a:path w="34508" h="621135">
                <a:moveTo>
                  <a:pt x="0" y="0"/>
                </a:moveTo>
                <a:lnTo>
                  <a:pt x="34508" y="0"/>
                </a:lnTo>
                <a:lnTo>
                  <a:pt x="34508" y="621135"/>
                </a:lnTo>
                <a:lnTo>
                  <a:pt x="0" y="621135"/>
                </a:lnTo>
                <a:lnTo>
                  <a:pt x="0" y="0"/>
                </a:lnTo>
                <a:close/>
              </a:path>
            </a:pathLst>
          </a:custGeom>
          <a:solidFill>
            <a:srgbClr val="8AA39B"/>
          </a:solidFill>
        </p:spPr>
      </p:sp>
      <p:sp>
        <p:nvSpPr>
          <p:cNvPr id="36" name="Text 34"/>
          <p:cNvSpPr/>
          <p:nvPr/>
        </p:nvSpPr>
        <p:spPr>
          <a:xfrm>
            <a:off x="6628294" y="3202883"/>
            <a:ext cx="5084437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误判率偏高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28294" y="3522233"/>
            <a:ext cx="5066690" cy="2307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难以精准区分病害类型，延误最佳防控时机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33573" y="4596049"/>
            <a:ext cx="34508" cy="621135"/>
          </a:xfrm>
          <a:custGeom>
            <a:avLst/>
            <a:gdLst/>
            <a:ahLst/>
            <a:cxnLst/>
            <a:rect l="l" t="t" r="r" b="b"/>
            <a:pathLst>
              <a:path w="34508" h="621135">
                <a:moveTo>
                  <a:pt x="0" y="0"/>
                </a:moveTo>
                <a:lnTo>
                  <a:pt x="34508" y="0"/>
                </a:lnTo>
                <a:lnTo>
                  <a:pt x="34508" y="621135"/>
                </a:lnTo>
                <a:lnTo>
                  <a:pt x="0" y="621135"/>
                </a:lnTo>
                <a:lnTo>
                  <a:pt x="0" y="0"/>
                </a:lnTo>
                <a:close/>
              </a:path>
            </a:pathLst>
          </a:custGeom>
          <a:solidFill>
            <a:srgbClr val="2A574A"/>
          </a:solidFill>
        </p:spPr>
      </p:sp>
      <p:sp>
        <p:nvSpPr>
          <p:cNvPr id="39" name="Text 37"/>
          <p:cNvSpPr/>
          <p:nvPr/>
        </p:nvSpPr>
        <p:spPr>
          <a:xfrm>
            <a:off x="6628294" y="4631479"/>
            <a:ext cx="5084437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技术门槛高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28294" y="4950829"/>
            <a:ext cx="5066690" cy="2307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专业设备昂贵，基层种植户难以承担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33573" y="6024645"/>
            <a:ext cx="34508" cy="621135"/>
          </a:xfrm>
          <a:custGeom>
            <a:avLst/>
            <a:gdLst/>
            <a:ahLst/>
            <a:cxnLst/>
            <a:rect l="l" t="t" r="r" b="b"/>
            <a:pathLst>
              <a:path w="34508" h="621135">
                <a:moveTo>
                  <a:pt x="0" y="0"/>
                </a:moveTo>
                <a:lnTo>
                  <a:pt x="34508" y="0"/>
                </a:lnTo>
                <a:lnTo>
                  <a:pt x="34508" y="621135"/>
                </a:lnTo>
                <a:lnTo>
                  <a:pt x="0" y="621135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42" name="Text 40"/>
          <p:cNvSpPr/>
          <p:nvPr/>
        </p:nvSpPr>
        <p:spPr>
          <a:xfrm>
            <a:off x="6628294" y="6060075"/>
            <a:ext cx="5084437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数据衔接不畅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28294" y="6379426"/>
            <a:ext cx="5066690" cy="2307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位置、天气与识别功能脱节，无法提供针对性建议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项目目标与核心愿景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067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4" name="Shape 2"/>
          <p:cNvSpPr/>
          <p:nvPr/>
        </p:nvSpPr>
        <p:spPr>
          <a:xfrm>
            <a:off x="381000" y="1028486"/>
            <a:ext cx="6515100" cy="2781300"/>
          </a:xfrm>
          <a:custGeom>
            <a:avLst/>
            <a:gdLst/>
            <a:ahLst/>
            <a:cxnLst/>
            <a:rect l="l" t="t" r="r" b="b"/>
            <a:pathLst>
              <a:path w="6515100" h="2781300">
                <a:moveTo>
                  <a:pt x="114311" y="0"/>
                </a:moveTo>
                <a:lnTo>
                  <a:pt x="6400789" y="0"/>
                </a:lnTo>
                <a:cubicBezTo>
                  <a:pt x="6463921" y="0"/>
                  <a:pt x="6515100" y="51179"/>
                  <a:pt x="6515100" y="114311"/>
                </a:cubicBezTo>
                <a:lnTo>
                  <a:pt x="6515100" y="2666989"/>
                </a:lnTo>
                <a:cubicBezTo>
                  <a:pt x="6515100" y="2730121"/>
                  <a:pt x="6463921" y="2781300"/>
                  <a:pt x="6400789" y="2781300"/>
                </a:cubicBezTo>
                <a:lnTo>
                  <a:pt x="114311" y="2781300"/>
                </a:lnTo>
                <a:cubicBezTo>
                  <a:pt x="51179" y="2781300"/>
                  <a:pt x="0" y="2730121"/>
                  <a:pt x="0" y="2666989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21898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6" name="Shape 4"/>
          <p:cNvSpPr/>
          <p:nvPr/>
        </p:nvSpPr>
        <p:spPr>
          <a:xfrm>
            <a:off x="704784" y="135226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4F7F6"/>
          </a:solidFill>
        </p:spPr>
      </p:sp>
      <p:sp>
        <p:nvSpPr>
          <p:cNvPr id="7" name="Text 5"/>
          <p:cNvSpPr/>
          <p:nvPr/>
        </p:nvSpPr>
        <p:spPr>
          <a:xfrm>
            <a:off x="1142917" y="1295135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项目核心目标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" y="1828519"/>
            <a:ext cx="1971675" cy="952500"/>
          </a:xfrm>
          <a:custGeom>
            <a:avLst/>
            <a:gdLst/>
            <a:ahLst/>
            <a:cxnLst/>
            <a:rect l="l" t="t" r="r" b="b"/>
            <a:pathLst>
              <a:path w="1971675" h="952500">
                <a:moveTo>
                  <a:pt x="76200" y="0"/>
                </a:moveTo>
                <a:lnTo>
                  <a:pt x="1895475" y="0"/>
                </a:lnTo>
                <a:cubicBezTo>
                  <a:pt x="1937531" y="0"/>
                  <a:pt x="1971675" y="34144"/>
                  <a:pt x="1971675" y="76200"/>
                </a:cubicBezTo>
                <a:lnTo>
                  <a:pt x="1971675" y="876300"/>
                </a:lnTo>
                <a:cubicBezTo>
                  <a:pt x="1971675" y="918356"/>
                  <a:pt x="1937531" y="952500"/>
                  <a:pt x="189547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A574A">
              <a:alpha val="5098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638159" y="1980902"/>
            <a:ext cx="18383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≥95%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784" y="2399854"/>
            <a:ext cx="17430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识别准确率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54267" y="1828519"/>
            <a:ext cx="1971675" cy="952500"/>
          </a:xfrm>
          <a:custGeom>
            <a:avLst/>
            <a:gdLst/>
            <a:ahLst/>
            <a:cxnLst/>
            <a:rect l="l" t="t" r="r" b="b"/>
            <a:pathLst>
              <a:path w="1971675" h="952500">
                <a:moveTo>
                  <a:pt x="76200" y="0"/>
                </a:moveTo>
                <a:lnTo>
                  <a:pt x="1895475" y="0"/>
                </a:lnTo>
                <a:cubicBezTo>
                  <a:pt x="1937531" y="0"/>
                  <a:pt x="1971675" y="34144"/>
                  <a:pt x="1971675" y="76200"/>
                </a:cubicBezTo>
                <a:lnTo>
                  <a:pt x="1971675" y="876300"/>
                </a:lnTo>
                <a:cubicBezTo>
                  <a:pt x="1971675" y="918356"/>
                  <a:pt x="1937531" y="952500"/>
                  <a:pt x="189547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AA39B">
              <a:alpha val="5098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2720925" y="1980902"/>
            <a:ext cx="18383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AA39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&lt;5s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68550" y="2399854"/>
            <a:ext cx="17430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响应时间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37034" y="1828519"/>
            <a:ext cx="1971675" cy="952500"/>
          </a:xfrm>
          <a:custGeom>
            <a:avLst/>
            <a:gdLst/>
            <a:ahLst/>
            <a:cxnLst/>
            <a:rect l="l" t="t" r="r" b="b"/>
            <a:pathLst>
              <a:path w="1971675" h="952500">
                <a:moveTo>
                  <a:pt x="76200" y="0"/>
                </a:moveTo>
                <a:lnTo>
                  <a:pt x="1895475" y="0"/>
                </a:lnTo>
                <a:cubicBezTo>
                  <a:pt x="1937531" y="0"/>
                  <a:pt x="1971675" y="34144"/>
                  <a:pt x="1971675" y="76200"/>
                </a:cubicBezTo>
                <a:lnTo>
                  <a:pt x="1971675" y="876300"/>
                </a:lnTo>
                <a:cubicBezTo>
                  <a:pt x="1971675" y="918356"/>
                  <a:pt x="1937531" y="952500"/>
                  <a:pt x="189547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056">
              <a:alpha val="5098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4803693" y="1980902"/>
            <a:ext cx="18383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D4A05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51318" y="2399854"/>
            <a:ext cx="17430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适配率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2933154"/>
            <a:ext cx="1971675" cy="685800"/>
          </a:xfrm>
          <a:custGeom>
            <a:avLst/>
            <a:gdLst/>
            <a:ahLst/>
            <a:cxnLst/>
            <a:rect l="l" t="t" r="r" b="b"/>
            <a:pathLst>
              <a:path w="1971675" h="685800">
                <a:moveTo>
                  <a:pt x="76199" y="0"/>
                </a:moveTo>
                <a:lnTo>
                  <a:pt x="1895476" y="0"/>
                </a:lnTo>
                <a:cubicBezTo>
                  <a:pt x="1937559" y="0"/>
                  <a:pt x="1971675" y="34116"/>
                  <a:pt x="1971675" y="76199"/>
                </a:cubicBezTo>
                <a:lnTo>
                  <a:pt x="1971675" y="609601"/>
                </a:lnTo>
                <a:cubicBezTo>
                  <a:pt x="1971675" y="651684"/>
                  <a:pt x="1937559" y="685800"/>
                  <a:pt x="18954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A574A">
              <a:alpha val="5098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661954" y="319021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19" name="Text 17"/>
          <p:cNvSpPr/>
          <p:nvPr/>
        </p:nvSpPr>
        <p:spPr>
          <a:xfrm>
            <a:off x="881476" y="3047421"/>
            <a:ext cx="16192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实现早疫病、晚疫病及健康叶片三类快速识别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54267" y="2933154"/>
            <a:ext cx="1971675" cy="685800"/>
          </a:xfrm>
          <a:custGeom>
            <a:avLst/>
            <a:gdLst/>
            <a:ahLst/>
            <a:cxnLst/>
            <a:rect l="l" t="t" r="r" b="b"/>
            <a:pathLst>
              <a:path w="1971675" h="685800">
                <a:moveTo>
                  <a:pt x="76199" y="0"/>
                </a:moveTo>
                <a:lnTo>
                  <a:pt x="1895476" y="0"/>
                </a:lnTo>
                <a:cubicBezTo>
                  <a:pt x="1937559" y="0"/>
                  <a:pt x="1971675" y="34116"/>
                  <a:pt x="1971675" y="76199"/>
                </a:cubicBezTo>
                <a:lnTo>
                  <a:pt x="1971675" y="609601"/>
                </a:lnTo>
                <a:cubicBezTo>
                  <a:pt x="1971675" y="651684"/>
                  <a:pt x="1937559" y="685800"/>
                  <a:pt x="18954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8AA39B">
              <a:alpha val="5098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2754246" y="319021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22" name="Text 20"/>
          <p:cNvSpPr/>
          <p:nvPr/>
        </p:nvSpPr>
        <p:spPr>
          <a:xfrm>
            <a:off x="2987229" y="3047421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完成多终端适配及各接口无缝对接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37034" y="2933154"/>
            <a:ext cx="1971675" cy="685800"/>
          </a:xfrm>
          <a:custGeom>
            <a:avLst/>
            <a:gdLst/>
            <a:ahLst/>
            <a:cxnLst/>
            <a:rect l="l" t="t" r="r" b="b"/>
            <a:pathLst>
              <a:path w="1971675" h="685800">
                <a:moveTo>
                  <a:pt x="76199" y="0"/>
                </a:moveTo>
                <a:lnTo>
                  <a:pt x="1895476" y="0"/>
                </a:lnTo>
                <a:cubicBezTo>
                  <a:pt x="1937559" y="0"/>
                  <a:pt x="1971675" y="34116"/>
                  <a:pt x="1971675" y="76199"/>
                </a:cubicBezTo>
                <a:lnTo>
                  <a:pt x="1971675" y="609601"/>
                </a:lnTo>
                <a:cubicBezTo>
                  <a:pt x="1971675" y="651684"/>
                  <a:pt x="1937559" y="685800"/>
                  <a:pt x="18954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4A056">
              <a:alpha val="5098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4846538" y="319021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5" name="Text 23"/>
          <p:cNvSpPr/>
          <p:nvPr/>
        </p:nvSpPr>
        <p:spPr>
          <a:xfrm>
            <a:off x="5089839" y="3047421"/>
            <a:ext cx="15811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助力种植户降低病害经济损失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1000" y="3961640"/>
            <a:ext cx="6515100" cy="2514600"/>
          </a:xfrm>
          <a:custGeom>
            <a:avLst/>
            <a:gdLst/>
            <a:ahLst/>
            <a:cxnLst/>
            <a:rect l="l" t="t" r="r" b="b"/>
            <a:pathLst>
              <a:path w="6515100" h="2514600">
                <a:moveTo>
                  <a:pt x="114289" y="0"/>
                </a:moveTo>
                <a:lnTo>
                  <a:pt x="6400811" y="0"/>
                </a:lnTo>
                <a:cubicBezTo>
                  <a:pt x="6463889" y="0"/>
                  <a:pt x="6515100" y="51211"/>
                  <a:pt x="6515100" y="114289"/>
                </a:cubicBezTo>
                <a:lnTo>
                  <a:pt x="6515100" y="2400311"/>
                </a:lnTo>
                <a:cubicBezTo>
                  <a:pt x="6515100" y="2463431"/>
                  <a:pt x="6463931" y="2514600"/>
                  <a:pt x="6400811" y="2514600"/>
                </a:cubicBezTo>
                <a:lnTo>
                  <a:pt x="114289" y="2514600"/>
                </a:lnTo>
                <a:cubicBezTo>
                  <a:pt x="51211" y="2514600"/>
                  <a:pt x="0" y="2463389"/>
                  <a:pt x="0" y="24003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27" name="Shape 25"/>
          <p:cNvSpPr/>
          <p:nvPr/>
        </p:nvSpPr>
        <p:spPr>
          <a:xfrm>
            <a:off x="628650" y="4190174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8" name="Text 26"/>
          <p:cNvSpPr/>
          <p:nvPr/>
        </p:nvSpPr>
        <p:spPr>
          <a:xfrm>
            <a:off x="971434" y="415214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项目愿景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1500" y="4609291"/>
            <a:ext cx="622935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4F7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"科技赋能农业，精准防控病害，让每一块马铃薯都健康生长。"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1500" y="5071237"/>
            <a:ext cx="62103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4F7F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依托前端后端核心程序的技术优势，构建智能化、便捷化、精准化的马铃薯病害防控生态系统，打破传统人工识别的局限性，推动农业数字化、智能化转型。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086617" y="1028486"/>
            <a:ext cx="4724400" cy="5448300"/>
          </a:xfrm>
          <a:custGeom>
            <a:avLst/>
            <a:gdLst/>
            <a:ahLst/>
            <a:cxnLst/>
            <a:rect l="l" t="t" r="r" b="b"/>
            <a:pathLst>
              <a:path w="4724400" h="5448300">
                <a:moveTo>
                  <a:pt x="114283" y="0"/>
                </a:moveTo>
                <a:lnTo>
                  <a:pt x="4610117" y="0"/>
                </a:lnTo>
                <a:cubicBezTo>
                  <a:pt x="4673234" y="0"/>
                  <a:pt x="4724400" y="51166"/>
                  <a:pt x="4724400" y="114283"/>
                </a:cubicBezTo>
                <a:lnTo>
                  <a:pt x="4724400" y="5334017"/>
                </a:lnTo>
                <a:cubicBezTo>
                  <a:pt x="4724400" y="5397134"/>
                  <a:pt x="4673234" y="5448300"/>
                  <a:pt x="4610117" y="5448300"/>
                </a:cubicBezTo>
                <a:lnTo>
                  <a:pt x="114283" y="5448300"/>
                </a:lnTo>
                <a:cubicBezTo>
                  <a:pt x="51166" y="5448300"/>
                  <a:pt x="0" y="5397134"/>
                  <a:pt x="0" y="5334017"/>
                </a:cubicBezTo>
                <a:lnTo>
                  <a:pt x="0" y="114283"/>
                </a:lnTo>
                <a:cubicBezTo>
                  <a:pt x="0" y="51209"/>
                  <a:pt x="51209" y="0"/>
                  <a:pt x="11428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77117" y="121898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33" name="Shape 31"/>
          <p:cNvSpPr/>
          <p:nvPr/>
        </p:nvSpPr>
        <p:spPr>
          <a:xfrm>
            <a:off x="7410401" y="135226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35719"/>
                </a:moveTo>
                <a:cubicBezTo>
                  <a:pt x="190500" y="54397"/>
                  <a:pt x="168511" y="82265"/>
                  <a:pt x="159023" y="93390"/>
                </a:cubicBezTo>
                <a:cubicBezTo>
                  <a:pt x="157609" y="95027"/>
                  <a:pt x="155525" y="95659"/>
                  <a:pt x="153628" y="95250"/>
                </a:cubicBezTo>
                <a:lnTo>
                  <a:pt x="119063" y="95250"/>
                </a:lnTo>
                <a:cubicBezTo>
                  <a:pt x="112477" y="95250"/>
                  <a:pt x="107156" y="100571"/>
                  <a:pt x="107156" y="107156"/>
                </a:cubicBezTo>
                <a:cubicBezTo>
                  <a:pt x="107156" y="113742"/>
                  <a:pt x="112477" y="119063"/>
                  <a:pt x="119063" y="119063"/>
                </a:cubicBezTo>
                <a:lnTo>
                  <a:pt x="154781" y="119063"/>
                </a:lnTo>
                <a:cubicBezTo>
                  <a:pt x="174501" y="119063"/>
                  <a:pt x="190500" y="135062"/>
                  <a:pt x="190500" y="154781"/>
                </a:cubicBezTo>
                <a:cubicBezTo>
                  <a:pt x="190500" y="174501"/>
                  <a:pt x="174501" y="190500"/>
                  <a:pt x="154781" y="190500"/>
                </a:cubicBezTo>
                <a:lnTo>
                  <a:pt x="51941" y="190500"/>
                </a:lnTo>
                <a:cubicBezTo>
                  <a:pt x="55178" y="186817"/>
                  <a:pt x="59122" y="182091"/>
                  <a:pt x="63103" y="176808"/>
                </a:cubicBezTo>
                <a:cubicBezTo>
                  <a:pt x="65447" y="173682"/>
                  <a:pt x="67866" y="170259"/>
                  <a:pt x="70172" y="166688"/>
                </a:cubicBezTo>
                <a:lnTo>
                  <a:pt x="154781" y="166688"/>
                </a:lnTo>
                <a:cubicBezTo>
                  <a:pt x="161367" y="166688"/>
                  <a:pt x="166688" y="161367"/>
                  <a:pt x="166688" y="154781"/>
                </a:cubicBezTo>
                <a:cubicBezTo>
                  <a:pt x="166688" y="148196"/>
                  <a:pt x="161367" y="142875"/>
                  <a:pt x="154781" y="142875"/>
                </a:cubicBezTo>
                <a:lnTo>
                  <a:pt x="119063" y="142875"/>
                </a:lnTo>
                <a:cubicBezTo>
                  <a:pt x="99343" y="142875"/>
                  <a:pt x="83344" y="126876"/>
                  <a:pt x="83344" y="107156"/>
                </a:cubicBezTo>
                <a:cubicBezTo>
                  <a:pt x="83344" y="87437"/>
                  <a:pt x="99343" y="71438"/>
                  <a:pt x="119063" y="71438"/>
                </a:cubicBezTo>
                <a:lnTo>
                  <a:pt x="133871" y="71438"/>
                </a:lnTo>
                <a:cubicBezTo>
                  <a:pt x="126057" y="59717"/>
                  <a:pt x="119063" y="46248"/>
                  <a:pt x="119063" y="35719"/>
                </a:cubicBezTo>
                <a:cubicBezTo>
                  <a:pt x="119063" y="15999"/>
                  <a:pt x="135062" y="0"/>
                  <a:pt x="154781" y="0"/>
                </a:cubicBezTo>
                <a:cubicBezTo>
                  <a:pt x="174501" y="0"/>
                  <a:pt x="190500" y="15999"/>
                  <a:pt x="190500" y="35719"/>
                </a:cubicBezTo>
                <a:close/>
                <a:moveTo>
                  <a:pt x="43569" y="181980"/>
                </a:moveTo>
                <a:cubicBezTo>
                  <a:pt x="42156" y="183579"/>
                  <a:pt x="40891" y="184993"/>
                  <a:pt x="39812" y="186184"/>
                </a:cubicBezTo>
                <a:lnTo>
                  <a:pt x="39142" y="186928"/>
                </a:lnTo>
                <a:lnTo>
                  <a:pt x="39067" y="186854"/>
                </a:lnTo>
                <a:cubicBezTo>
                  <a:pt x="36835" y="188565"/>
                  <a:pt x="33635" y="188342"/>
                  <a:pt x="31626" y="186184"/>
                </a:cubicBezTo>
                <a:cubicBezTo>
                  <a:pt x="22250" y="175989"/>
                  <a:pt x="0" y="149758"/>
                  <a:pt x="0" y="130969"/>
                </a:cubicBezTo>
                <a:cubicBezTo>
                  <a:pt x="0" y="111249"/>
                  <a:pt x="15999" y="95250"/>
                  <a:pt x="35719" y="95250"/>
                </a:cubicBezTo>
                <a:cubicBezTo>
                  <a:pt x="55438" y="95250"/>
                  <a:pt x="71438" y="111249"/>
                  <a:pt x="71438" y="130969"/>
                </a:cubicBezTo>
                <a:cubicBezTo>
                  <a:pt x="71438" y="142131"/>
                  <a:pt x="63587" y="155897"/>
                  <a:pt x="55252" y="167394"/>
                </a:cubicBezTo>
                <a:cubicBezTo>
                  <a:pt x="51271" y="172864"/>
                  <a:pt x="47179" y="177812"/>
                  <a:pt x="43793" y="181719"/>
                </a:cubicBezTo>
                <a:lnTo>
                  <a:pt x="43569" y="181980"/>
                </a:lnTo>
                <a:close/>
                <a:moveTo>
                  <a:pt x="47625" y="130969"/>
                </a:moveTo>
                <a:cubicBezTo>
                  <a:pt x="47625" y="124398"/>
                  <a:pt x="42290" y="119063"/>
                  <a:pt x="35719" y="119063"/>
                </a:cubicBezTo>
                <a:cubicBezTo>
                  <a:pt x="29148" y="119063"/>
                  <a:pt x="23812" y="124398"/>
                  <a:pt x="23812" y="130969"/>
                </a:cubicBezTo>
                <a:cubicBezTo>
                  <a:pt x="23812" y="137540"/>
                  <a:pt x="29148" y="142875"/>
                  <a:pt x="35719" y="142875"/>
                </a:cubicBezTo>
                <a:cubicBezTo>
                  <a:pt x="42290" y="142875"/>
                  <a:pt x="47625" y="137540"/>
                  <a:pt x="47625" y="130969"/>
                </a:cubicBezTo>
                <a:close/>
                <a:moveTo>
                  <a:pt x="154781" y="47625"/>
                </a:moveTo>
                <a:cubicBezTo>
                  <a:pt x="161352" y="47625"/>
                  <a:pt x="166688" y="42290"/>
                  <a:pt x="166688" y="35719"/>
                </a:cubicBezTo>
                <a:cubicBezTo>
                  <a:pt x="166688" y="29148"/>
                  <a:pt x="161352" y="23812"/>
                  <a:pt x="154781" y="23812"/>
                </a:cubicBezTo>
                <a:cubicBezTo>
                  <a:pt x="148210" y="23812"/>
                  <a:pt x="142875" y="29148"/>
                  <a:pt x="142875" y="35719"/>
                </a:cubicBezTo>
                <a:cubicBezTo>
                  <a:pt x="142875" y="42290"/>
                  <a:pt x="148210" y="47625"/>
                  <a:pt x="154781" y="47625"/>
                </a:cubicBezTo>
                <a:close/>
              </a:path>
            </a:pathLst>
          </a:custGeom>
          <a:solidFill>
            <a:srgbClr val="1E2D2B"/>
          </a:solidFill>
        </p:spPr>
      </p:sp>
      <p:sp>
        <p:nvSpPr>
          <p:cNvPr id="34" name="Text 32"/>
          <p:cNvSpPr/>
          <p:nvPr/>
        </p:nvSpPr>
        <p:spPr>
          <a:xfrm>
            <a:off x="7848534" y="129513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实施方向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295638" y="1828519"/>
            <a:ext cx="37042" cy="857250"/>
          </a:xfrm>
          <a:custGeom>
            <a:avLst/>
            <a:gdLst/>
            <a:ahLst/>
            <a:cxnLst/>
            <a:rect l="l" t="t" r="r" b="b"/>
            <a:pathLst>
              <a:path w="37042" h="857250">
                <a:moveTo>
                  <a:pt x="0" y="0"/>
                </a:moveTo>
                <a:lnTo>
                  <a:pt x="37042" y="0"/>
                </a:lnTo>
                <a:lnTo>
                  <a:pt x="3704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2A574A"/>
          </a:solidFill>
        </p:spPr>
      </p:sp>
      <p:sp>
        <p:nvSpPr>
          <p:cNvPr id="36" name="Shape 34"/>
          <p:cNvSpPr/>
          <p:nvPr/>
        </p:nvSpPr>
        <p:spPr>
          <a:xfrm>
            <a:off x="7466542" y="194278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37" name="Text 35"/>
          <p:cNvSpPr/>
          <p:nvPr/>
        </p:nvSpPr>
        <p:spPr>
          <a:xfrm>
            <a:off x="7433204" y="1942786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847459" y="1961804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产品化阶段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66542" y="2323702"/>
            <a:ext cx="42291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完成核心程序开发，实现3类叶片识别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295638" y="3207246"/>
            <a:ext cx="37042" cy="857250"/>
          </a:xfrm>
          <a:custGeom>
            <a:avLst/>
            <a:gdLst/>
            <a:ahLst/>
            <a:cxnLst/>
            <a:rect l="l" t="t" r="r" b="b"/>
            <a:pathLst>
              <a:path w="37042" h="857250">
                <a:moveTo>
                  <a:pt x="0" y="0"/>
                </a:moveTo>
                <a:lnTo>
                  <a:pt x="37042" y="0"/>
                </a:lnTo>
                <a:lnTo>
                  <a:pt x="3704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8AA39B"/>
          </a:solidFill>
        </p:spPr>
      </p:sp>
      <p:sp>
        <p:nvSpPr>
          <p:cNvPr id="41" name="Shape 39"/>
          <p:cNvSpPr/>
          <p:nvPr/>
        </p:nvSpPr>
        <p:spPr>
          <a:xfrm>
            <a:off x="7466542" y="332151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42" name="Text 40"/>
          <p:cNvSpPr/>
          <p:nvPr/>
        </p:nvSpPr>
        <p:spPr>
          <a:xfrm>
            <a:off x="7433204" y="3321514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847459" y="3340531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商业化阶段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466542" y="3702430"/>
            <a:ext cx="42291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覆盖2000+用户，服务5+重点区域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295638" y="4585974"/>
            <a:ext cx="37042" cy="857250"/>
          </a:xfrm>
          <a:custGeom>
            <a:avLst/>
            <a:gdLst/>
            <a:ahLst/>
            <a:cxnLst/>
            <a:rect l="l" t="t" r="r" b="b"/>
            <a:pathLst>
              <a:path w="37042" h="857250">
                <a:moveTo>
                  <a:pt x="0" y="0"/>
                </a:moveTo>
                <a:lnTo>
                  <a:pt x="37042" y="0"/>
                </a:lnTo>
                <a:lnTo>
                  <a:pt x="37042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46" name="Shape 44"/>
          <p:cNvSpPr/>
          <p:nvPr/>
        </p:nvSpPr>
        <p:spPr>
          <a:xfrm>
            <a:off x="7466542" y="47002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47" name="Text 45"/>
          <p:cNvSpPr/>
          <p:nvPr/>
        </p:nvSpPr>
        <p:spPr>
          <a:xfrm>
            <a:off x="7433204" y="4700241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847459" y="4719258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生态化阶段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466542" y="5081157"/>
            <a:ext cx="42291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拓展5+病害识别，构建防控案例库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277117" y="5598088"/>
            <a:ext cx="4343400" cy="5292"/>
          </a:xfrm>
          <a:custGeom>
            <a:avLst/>
            <a:gdLst/>
            <a:ahLst/>
            <a:cxnLst/>
            <a:rect l="l" t="t" r="r" b="b"/>
            <a:pathLst>
              <a:path w="4343400" h="5292">
                <a:moveTo>
                  <a:pt x="0" y="0"/>
                </a:moveTo>
                <a:lnTo>
                  <a:pt x="4343400" y="0"/>
                </a:lnTo>
                <a:lnTo>
                  <a:pt x="4343400" y="5292"/>
                </a:lnTo>
                <a:lnTo>
                  <a:pt x="0" y="5292"/>
                </a:lnTo>
                <a:lnTo>
                  <a:pt x="0" y="0"/>
                </a:lnTo>
                <a:close/>
              </a:path>
            </a:pathLst>
          </a:custGeom>
          <a:solidFill>
            <a:srgbClr val="8AA39B">
              <a:alpha val="20000"/>
            </a:srgbClr>
          </a:solidFill>
        </p:spPr>
      </p:sp>
      <p:sp>
        <p:nvSpPr>
          <p:cNvPr id="51" name="Text 49"/>
          <p:cNvSpPr/>
          <p:nvPr/>
        </p:nvSpPr>
        <p:spPr>
          <a:xfrm>
            <a:off x="7205679" y="5753116"/>
            <a:ext cx="22574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99%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243779" y="6096000"/>
            <a:ext cx="2181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稳定运行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434463" y="5753116"/>
            <a:ext cx="22574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05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2000+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472563" y="6096000"/>
            <a:ext cx="2181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种植户/合作社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A3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odewave.com/c8c060fa8125417cbed026fa673d4eeb25efcdef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11685" b="11685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AA39B">
                  <a:alpha val="95000"/>
                </a:srgbClr>
              </a:gs>
              <a:gs pos="50000">
                <a:srgbClr val="8AA39B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1000" y="1878955"/>
            <a:ext cx="1123950" cy="419100"/>
          </a:xfrm>
          <a:custGeom>
            <a:avLst/>
            <a:gdLst/>
            <a:ahLst/>
            <a:cxnLst/>
            <a:rect l="l" t="t" r="r" b="b"/>
            <a:pathLst>
              <a:path w="1123950" h="419100">
                <a:moveTo>
                  <a:pt x="0" y="0"/>
                </a:moveTo>
                <a:lnTo>
                  <a:pt x="1123950" y="0"/>
                </a:lnTo>
                <a:lnTo>
                  <a:pt x="11239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5" name="Text 2"/>
          <p:cNvSpPr/>
          <p:nvPr/>
        </p:nvSpPr>
        <p:spPr>
          <a:xfrm>
            <a:off x="381000" y="1878955"/>
            <a:ext cx="1209675" cy="419100"/>
          </a:xfrm>
          <a:prstGeom prst="rect">
            <a:avLst/>
          </a:prstGeom>
          <a:noFill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PART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602755"/>
            <a:ext cx="11772900" cy="857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688456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8" name="Text 5"/>
          <p:cNvSpPr/>
          <p:nvPr/>
        </p:nvSpPr>
        <p:spPr>
          <a:xfrm>
            <a:off x="381000" y="4050360"/>
            <a:ext cx="6543675" cy="933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4F7F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病害识别、智能服务与数据支撑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4F7F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构建"识别-分析-建议"一体化服务体系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783" y="367783"/>
            <a:ext cx="11621937" cy="367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5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病害识别功能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7783" y="808992"/>
            <a:ext cx="882679" cy="36778"/>
          </a:xfrm>
          <a:custGeom>
            <a:avLst/>
            <a:gdLst/>
            <a:ahLst/>
            <a:cxnLst/>
            <a:rect l="l" t="t" r="r" b="b"/>
            <a:pathLst>
              <a:path w="882679" h="36778">
                <a:moveTo>
                  <a:pt x="0" y="0"/>
                </a:moveTo>
                <a:lnTo>
                  <a:pt x="882679" y="0"/>
                </a:lnTo>
                <a:lnTo>
                  <a:pt x="882679" y="36778"/>
                </a:lnTo>
                <a:lnTo>
                  <a:pt x="0" y="36778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4" name="Shape 2"/>
          <p:cNvSpPr/>
          <p:nvPr/>
        </p:nvSpPr>
        <p:spPr>
          <a:xfrm>
            <a:off x="367783" y="992803"/>
            <a:ext cx="6767204" cy="2500923"/>
          </a:xfrm>
          <a:custGeom>
            <a:avLst/>
            <a:gdLst/>
            <a:ahLst/>
            <a:cxnLst/>
            <a:rect l="l" t="t" r="r" b="b"/>
            <a:pathLst>
              <a:path w="6767204" h="2500923">
                <a:moveTo>
                  <a:pt x="110341" y="0"/>
                </a:moveTo>
                <a:lnTo>
                  <a:pt x="6656863" y="0"/>
                </a:lnTo>
                <a:cubicBezTo>
                  <a:pt x="6717802" y="0"/>
                  <a:pt x="6767204" y="49401"/>
                  <a:pt x="6767204" y="110341"/>
                </a:cubicBezTo>
                <a:lnTo>
                  <a:pt x="6767204" y="2390582"/>
                </a:lnTo>
                <a:cubicBezTo>
                  <a:pt x="6767204" y="2451522"/>
                  <a:pt x="6717802" y="2500923"/>
                  <a:pt x="6656863" y="2500923"/>
                </a:cubicBezTo>
                <a:lnTo>
                  <a:pt x="110341" y="2500923"/>
                </a:lnTo>
                <a:cubicBezTo>
                  <a:pt x="49401" y="2500923"/>
                  <a:pt x="0" y="2451522"/>
                  <a:pt x="0" y="2390582"/>
                </a:cubicBezTo>
                <a:lnTo>
                  <a:pt x="0" y="110341"/>
                </a:lnTo>
                <a:cubicBezTo>
                  <a:pt x="0" y="49442"/>
                  <a:pt x="49442" y="0"/>
                  <a:pt x="11034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5167" dist="367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51674" y="1176694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73558" y="0"/>
                </a:moveTo>
                <a:lnTo>
                  <a:pt x="367781" y="0"/>
                </a:lnTo>
                <a:cubicBezTo>
                  <a:pt x="408406" y="0"/>
                  <a:pt x="441339" y="32933"/>
                  <a:pt x="441339" y="73558"/>
                </a:cubicBezTo>
                <a:lnTo>
                  <a:pt x="441339" y="367781"/>
                </a:lnTo>
                <a:cubicBezTo>
                  <a:pt x="441339" y="408406"/>
                  <a:pt x="408406" y="441339"/>
                  <a:pt x="367781" y="441339"/>
                </a:cubicBezTo>
                <a:lnTo>
                  <a:pt x="73558" y="441339"/>
                </a:lnTo>
                <a:cubicBezTo>
                  <a:pt x="32933" y="441339"/>
                  <a:pt x="0" y="408406"/>
                  <a:pt x="0" y="367781"/>
                </a:cubicBezTo>
                <a:lnTo>
                  <a:pt x="0" y="73558"/>
                </a:lnTo>
                <a:cubicBezTo>
                  <a:pt x="0" y="32960"/>
                  <a:pt x="32960" y="0"/>
                  <a:pt x="73558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6" name="Shape 4"/>
          <p:cNvSpPr/>
          <p:nvPr/>
        </p:nvSpPr>
        <p:spPr>
          <a:xfrm>
            <a:off x="680334" y="1305355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169273" y="2406"/>
                </a:moveTo>
                <a:cubicBezTo>
                  <a:pt x="171572" y="215"/>
                  <a:pt x="174912" y="-575"/>
                  <a:pt x="178001" y="431"/>
                </a:cubicBezTo>
                <a:cubicBezTo>
                  <a:pt x="181521" y="1616"/>
                  <a:pt x="183891" y="4921"/>
                  <a:pt x="183891" y="8620"/>
                </a:cubicBezTo>
                <a:lnTo>
                  <a:pt x="183891" y="75747"/>
                </a:lnTo>
                <a:cubicBezTo>
                  <a:pt x="183891" y="122870"/>
                  <a:pt x="145066" y="160905"/>
                  <a:pt x="98123" y="160905"/>
                </a:cubicBezTo>
                <a:cubicBezTo>
                  <a:pt x="70468" y="160905"/>
                  <a:pt x="46619" y="143126"/>
                  <a:pt x="37964" y="118272"/>
                </a:cubicBezTo>
                <a:cubicBezTo>
                  <a:pt x="25249" y="129335"/>
                  <a:pt x="17240" y="145605"/>
                  <a:pt x="17240" y="163778"/>
                </a:cubicBezTo>
                <a:cubicBezTo>
                  <a:pt x="17240" y="168555"/>
                  <a:pt x="13397" y="172398"/>
                  <a:pt x="8620" y="172398"/>
                </a:cubicBezTo>
                <a:cubicBezTo>
                  <a:pt x="3843" y="172398"/>
                  <a:pt x="0" y="168555"/>
                  <a:pt x="0" y="163778"/>
                </a:cubicBezTo>
                <a:cubicBezTo>
                  <a:pt x="0" y="136877"/>
                  <a:pt x="13720" y="113172"/>
                  <a:pt x="34516" y="99237"/>
                </a:cubicBezTo>
                <a:cubicBezTo>
                  <a:pt x="47194" y="90760"/>
                  <a:pt x="62315" y="86199"/>
                  <a:pt x="77579" y="86199"/>
                </a:cubicBezTo>
                <a:lnTo>
                  <a:pt x="106312" y="86199"/>
                </a:lnTo>
                <a:cubicBezTo>
                  <a:pt x="111089" y="86199"/>
                  <a:pt x="114932" y="82356"/>
                  <a:pt x="114932" y="77579"/>
                </a:cubicBezTo>
                <a:cubicBezTo>
                  <a:pt x="114932" y="72802"/>
                  <a:pt x="111089" y="68959"/>
                  <a:pt x="106312" y="68959"/>
                </a:cubicBezTo>
                <a:lnTo>
                  <a:pt x="77579" y="68959"/>
                </a:lnTo>
                <a:cubicBezTo>
                  <a:pt x="63320" y="68959"/>
                  <a:pt x="49816" y="72120"/>
                  <a:pt x="37712" y="77759"/>
                </a:cubicBezTo>
                <a:cubicBezTo>
                  <a:pt x="46081" y="52617"/>
                  <a:pt x="69749" y="34480"/>
                  <a:pt x="97692" y="34480"/>
                </a:cubicBezTo>
                <a:cubicBezTo>
                  <a:pt x="121541" y="34480"/>
                  <a:pt x="139283" y="26542"/>
                  <a:pt x="151100" y="18676"/>
                </a:cubicBezTo>
                <a:cubicBezTo>
                  <a:pt x="157996" y="14079"/>
                  <a:pt x="163850" y="8584"/>
                  <a:pt x="169309" y="2406"/>
                </a:cubicBezTo>
                <a:close/>
              </a:path>
            </a:pathLst>
          </a:custGeom>
          <a:solidFill>
            <a:srgbClr val="F4F7F6"/>
          </a:solidFill>
        </p:spPr>
      </p:sp>
      <p:sp>
        <p:nvSpPr>
          <p:cNvPr id="7" name="Text 5"/>
          <p:cNvSpPr/>
          <p:nvPr/>
        </p:nvSpPr>
        <p:spPr>
          <a:xfrm>
            <a:off x="1103269" y="1250206"/>
            <a:ext cx="1434353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三类叶片识别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1674" y="1765084"/>
            <a:ext cx="2032000" cy="1544688"/>
          </a:xfrm>
          <a:custGeom>
            <a:avLst/>
            <a:gdLst/>
            <a:ahLst/>
            <a:cxnLst/>
            <a:rect l="l" t="t" r="r" b="b"/>
            <a:pathLst>
              <a:path w="2032000" h="1544688">
                <a:moveTo>
                  <a:pt x="110337" y="0"/>
                </a:moveTo>
                <a:lnTo>
                  <a:pt x="1921663" y="0"/>
                </a:lnTo>
                <a:cubicBezTo>
                  <a:pt x="1982600" y="0"/>
                  <a:pt x="2032000" y="49400"/>
                  <a:pt x="2032000" y="110337"/>
                </a:cubicBezTo>
                <a:lnTo>
                  <a:pt x="2032000" y="1434351"/>
                </a:lnTo>
                <a:cubicBezTo>
                  <a:pt x="2032000" y="1495288"/>
                  <a:pt x="1982600" y="1544688"/>
                  <a:pt x="1921663" y="1544688"/>
                </a:cubicBezTo>
                <a:lnTo>
                  <a:pt x="110337" y="1544688"/>
                </a:lnTo>
                <a:cubicBezTo>
                  <a:pt x="49400" y="1544688"/>
                  <a:pt x="0" y="1495288"/>
                  <a:pt x="0" y="1434351"/>
                </a:cubicBezTo>
                <a:lnTo>
                  <a:pt x="0" y="110337"/>
                </a:lnTo>
                <a:cubicBezTo>
                  <a:pt x="0" y="49440"/>
                  <a:pt x="49440" y="0"/>
                  <a:pt x="110337" y="0"/>
                </a:cubicBezTo>
                <a:close/>
              </a:path>
            </a:pathLst>
          </a:custGeom>
          <a:solidFill>
            <a:srgbClr val="2A574A">
              <a:alpha val="5098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1274549" y="1912183"/>
            <a:ext cx="588452" cy="588452"/>
          </a:xfrm>
          <a:custGeom>
            <a:avLst/>
            <a:gdLst/>
            <a:ahLst/>
            <a:cxnLst/>
            <a:rect l="l" t="t" r="r" b="b"/>
            <a:pathLst>
              <a:path w="588452" h="588452">
                <a:moveTo>
                  <a:pt x="294226" y="0"/>
                </a:moveTo>
                <a:lnTo>
                  <a:pt x="294226" y="0"/>
                </a:lnTo>
                <a:cubicBezTo>
                  <a:pt x="456614" y="0"/>
                  <a:pt x="588452" y="131838"/>
                  <a:pt x="588452" y="294226"/>
                </a:cubicBezTo>
                <a:lnTo>
                  <a:pt x="588452" y="294226"/>
                </a:lnTo>
                <a:cubicBezTo>
                  <a:pt x="588452" y="456614"/>
                  <a:pt x="456614" y="588452"/>
                  <a:pt x="294226" y="588452"/>
                </a:cubicBezTo>
                <a:lnTo>
                  <a:pt x="294226" y="588452"/>
                </a:lnTo>
                <a:cubicBezTo>
                  <a:pt x="131838" y="588452"/>
                  <a:pt x="0" y="456614"/>
                  <a:pt x="0" y="294226"/>
                </a:cubicBezTo>
                <a:lnTo>
                  <a:pt x="0" y="294226"/>
                </a:lnTo>
                <a:cubicBezTo>
                  <a:pt x="0" y="131838"/>
                  <a:pt x="131838" y="0"/>
                  <a:pt x="294226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10" name="Shape 8"/>
          <p:cNvSpPr/>
          <p:nvPr/>
        </p:nvSpPr>
        <p:spPr>
          <a:xfrm>
            <a:off x="1458409" y="2095994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110335" y="220670"/>
                </a:moveTo>
                <a:cubicBezTo>
                  <a:pt x="171230" y="220670"/>
                  <a:pt x="220670" y="171230"/>
                  <a:pt x="220670" y="110335"/>
                </a:cubicBezTo>
                <a:cubicBezTo>
                  <a:pt x="220670" y="49439"/>
                  <a:pt x="171230" y="0"/>
                  <a:pt x="110335" y="0"/>
                </a:cubicBezTo>
                <a:cubicBezTo>
                  <a:pt x="49439" y="0"/>
                  <a:pt x="0" y="49439"/>
                  <a:pt x="0" y="110335"/>
                </a:cubicBezTo>
                <a:cubicBezTo>
                  <a:pt x="0" y="171230"/>
                  <a:pt x="49439" y="220670"/>
                  <a:pt x="110335" y="220670"/>
                </a:cubicBezTo>
                <a:close/>
                <a:moveTo>
                  <a:pt x="146711" y="91673"/>
                </a:moveTo>
                <a:lnTo>
                  <a:pt x="112231" y="146840"/>
                </a:lnTo>
                <a:cubicBezTo>
                  <a:pt x="110421" y="149728"/>
                  <a:pt x="107318" y="151538"/>
                  <a:pt x="103913" y="151710"/>
                </a:cubicBezTo>
                <a:cubicBezTo>
                  <a:pt x="100508" y="151883"/>
                  <a:pt x="97233" y="150331"/>
                  <a:pt x="95207" y="147573"/>
                </a:cubicBezTo>
                <a:lnTo>
                  <a:pt x="74519" y="119989"/>
                </a:lnTo>
                <a:cubicBezTo>
                  <a:pt x="71071" y="115421"/>
                  <a:pt x="72019" y="108956"/>
                  <a:pt x="76588" y="105508"/>
                </a:cubicBezTo>
                <a:cubicBezTo>
                  <a:pt x="81156" y="102060"/>
                  <a:pt x="87621" y="103008"/>
                  <a:pt x="91069" y="107576"/>
                </a:cubicBezTo>
                <a:lnTo>
                  <a:pt x="102706" y="123092"/>
                </a:lnTo>
                <a:lnTo>
                  <a:pt x="129169" y="80725"/>
                </a:lnTo>
                <a:cubicBezTo>
                  <a:pt x="132186" y="75898"/>
                  <a:pt x="138565" y="74390"/>
                  <a:pt x="143435" y="77450"/>
                </a:cubicBezTo>
                <a:cubicBezTo>
                  <a:pt x="148306" y="80510"/>
                  <a:pt x="149771" y="86846"/>
                  <a:pt x="146711" y="91716"/>
                </a:cubicBezTo>
                <a:close/>
              </a:path>
            </a:pathLst>
          </a:custGeom>
          <a:solidFill>
            <a:srgbClr val="F4F7F6"/>
          </a:solidFill>
        </p:spPr>
      </p:sp>
      <p:sp>
        <p:nvSpPr>
          <p:cNvPr id="11" name="Text 9"/>
          <p:cNvSpPr/>
          <p:nvPr/>
        </p:nvSpPr>
        <p:spPr>
          <a:xfrm>
            <a:off x="652799" y="2610872"/>
            <a:ext cx="1829719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健康叶片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1993" y="2941782"/>
            <a:ext cx="1811330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正常生长状态识别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32990" y="1765084"/>
            <a:ext cx="2032000" cy="1544688"/>
          </a:xfrm>
          <a:custGeom>
            <a:avLst/>
            <a:gdLst/>
            <a:ahLst/>
            <a:cxnLst/>
            <a:rect l="l" t="t" r="r" b="b"/>
            <a:pathLst>
              <a:path w="2032000" h="1544688">
                <a:moveTo>
                  <a:pt x="110337" y="0"/>
                </a:moveTo>
                <a:lnTo>
                  <a:pt x="1921663" y="0"/>
                </a:lnTo>
                <a:cubicBezTo>
                  <a:pt x="1982600" y="0"/>
                  <a:pt x="2032000" y="49400"/>
                  <a:pt x="2032000" y="110337"/>
                </a:cubicBezTo>
                <a:lnTo>
                  <a:pt x="2032000" y="1434351"/>
                </a:lnTo>
                <a:cubicBezTo>
                  <a:pt x="2032000" y="1495288"/>
                  <a:pt x="1982600" y="1544688"/>
                  <a:pt x="1921663" y="1544688"/>
                </a:cubicBezTo>
                <a:lnTo>
                  <a:pt x="110337" y="1544688"/>
                </a:lnTo>
                <a:cubicBezTo>
                  <a:pt x="49400" y="1544688"/>
                  <a:pt x="0" y="1495288"/>
                  <a:pt x="0" y="1434351"/>
                </a:cubicBezTo>
                <a:lnTo>
                  <a:pt x="0" y="110337"/>
                </a:lnTo>
                <a:cubicBezTo>
                  <a:pt x="0" y="49440"/>
                  <a:pt x="49440" y="0"/>
                  <a:pt x="110337" y="0"/>
                </a:cubicBezTo>
                <a:close/>
              </a:path>
            </a:pathLst>
          </a:custGeom>
          <a:solidFill>
            <a:srgbClr val="8AA39B">
              <a:alpha val="5098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455866" y="1912183"/>
            <a:ext cx="588452" cy="588452"/>
          </a:xfrm>
          <a:custGeom>
            <a:avLst/>
            <a:gdLst/>
            <a:ahLst/>
            <a:cxnLst/>
            <a:rect l="l" t="t" r="r" b="b"/>
            <a:pathLst>
              <a:path w="588452" h="588452">
                <a:moveTo>
                  <a:pt x="294226" y="0"/>
                </a:moveTo>
                <a:lnTo>
                  <a:pt x="294226" y="0"/>
                </a:lnTo>
                <a:cubicBezTo>
                  <a:pt x="456614" y="0"/>
                  <a:pt x="588452" y="131838"/>
                  <a:pt x="588452" y="294226"/>
                </a:cubicBezTo>
                <a:lnTo>
                  <a:pt x="588452" y="294226"/>
                </a:lnTo>
                <a:cubicBezTo>
                  <a:pt x="588452" y="456614"/>
                  <a:pt x="456614" y="588452"/>
                  <a:pt x="294226" y="588452"/>
                </a:cubicBezTo>
                <a:lnTo>
                  <a:pt x="294226" y="588452"/>
                </a:lnTo>
                <a:cubicBezTo>
                  <a:pt x="131838" y="588452"/>
                  <a:pt x="0" y="456614"/>
                  <a:pt x="0" y="294226"/>
                </a:cubicBezTo>
                <a:lnTo>
                  <a:pt x="0" y="294226"/>
                </a:lnTo>
                <a:cubicBezTo>
                  <a:pt x="0" y="131838"/>
                  <a:pt x="131838" y="0"/>
                  <a:pt x="294226" y="0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15" name="Shape 13"/>
          <p:cNvSpPr/>
          <p:nvPr/>
        </p:nvSpPr>
        <p:spPr>
          <a:xfrm>
            <a:off x="3639725" y="2095994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110335" y="220670"/>
                </a:moveTo>
                <a:cubicBezTo>
                  <a:pt x="171230" y="220670"/>
                  <a:pt x="220670" y="171230"/>
                  <a:pt x="220670" y="110335"/>
                </a:cubicBezTo>
                <a:cubicBezTo>
                  <a:pt x="220670" y="49439"/>
                  <a:pt x="171230" y="0"/>
                  <a:pt x="110335" y="0"/>
                </a:cubicBezTo>
                <a:cubicBezTo>
                  <a:pt x="49439" y="0"/>
                  <a:pt x="0" y="49439"/>
                  <a:pt x="0" y="110335"/>
                </a:cubicBezTo>
                <a:cubicBezTo>
                  <a:pt x="0" y="171230"/>
                  <a:pt x="49439" y="220670"/>
                  <a:pt x="110335" y="220670"/>
                </a:cubicBezTo>
                <a:close/>
                <a:moveTo>
                  <a:pt x="110335" y="58615"/>
                </a:moveTo>
                <a:cubicBezTo>
                  <a:pt x="116067" y="58615"/>
                  <a:pt x="120679" y="63227"/>
                  <a:pt x="120679" y="68959"/>
                </a:cubicBezTo>
                <a:lnTo>
                  <a:pt x="120679" y="117231"/>
                </a:lnTo>
                <a:cubicBezTo>
                  <a:pt x="120679" y="122963"/>
                  <a:pt x="116067" y="127575"/>
                  <a:pt x="110335" y="127575"/>
                </a:cubicBezTo>
                <a:cubicBezTo>
                  <a:pt x="104603" y="127575"/>
                  <a:pt x="99991" y="122963"/>
                  <a:pt x="99991" y="117231"/>
                </a:cubicBezTo>
                <a:lnTo>
                  <a:pt x="99991" y="68959"/>
                </a:lnTo>
                <a:cubicBezTo>
                  <a:pt x="99991" y="63227"/>
                  <a:pt x="104603" y="58615"/>
                  <a:pt x="110335" y="58615"/>
                </a:cubicBezTo>
                <a:close/>
                <a:moveTo>
                  <a:pt x="98827" y="151710"/>
                </a:moveTo>
                <a:cubicBezTo>
                  <a:pt x="98565" y="147439"/>
                  <a:pt x="100696" y="143375"/>
                  <a:pt x="104357" y="141160"/>
                </a:cubicBezTo>
                <a:cubicBezTo>
                  <a:pt x="108019" y="138945"/>
                  <a:pt x="112607" y="138945"/>
                  <a:pt x="116269" y="141160"/>
                </a:cubicBezTo>
                <a:cubicBezTo>
                  <a:pt x="119931" y="143375"/>
                  <a:pt x="122061" y="147439"/>
                  <a:pt x="121799" y="151710"/>
                </a:cubicBezTo>
                <a:cubicBezTo>
                  <a:pt x="122061" y="155982"/>
                  <a:pt x="119931" y="160046"/>
                  <a:pt x="116269" y="162261"/>
                </a:cubicBezTo>
                <a:cubicBezTo>
                  <a:pt x="112607" y="164476"/>
                  <a:pt x="108019" y="164476"/>
                  <a:pt x="104357" y="162261"/>
                </a:cubicBezTo>
                <a:cubicBezTo>
                  <a:pt x="100696" y="160046"/>
                  <a:pt x="98565" y="155982"/>
                  <a:pt x="98827" y="151710"/>
                </a:cubicBezTo>
                <a:close/>
              </a:path>
            </a:pathLst>
          </a:custGeom>
          <a:solidFill>
            <a:srgbClr val="F4F7F6"/>
          </a:solidFill>
        </p:spPr>
      </p:sp>
      <p:sp>
        <p:nvSpPr>
          <p:cNvPr id="16" name="Text 14"/>
          <p:cNvSpPr/>
          <p:nvPr/>
        </p:nvSpPr>
        <p:spPr>
          <a:xfrm>
            <a:off x="2834115" y="2610872"/>
            <a:ext cx="1829719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早疫病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43309" y="2941782"/>
            <a:ext cx="1811330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早期病害精准识别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14306" y="1765084"/>
            <a:ext cx="2032000" cy="1544688"/>
          </a:xfrm>
          <a:custGeom>
            <a:avLst/>
            <a:gdLst/>
            <a:ahLst/>
            <a:cxnLst/>
            <a:rect l="l" t="t" r="r" b="b"/>
            <a:pathLst>
              <a:path w="2032000" h="1544688">
                <a:moveTo>
                  <a:pt x="110337" y="0"/>
                </a:moveTo>
                <a:lnTo>
                  <a:pt x="1921663" y="0"/>
                </a:lnTo>
                <a:cubicBezTo>
                  <a:pt x="1982600" y="0"/>
                  <a:pt x="2032000" y="49400"/>
                  <a:pt x="2032000" y="110337"/>
                </a:cubicBezTo>
                <a:lnTo>
                  <a:pt x="2032000" y="1434351"/>
                </a:lnTo>
                <a:cubicBezTo>
                  <a:pt x="2032000" y="1495288"/>
                  <a:pt x="1982600" y="1544688"/>
                  <a:pt x="1921663" y="1544688"/>
                </a:cubicBezTo>
                <a:lnTo>
                  <a:pt x="110337" y="1544688"/>
                </a:lnTo>
                <a:cubicBezTo>
                  <a:pt x="49400" y="1544688"/>
                  <a:pt x="0" y="1495288"/>
                  <a:pt x="0" y="1434351"/>
                </a:cubicBezTo>
                <a:lnTo>
                  <a:pt x="0" y="110337"/>
                </a:lnTo>
                <a:cubicBezTo>
                  <a:pt x="0" y="49440"/>
                  <a:pt x="49440" y="0"/>
                  <a:pt x="110337" y="0"/>
                </a:cubicBezTo>
                <a:close/>
              </a:path>
            </a:pathLst>
          </a:custGeom>
          <a:solidFill>
            <a:srgbClr val="D4A056">
              <a:alpha val="5098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5637261" y="1912183"/>
            <a:ext cx="588452" cy="588452"/>
          </a:xfrm>
          <a:custGeom>
            <a:avLst/>
            <a:gdLst/>
            <a:ahLst/>
            <a:cxnLst/>
            <a:rect l="l" t="t" r="r" b="b"/>
            <a:pathLst>
              <a:path w="588452" h="588452">
                <a:moveTo>
                  <a:pt x="294226" y="0"/>
                </a:moveTo>
                <a:lnTo>
                  <a:pt x="294226" y="0"/>
                </a:lnTo>
                <a:cubicBezTo>
                  <a:pt x="456614" y="0"/>
                  <a:pt x="588452" y="131838"/>
                  <a:pt x="588452" y="294226"/>
                </a:cubicBezTo>
                <a:lnTo>
                  <a:pt x="588452" y="294226"/>
                </a:lnTo>
                <a:cubicBezTo>
                  <a:pt x="588452" y="456614"/>
                  <a:pt x="456614" y="588452"/>
                  <a:pt x="294226" y="588452"/>
                </a:cubicBezTo>
                <a:lnTo>
                  <a:pt x="294226" y="588452"/>
                </a:lnTo>
                <a:cubicBezTo>
                  <a:pt x="131838" y="588452"/>
                  <a:pt x="0" y="456614"/>
                  <a:pt x="0" y="294226"/>
                </a:cubicBezTo>
                <a:lnTo>
                  <a:pt x="0" y="294226"/>
                </a:lnTo>
                <a:cubicBezTo>
                  <a:pt x="0" y="131838"/>
                  <a:pt x="131838" y="0"/>
                  <a:pt x="294226" y="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0" name="Shape 18"/>
          <p:cNvSpPr/>
          <p:nvPr/>
        </p:nvSpPr>
        <p:spPr>
          <a:xfrm>
            <a:off x="5821121" y="2095994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127575" y="17240"/>
                </a:moveTo>
                <a:cubicBezTo>
                  <a:pt x="127575" y="7715"/>
                  <a:pt x="119860" y="0"/>
                  <a:pt x="110335" y="0"/>
                </a:cubicBezTo>
                <a:cubicBezTo>
                  <a:pt x="100810" y="0"/>
                  <a:pt x="93095" y="7715"/>
                  <a:pt x="93095" y="17240"/>
                </a:cubicBezTo>
                <a:cubicBezTo>
                  <a:pt x="93095" y="36247"/>
                  <a:pt x="70123" y="45729"/>
                  <a:pt x="56676" y="32325"/>
                </a:cubicBezTo>
                <a:cubicBezTo>
                  <a:pt x="49952" y="25601"/>
                  <a:pt x="39048" y="25601"/>
                  <a:pt x="32282" y="32325"/>
                </a:cubicBezTo>
                <a:cubicBezTo>
                  <a:pt x="25515" y="39048"/>
                  <a:pt x="25558" y="49952"/>
                  <a:pt x="32282" y="56719"/>
                </a:cubicBezTo>
                <a:cubicBezTo>
                  <a:pt x="45729" y="70166"/>
                  <a:pt x="36204" y="93138"/>
                  <a:pt x="17197" y="93138"/>
                </a:cubicBezTo>
                <a:cubicBezTo>
                  <a:pt x="7672" y="93138"/>
                  <a:pt x="-43" y="100853"/>
                  <a:pt x="-43" y="110378"/>
                </a:cubicBezTo>
                <a:cubicBezTo>
                  <a:pt x="-43" y="119903"/>
                  <a:pt x="7672" y="127618"/>
                  <a:pt x="17197" y="127618"/>
                </a:cubicBezTo>
                <a:cubicBezTo>
                  <a:pt x="36204" y="127618"/>
                  <a:pt x="45686" y="150590"/>
                  <a:pt x="32282" y="164037"/>
                </a:cubicBezTo>
                <a:cubicBezTo>
                  <a:pt x="25558" y="170760"/>
                  <a:pt x="25558" y="181665"/>
                  <a:pt x="32282" y="188431"/>
                </a:cubicBezTo>
                <a:cubicBezTo>
                  <a:pt x="39005" y="195198"/>
                  <a:pt x="49909" y="195155"/>
                  <a:pt x="56676" y="188431"/>
                </a:cubicBezTo>
                <a:cubicBezTo>
                  <a:pt x="70123" y="174984"/>
                  <a:pt x="93095" y="184509"/>
                  <a:pt x="93095" y="203516"/>
                </a:cubicBezTo>
                <a:cubicBezTo>
                  <a:pt x="93095" y="213041"/>
                  <a:pt x="100810" y="220756"/>
                  <a:pt x="110335" y="220756"/>
                </a:cubicBezTo>
                <a:cubicBezTo>
                  <a:pt x="119860" y="220756"/>
                  <a:pt x="127575" y="213041"/>
                  <a:pt x="127575" y="203516"/>
                </a:cubicBezTo>
                <a:cubicBezTo>
                  <a:pt x="127575" y="184509"/>
                  <a:pt x="150547" y="175027"/>
                  <a:pt x="163994" y="188431"/>
                </a:cubicBezTo>
                <a:cubicBezTo>
                  <a:pt x="170717" y="195155"/>
                  <a:pt x="181621" y="195155"/>
                  <a:pt x="188388" y="188431"/>
                </a:cubicBezTo>
                <a:cubicBezTo>
                  <a:pt x="195155" y="181708"/>
                  <a:pt x="195112" y="170804"/>
                  <a:pt x="188388" y="164037"/>
                </a:cubicBezTo>
                <a:cubicBezTo>
                  <a:pt x="174941" y="150590"/>
                  <a:pt x="184466" y="127618"/>
                  <a:pt x="203473" y="127618"/>
                </a:cubicBezTo>
                <a:cubicBezTo>
                  <a:pt x="212998" y="127618"/>
                  <a:pt x="220713" y="119903"/>
                  <a:pt x="220713" y="110378"/>
                </a:cubicBezTo>
                <a:cubicBezTo>
                  <a:pt x="220713" y="100853"/>
                  <a:pt x="212998" y="93138"/>
                  <a:pt x="203473" y="93138"/>
                </a:cubicBezTo>
                <a:cubicBezTo>
                  <a:pt x="184466" y="93138"/>
                  <a:pt x="174984" y="70166"/>
                  <a:pt x="188388" y="56719"/>
                </a:cubicBezTo>
                <a:cubicBezTo>
                  <a:pt x="195112" y="49995"/>
                  <a:pt x="195112" y="39091"/>
                  <a:pt x="188388" y="32325"/>
                </a:cubicBezTo>
                <a:cubicBezTo>
                  <a:pt x="181665" y="25558"/>
                  <a:pt x="170760" y="25601"/>
                  <a:pt x="163994" y="32325"/>
                </a:cubicBezTo>
                <a:cubicBezTo>
                  <a:pt x="150547" y="45729"/>
                  <a:pt x="127575" y="36247"/>
                  <a:pt x="127575" y="17240"/>
                </a:cubicBezTo>
                <a:close/>
                <a:moveTo>
                  <a:pt x="68959" y="96543"/>
                </a:moveTo>
                <a:cubicBezTo>
                  <a:pt x="68959" y="88931"/>
                  <a:pt x="75139" y="82751"/>
                  <a:pt x="82751" y="82751"/>
                </a:cubicBezTo>
                <a:cubicBezTo>
                  <a:pt x="90363" y="82751"/>
                  <a:pt x="96543" y="88931"/>
                  <a:pt x="96543" y="96543"/>
                </a:cubicBezTo>
                <a:cubicBezTo>
                  <a:pt x="96543" y="104155"/>
                  <a:pt x="90363" y="110335"/>
                  <a:pt x="82751" y="110335"/>
                </a:cubicBezTo>
                <a:cubicBezTo>
                  <a:pt x="75139" y="110335"/>
                  <a:pt x="68959" y="104155"/>
                  <a:pt x="68959" y="96543"/>
                </a:cubicBezTo>
                <a:close/>
                <a:moveTo>
                  <a:pt x="137919" y="110335"/>
                </a:moveTo>
                <a:cubicBezTo>
                  <a:pt x="145530" y="110335"/>
                  <a:pt x="151710" y="116515"/>
                  <a:pt x="151710" y="124127"/>
                </a:cubicBezTo>
                <a:cubicBezTo>
                  <a:pt x="151710" y="131739"/>
                  <a:pt x="145530" y="137919"/>
                  <a:pt x="137919" y="137919"/>
                </a:cubicBezTo>
                <a:cubicBezTo>
                  <a:pt x="130307" y="137919"/>
                  <a:pt x="124127" y="131739"/>
                  <a:pt x="124127" y="124127"/>
                </a:cubicBezTo>
                <a:cubicBezTo>
                  <a:pt x="124127" y="116515"/>
                  <a:pt x="130307" y="110335"/>
                  <a:pt x="137919" y="110335"/>
                </a:cubicBezTo>
                <a:close/>
              </a:path>
            </a:pathLst>
          </a:custGeom>
          <a:solidFill>
            <a:srgbClr val="1E2D2B"/>
          </a:solidFill>
        </p:spPr>
      </p:sp>
      <p:sp>
        <p:nvSpPr>
          <p:cNvPr id="21" name="Text 19"/>
          <p:cNvSpPr/>
          <p:nvPr/>
        </p:nvSpPr>
        <p:spPr>
          <a:xfrm>
            <a:off x="5015431" y="2610872"/>
            <a:ext cx="1829719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晚疫病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4625" y="2941782"/>
            <a:ext cx="1811330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严重病害快速检测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7783" y="3640475"/>
            <a:ext cx="6767204" cy="3218100"/>
          </a:xfrm>
          <a:custGeom>
            <a:avLst/>
            <a:gdLst/>
            <a:ahLst/>
            <a:cxnLst/>
            <a:rect l="l" t="t" r="r" b="b"/>
            <a:pathLst>
              <a:path w="6767204" h="3218100">
                <a:moveTo>
                  <a:pt x="110349" y="0"/>
                </a:moveTo>
                <a:lnTo>
                  <a:pt x="6656855" y="0"/>
                </a:lnTo>
                <a:cubicBezTo>
                  <a:pt x="6717799" y="0"/>
                  <a:pt x="6767204" y="49405"/>
                  <a:pt x="6767204" y="110349"/>
                </a:cubicBezTo>
                <a:lnTo>
                  <a:pt x="6767204" y="3107751"/>
                </a:lnTo>
                <a:cubicBezTo>
                  <a:pt x="6767204" y="3168695"/>
                  <a:pt x="6717799" y="3218100"/>
                  <a:pt x="6656855" y="3218100"/>
                </a:cubicBezTo>
                <a:lnTo>
                  <a:pt x="110349" y="3218100"/>
                </a:lnTo>
                <a:cubicBezTo>
                  <a:pt x="49405" y="3218100"/>
                  <a:pt x="0" y="3168695"/>
                  <a:pt x="0" y="3107751"/>
                </a:cubicBezTo>
                <a:lnTo>
                  <a:pt x="0" y="110349"/>
                </a:lnTo>
                <a:cubicBezTo>
                  <a:pt x="0" y="49405"/>
                  <a:pt x="49405" y="0"/>
                  <a:pt x="11034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5167" dist="367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1674" y="3824367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73558" y="0"/>
                </a:moveTo>
                <a:lnTo>
                  <a:pt x="367781" y="0"/>
                </a:lnTo>
                <a:cubicBezTo>
                  <a:pt x="408406" y="0"/>
                  <a:pt x="441339" y="32933"/>
                  <a:pt x="441339" y="73558"/>
                </a:cubicBezTo>
                <a:lnTo>
                  <a:pt x="441339" y="367781"/>
                </a:lnTo>
                <a:cubicBezTo>
                  <a:pt x="441339" y="408406"/>
                  <a:pt x="408406" y="441339"/>
                  <a:pt x="367781" y="441339"/>
                </a:cubicBezTo>
                <a:lnTo>
                  <a:pt x="73558" y="441339"/>
                </a:lnTo>
                <a:cubicBezTo>
                  <a:pt x="32933" y="441339"/>
                  <a:pt x="0" y="408406"/>
                  <a:pt x="0" y="367781"/>
                </a:cubicBezTo>
                <a:lnTo>
                  <a:pt x="0" y="73558"/>
                </a:lnTo>
                <a:cubicBezTo>
                  <a:pt x="0" y="32960"/>
                  <a:pt x="32960" y="0"/>
                  <a:pt x="73558" y="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5" name="Shape 23"/>
          <p:cNvSpPr/>
          <p:nvPr/>
        </p:nvSpPr>
        <p:spPr>
          <a:xfrm>
            <a:off x="680334" y="3953023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11493" y="11493"/>
                </a:moveTo>
                <a:cubicBezTo>
                  <a:pt x="17850" y="11493"/>
                  <a:pt x="22986" y="16629"/>
                  <a:pt x="22986" y="22986"/>
                </a:cubicBezTo>
                <a:lnTo>
                  <a:pt x="22986" y="143665"/>
                </a:lnTo>
                <a:cubicBezTo>
                  <a:pt x="22986" y="146826"/>
                  <a:pt x="25572" y="149412"/>
                  <a:pt x="28733" y="149412"/>
                </a:cubicBezTo>
                <a:lnTo>
                  <a:pt x="172398" y="149412"/>
                </a:lnTo>
                <a:cubicBezTo>
                  <a:pt x="178755" y="149412"/>
                  <a:pt x="183891" y="154548"/>
                  <a:pt x="183891" y="160905"/>
                </a:cubicBezTo>
                <a:cubicBezTo>
                  <a:pt x="183891" y="167262"/>
                  <a:pt x="178755" y="172398"/>
                  <a:pt x="172398" y="172398"/>
                </a:cubicBezTo>
                <a:lnTo>
                  <a:pt x="28733" y="172398"/>
                </a:lnTo>
                <a:cubicBezTo>
                  <a:pt x="12858" y="172398"/>
                  <a:pt x="0" y="159540"/>
                  <a:pt x="0" y="143665"/>
                </a:cubicBezTo>
                <a:lnTo>
                  <a:pt x="0" y="22986"/>
                </a:lnTo>
                <a:cubicBezTo>
                  <a:pt x="0" y="16629"/>
                  <a:pt x="5136" y="11493"/>
                  <a:pt x="11493" y="11493"/>
                </a:cubicBezTo>
                <a:close/>
                <a:moveTo>
                  <a:pt x="45973" y="34480"/>
                </a:moveTo>
                <a:cubicBezTo>
                  <a:pt x="45973" y="28122"/>
                  <a:pt x="51109" y="22986"/>
                  <a:pt x="57466" y="22986"/>
                </a:cubicBezTo>
                <a:lnTo>
                  <a:pt x="126425" y="22986"/>
                </a:lnTo>
                <a:cubicBezTo>
                  <a:pt x="132783" y="22986"/>
                  <a:pt x="137919" y="28122"/>
                  <a:pt x="137919" y="34480"/>
                </a:cubicBezTo>
                <a:cubicBezTo>
                  <a:pt x="137919" y="40837"/>
                  <a:pt x="132783" y="45973"/>
                  <a:pt x="126425" y="45973"/>
                </a:cubicBezTo>
                <a:lnTo>
                  <a:pt x="57466" y="45973"/>
                </a:lnTo>
                <a:cubicBezTo>
                  <a:pt x="51109" y="45973"/>
                  <a:pt x="45973" y="40837"/>
                  <a:pt x="45973" y="34480"/>
                </a:cubicBezTo>
                <a:close/>
                <a:moveTo>
                  <a:pt x="57466" y="63213"/>
                </a:moveTo>
                <a:lnTo>
                  <a:pt x="103439" y="63213"/>
                </a:lnTo>
                <a:cubicBezTo>
                  <a:pt x="109796" y="63213"/>
                  <a:pt x="114932" y="68349"/>
                  <a:pt x="114932" y="74706"/>
                </a:cubicBezTo>
                <a:cubicBezTo>
                  <a:pt x="114932" y="81063"/>
                  <a:pt x="109796" y="86199"/>
                  <a:pt x="103439" y="86199"/>
                </a:cubicBezTo>
                <a:lnTo>
                  <a:pt x="57466" y="86199"/>
                </a:lnTo>
                <a:cubicBezTo>
                  <a:pt x="51109" y="86199"/>
                  <a:pt x="45973" y="81063"/>
                  <a:pt x="45973" y="74706"/>
                </a:cubicBezTo>
                <a:cubicBezTo>
                  <a:pt x="45973" y="68349"/>
                  <a:pt x="51109" y="63213"/>
                  <a:pt x="57466" y="63213"/>
                </a:cubicBezTo>
                <a:close/>
                <a:moveTo>
                  <a:pt x="57466" y="103439"/>
                </a:moveTo>
                <a:lnTo>
                  <a:pt x="149412" y="103439"/>
                </a:lnTo>
                <a:cubicBezTo>
                  <a:pt x="155769" y="103439"/>
                  <a:pt x="160905" y="108575"/>
                  <a:pt x="160905" y="114932"/>
                </a:cubicBezTo>
                <a:cubicBezTo>
                  <a:pt x="160905" y="121289"/>
                  <a:pt x="155769" y="126425"/>
                  <a:pt x="149412" y="126425"/>
                </a:cubicBezTo>
                <a:lnTo>
                  <a:pt x="57466" y="126425"/>
                </a:lnTo>
                <a:cubicBezTo>
                  <a:pt x="51109" y="126425"/>
                  <a:pt x="45973" y="121289"/>
                  <a:pt x="45973" y="114932"/>
                </a:cubicBezTo>
                <a:cubicBezTo>
                  <a:pt x="45973" y="108575"/>
                  <a:pt x="51109" y="103439"/>
                  <a:pt x="57466" y="103439"/>
                </a:cubicBezTo>
                <a:close/>
              </a:path>
            </a:pathLst>
          </a:custGeom>
          <a:solidFill>
            <a:srgbClr val="1E2D2B"/>
          </a:solidFill>
        </p:spPr>
      </p:sp>
      <p:sp>
        <p:nvSpPr>
          <p:cNvPr id="26" name="Text 24"/>
          <p:cNvSpPr/>
          <p:nvPr/>
        </p:nvSpPr>
        <p:spPr>
          <a:xfrm>
            <a:off x="1103269" y="3897874"/>
            <a:ext cx="1875692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严重程度量化评估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1674" y="4412756"/>
            <a:ext cx="6472977" cy="239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系统不仅识别病害类型，还能对病害严重程度进行量化评估，为防控决策提供科学依据。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9336" y="4806478"/>
            <a:ext cx="2047324" cy="750890"/>
          </a:xfrm>
          <a:custGeom>
            <a:avLst/>
            <a:gdLst/>
            <a:ahLst/>
            <a:cxnLst/>
            <a:rect l="l" t="t" r="r" b="b"/>
            <a:pathLst>
              <a:path w="2047324" h="750890">
                <a:moveTo>
                  <a:pt x="73557" y="0"/>
                </a:moveTo>
                <a:lnTo>
                  <a:pt x="1973767" y="0"/>
                </a:lnTo>
                <a:cubicBezTo>
                  <a:pt x="2014392" y="0"/>
                  <a:pt x="2047324" y="32933"/>
                  <a:pt x="2047324" y="73557"/>
                </a:cubicBezTo>
                <a:lnTo>
                  <a:pt x="2047324" y="677333"/>
                </a:lnTo>
                <a:cubicBezTo>
                  <a:pt x="2047324" y="717957"/>
                  <a:pt x="2014392" y="750890"/>
                  <a:pt x="1973767" y="750890"/>
                </a:cubicBezTo>
                <a:lnTo>
                  <a:pt x="73557" y="750890"/>
                </a:lnTo>
                <a:cubicBezTo>
                  <a:pt x="32933" y="750890"/>
                  <a:pt x="0" y="717957"/>
                  <a:pt x="0" y="677333"/>
                </a:cubicBezTo>
                <a:lnTo>
                  <a:pt x="0" y="73557"/>
                </a:lnTo>
                <a:cubicBezTo>
                  <a:pt x="0" y="32960"/>
                  <a:pt x="32960" y="0"/>
                  <a:pt x="7355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1167">
            <a:solidFill>
              <a:srgbClr val="2A57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2134" y="4924442"/>
            <a:ext cx="1921665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轻度感染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5120" y="5255352"/>
            <a:ext cx="1875692" cy="1838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5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叶片病斑面积 &lt; 10%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728361" y="4806478"/>
            <a:ext cx="2047324" cy="750890"/>
          </a:xfrm>
          <a:custGeom>
            <a:avLst/>
            <a:gdLst/>
            <a:ahLst/>
            <a:cxnLst/>
            <a:rect l="l" t="t" r="r" b="b"/>
            <a:pathLst>
              <a:path w="2047324" h="750890">
                <a:moveTo>
                  <a:pt x="73557" y="0"/>
                </a:moveTo>
                <a:lnTo>
                  <a:pt x="1973767" y="0"/>
                </a:lnTo>
                <a:cubicBezTo>
                  <a:pt x="2014392" y="0"/>
                  <a:pt x="2047324" y="32933"/>
                  <a:pt x="2047324" y="73557"/>
                </a:cubicBezTo>
                <a:lnTo>
                  <a:pt x="2047324" y="677333"/>
                </a:lnTo>
                <a:cubicBezTo>
                  <a:pt x="2047324" y="717957"/>
                  <a:pt x="2014392" y="750890"/>
                  <a:pt x="1973767" y="750890"/>
                </a:cubicBezTo>
                <a:lnTo>
                  <a:pt x="73557" y="750890"/>
                </a:lnTo>
                <a:cubicBezTo>
                  <a:pt x="32933" y="750890"/>
                  <a:pt x="0" y="717957"/>
                  <a:pt x="0" y="677333"/>
                </a:cubicBezTo>
                <a:lnTo>
                  <a:pt x="0" y="73557"/>
                </a:lnTo>
                <a:cubicBezTo>
                  <a:pt x="0" y="32960"/>
                  <a:pt x="32960" y="0"/>
                  <a:pt x="7355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1167">
            <a:solidFill>
              <a:srgbClr val="8AA39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91159" y="4924442"/>
            <a:ext cx="1921665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0" b="1" dirty="0">
                <a:solidFill>
                  <a:srgbClr val="8AA39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中度感染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814145" y="5255352"/>
            <a:ext cx="1875692" cy="1838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5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叶片病斑面积 10-30%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897466" y="4806478"/>
            <a:ext cx="2047324" cy="750890"/>
          </a:xfrm>
          <a:custGeom>
            <a:avLst/>
            <a:gdLst/>
            <a:ahLst/>
            <a:cxnLst/>
            <a:rect l="l" t="t" r="r" b="b"/>
            <a:pathLst>
              <a:path w="2047324" h="750890">
                <a:moveTo>
                  <a:pt x="73557" y="0"/>
                </a:moveTo>
                <a:lnTo>
                  <a:pt x="1973767" y="0"/>
                </a:lnTo>
                <a:cubicBezTo>
                  <a:pt x="2014392" y="0"/>
                  <a:pt x="2047324" y="32933"/>
                  <a:pt x="2047324" y="73557"/>
                </a:cubicBezTo>
                <a:lnTo>
                  <a:pt x="2047324" y="677333"/>
                </a:lnTo>
                <a:cubicBezTo>
                  <a:pt x="2047324" y="717957"/>
                  <a:pt x="2014392" y="750890"/>
                  <a:pt x="1973767" y="750890"/>
                </a:cubicBezTo>
                <a:lnTo>
                  <a:pt x="73557" y="750890"/>
                </a:lnTo>
                <a:cubicBezTo>
                  <a:pt x="32933" y="750890"/>
                  <a:pt x="0" y="717957"/>
                  <a:pt x="0" y="677333"/>
                </a:cubicBezTo>
                <a:lnTo>
                  <a:pt x="0" y="73557"/>
                </a:lnTo>
                <a:cubicBezTo>
                  <a:pt x="0" y="32960"/>
                  <a:pt x="32960" y="0"/>
                  <a:pt x="7355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1167">
            <a:solidFill>
              <a:srgbClr val="D4A0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60264" y="4924442"/>
            <a:ext cx="1921665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0" b="1" dirty="0">
                <a:solidFill>
                  <a:srgbClr val="D4A05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重度感染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983250" y="5255352"/>
            <a:ext cx="1875692" cy="1838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5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叶片病斑面积 &gt; 30%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16388" y="992803"/>
            <a:ext cx="4505339" cy="2473339"/>
          </a:xfrm>
          <a:custGeom>
            <a:avLst/>
            <a:gdLst/>
            <a:ahLst/>
            <a:cxnLst/>
            <a:rect l="l" t="t" r="r" b="b"/>
            <a:pathLst>
              <a:path w="4505339" h="2473339">
                <a:moveTo>
                  <a:pt x="110336" y="0"/>
                </a:moveTo>
                <a:lnTo>
                  <a:pt x="4395004" y="0"/>
                </a:lnTo>
                <a:cubicBezTo>
                  <a:pt x="4455940" y="0"/>
                  <a:pt x="4505339" y="49399"/>
                  <a:pt x="4505339" y="110336"/>
                </a:cubicBezTo>
                <a:lnTo>
                  <a:pt x="4505339" y="2363004"/>
                </a:lnTo>
                <a:cubicBezTo>
                  <a:pt x="4505339" y="2423940"/>
                  <a:pt x="4455940" y="2473339"/>
                  <a:pt x="4395004" y="2473339"/>
                </a:cubicBezTo>
                <a:lnTo>
                  <a:pt x="110336" y="2473339"/>
                </a:lnTo>
                <a:cubicBezTo>
                  <a:pt x="49399" y="2473339"/>
                  <a:pt x="0" y="2423940"/>
                  <a:pt x="0" y="2363004"/>
                </a:cubicBezTo>
                <a:lnTo>
                  <a:pt x="0" y="110336"/>
                </a:lnTo>
                <a:cubicBezTo>
                  <a:pt x="0" y="49440"/>
                  <a:pt x="49440" y="0"/>
                  <a:pt x="110336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38" name="Shape 36"/>
          <p:cNvSpPr/>
          <p:nvPr/>
        </p:nvSpPr>
        <p:spPr>
          <a:xfrm>
            <a:off x="7527863" y="1213409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0" y="110335"/>
                </a:moveTo>
                <a:cubicBezTo>
                  <a:pt x="0" y="49439"/>
                  <a:pt x="49439" y="0"/>
                  <a:pt x="110335" y="0"/>
                </a:cubicBezTo>
                <a:cubicBezTo>
                  <a:pt x="171230" y="0"/>
                  <a:pt x="220670" y="49439"/>
                  <a:pt x="220670" y="110335"/>
                </a:cubicBezTo>
                <a:cubicBezTo>
                  <a:pt x="220670" y="171230"/>
                  <a:pt x="171230" y="220670"/>
                  <a:pt x="110335" y="220670"/>
                </a:cubicBezTo>
                <a:cubicBezTo>
                  <a:pt x="49439" y="220670"/>
                  <a:pt x="0" y="171230"/>
                  <a:pt x="0" y="110335"/>
                </a:cubicBezTo>
                <a:close/>
                <a:moveTo>
                  <a:pt x="124127" y="41376"/>
                </a:moveTo>
                <a:cubicBezTo>
                  <a:pt x="124127" y="33764"/>
                  <a:pt x="117947" y="27584"/>
                  <a:pt x="110335" y="27584"/>
                </a:cubicBezTo>
                <a:cubicBezTo>
                  <a:pt x="102723" y="27584"/>
                  <a:pt x="96543" y="33764"/>
                  <a:pt x="96543" y="41376"/>
                </a:cubicBezTo>
                <a:cubicBezTo>
                  <a:pt x="96543" y="48987"/>
                  <a:pt x="102723" y="55167"/>
                  <a:pt x="110335" y="55167"/>
                </a:cubicBezTo>
                <a:cubicBezTo>
                  <a:pt x="117947" y="55167"/>
                  <a:pt x="124127" y="48987"/>
                  <a:pt x="124127" y="41376"/>
                </a:cubicBezTo>
                <a:close/>
                <a:moveTo>
                  <a:pt x="110335" y="179294"/>
                </a:moveTo>
                <a:cubicBezTo>
                  <a:pt x="125549" y="179294"/>
                  <a:pt x="137919" y="166925"/>
                  <a:pt x="137919" y="151710"/>
                </a:cubicBezTo>
                <a:cubicBezTo>
                  <a:pt x="137919" y="144728"/>
                  <a:pt x="135333" y="138306"/>
                  <a:pt x="131023" y="133479"/>
                </a:cubicBezTo>
                <a:lnTo>
                  <a:pt x="160977" y="73614"/>
                </a:lnTo>
                <a:cubicBezTo>
                  <a:pt x="163520" y="68485"/>
                  <a:pt x="161451" y="62279"/>
                  <a:pt x="156365" y="59736"/>
                </a:cubicBezTo>
                <a:cubicBezTo>
                  <a:pt x="151279" y="57193"/>
                  <a:pt x="145030" y="59262"/>
                  <a:pt x="142487" y="64348"/>
                </a:cubicBezTo>
                <a:lnTo>
                  <a:pt x="112533" y="124213"/>
                </a:lnTo>
                <a:cubicBezTo>
                  <a:pt x="111800" y="124170"/>
                  <a:pt x="111068" y="124127"/>
                  <a:pt x="110335" y="124127"/>
                </a:cubicBezTo>
                <a:cubicBezTo>
                  <a:pt x="95121" y="124127"/>
                  <a:pt x="82751" y="136496"/>
                  <a:pt x="82751" y="151710"/>
                </a:cubicBezTo>
                <a:cubicBezTo>
                  <a:pt x="82751" y="166925"/>
                  <a:pt x="95121" y="179294"/>
                  <a:pt x="110335" y="179294"/>
                </a:cubicBezTo>
                <a:close/>
                <a:moveTo>
                  <a:pt x="75855" y="62063"/>
                </a:moveTo>
                <a:cubicBezTo>
                  <a:pt x="75855" y="54451"/>
                  <a:pt x="69675" y="48271"/>
                  <a:pt x="62063" y="48271"/>
                </a:cubicBezTo>
                <a:cubicBezTo>
                  <a:pt x="54451" y="48271"/>
                  <a:pt x="48271" y="54451"/>
                  <a:pt x="48271" y="62063"/>
                </a:cubicBezTo>
                <a:cubicBezTo>
                  <a:pt x="48271" y="69675"/>
                  <a:pt x="54451" y="75855"/>
                  <a:pt x="62063" y="75855"/>
                </a:cubicBezTo>
                <a:cubicBezTo>
                  <a:pt x="69675" y="75855"/>
                  <a:pt x="75855" y="69675"/>
                  <a:pt x="75855" y="62063"/>
                </a:cubicBezTo>
                <a:close/>
                <a:moveTo>
                  <a:pt x="41376" y="124127"/>
                </a:moveTo>
                <a:cubicBezTo>
                  <a:pt x="48987" y="124127"/>
                  <a:pt x="55167" y="117947"/>
                  <a:pt x="55167" y="110335"/>
                </a:cubicBezTo>
                <a:cubicBezTo>
                  <a:pt x="55167" y="102723"/>
                  <a:pt x="48987" y="96543"/>
                  <a:pt x="41376" y="96543"/>
                </a:cubicBezTo>
                <a:cubicBezTo>
                  <a:pt x="33764" y="96543"/>
                  <a:pt x="27584" y="102723"/>
                  <a:pt x="27584" y="110335"/>
                </a:cubicBezTo>
                <a:cubicBezTo>
                  <a:pt x="27584" y="117947"/>
                  <a:pt x="33764" y="124127"/>
                  <a:pt x="41376" y="124127"/>
                </a:cubicBezTo>
                <a:close/>
                <a:moveTo>
                  <a:pt x="193086" y="110335"/>
                </a:moveTo>
                <a:cubicBezTo>
                  <a:pt x="193086" y="102723"/>
                  <a:pt x="186906" y="96543"/>
                  <a:pt x="179294" y="96543"/>
                </a:cubicBezTo>
                <a:cubicBezTo>
                  <a:pt x="171682" y="96543"/>
                  <a:pt x="165502" y="102723"/>
                  <a:pt x="165502" y="110335"/>
                </a:cubicBezTo>
                <a:cubicBezTo>
                  <a:pt x="165502" y="117947"/>
                  <a:pt x="171682" y="124127"/>
                  <a:pt x="179294" y="124127"/>
                </a:cubicBezTo>
                <a:cubicBezTo>
                  <a:pt x="186906" y="124127"/>
                  <a:pt x="193086" y="117947"/>
                  <a:pt x="193086" y="110335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39" name="Text 37"/>
          <p:cNvSpPr/>
          <p:nvPr/>
        </p:nvSpPr>
        <p:spPr>
          <a:xfrm>
            <a:off x="7886339" y="1176694"/>
            <a:ext cx="1434353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核心性能指标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00279" y="2098660"/>
            <a:ext cx="4137557" cy="5108"/>
          </a:xfrm>
          <a:custGeom>
            <a:avLst/>
            <a:gdLst/>
            <a:ahLst/>
            <a:cxnLst/>
            <a:rect l="l" t="t" r="r" b="b"/>
            <a:pathLst>
              <a:path w="4137557" h="5108">
                <a:moveTo>
                  <a:pt x="0" y="0"/>
                </a:moveTo>
                <a:lnTo>
                  <a:pt x="4137557" y="0"/>
                </a:lnTo>
                <a:lnTo>
                  <a:pt x="4137557" y="5108"/>
                </a:lnTo>
                <a:lnTo>
                  <a:pt x="0" y="5108"/>
                </a:lnTo>
                <a:lnTo>
                  <a:pt x="0" y="0"/>
                </a:lnTo>
                <a:close/>
              </a:path>
            </a:pathLst>
          </a:custGeom>
          <a:solidFill>
            <a:srgbClr val="F4F7F6">
              <a:alpha val="20000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7500279" y="1728211"/>
            <a:ext cx="910262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dirty="0">
                <a:solidFill>
                  <a:srgbClr val="F4F7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识别准确率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21266" y="1691496"/>
            <a:ext cx="855095" cy="331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70" b="1" dirty="0">
                <a:solidFill>
                  <a:srgbClr val="D4A05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≥95%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00279" y="2692078"/>
            <a:ext cx="4137557" cy="5108"/>
          </a:xfrm>
          <a:custGeom>
            <a:avLst/>
            <a:gdLst/>
            <a:ahLst/>
            <a:cxnLst/>
            <a:rect l="l" t="t" r="r" b="b"/>
            <a:pathLst>
              <a:path w="4137557" h="5108">
                <a:moveTo>
                  <a:pt x="0" y="0"/>
                </a:moveTo>
                <a:lnTo>
                  <a:pt x="4137557" y="0"/>
                </a:lnTo>
                <a:lnTo>
                  <a:pt x="4137557" y="5108"/>
                </a:lnTo>
                <a:lnTo>
                  <a:pt x="0" y="5108"/>
                </a:lnTo>
                <a:lnTo>
                  <a:pt x="0" y="0"/>
                </a:lnTo>
                <a:close/>
              </a:path>
            </a:pathLst>
          </a:custGeom>
          <a:solidFill>
            <a:srgbClr val="F4F7F6">
              <a:alpha val="2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7500279" y="2321629"/>
            <a:ext cx="744760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dirty="0">
                <a:solidFill>
                  <a:srgbClr val="F4F7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响应时间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187685" y="2284914"/>
            <a:ext cx="588452" cy="331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70" b="1" dirty="0">
                <a:solidFill>
                  <a:srgbClr val="D4A05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&lt;5s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500279" y="2915042"/>
            <a:ext cx="1075765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dirty="0">
                <a:solidFill>
                  <a:srgbClr val="F4F7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用户操作难度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814794" y="2878331"/>
            <a:ext cx="965430" cy="331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70" b="1" dirty="0">
                <a:solidFill>
                  <a:srgbClr val="D4A05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零门槛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316388" y="3613816"/>
            <a:ext cx="4505339" cy="3245683"/>
          </a:xfrm>
          <a:custGeom>
            <a:avLst/>
            <a:gdLst/>
            <a:ahLst/>
            <a:cxnLst/>
            <a:rect l="l" t="t" r="r" b="b"/>
            <a:pathLst>
              <a:path w="4505339" h="3245683">
                <a:moveTo>
                  <a:pt x="110321" y="0"/>
                </a:moveTo>
                <a:lnTo>
                  <a:pt x="4395019" y="0"/>
                </a:lnTo>
                <a:cubicBezTo>
                  <a:pt x="4455947" y="0"/>
                  <a:pt x="4505339" y="49392"/>
                  <a:pt x="4505339" y="110321"/>
                </a:cubicBezTo>
                <a:lnTo>
                  <a:pt x="4505339" y="3135362"/>
                </a:lnTo>
                <a:cubicBezTo>
                  <a:pt x="4505339" y="3196291"/>
                  <a:pt x="4455947" y="3245683"/>
                  <a:pt x="4395019" y="3245683"/>
                </a:cubicBezTo>
                <a:lnTo>
                  <a:pt x="110321" y="3245683"/>
                </a:lnTo>
                <a:cubicBezTo>
                  <a:pt x="49392" y="3245683"/>
                  <a:pt x="0" y="3196291"/>
                  <a:pt x="0" y="3135362"/>
                </a:cubicBezTo>
                <a:lnTo>
                  <a:pt x="0" y="110321"/>
                </a:lnTo>
                <a:cubicBezTo>
                  <a:pt x="0" y="49433"/>
                  <a:pt x="49433" y="0"/>
                  <a:pt x="11032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5167" dist="367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500279" y="3797708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73558" y="0"/>
                </a:moveTo>
                <a:lnTo>
                  <a:pt x="367781" y="0"/>
                </a:lnTo>
                <a:cubicBezTo>
                  <a:pt x="408406" y="0"/>
                  <a:pt x="441339" y="32933"/>
                  <a:pt x="441339" y="73558"/>
                </a:cubicBezTo>
                <a:lnTo>
                  <a:pt x="441339" y="367781"/>
                </a:lnTo>
                <a:cubicBezTo>
                  <a:pt x="441339" y="408406"/>
                  <a:pt x="408406" y="441339"/>
                  <a:pt x="367781" y="441339"/>
                </a:cubicBezTo>
                <a:lnTo>
                  <a:pt x="73558" y="441339"/>
                </a:lnTo>
                <a:cubicBezTo>
                  <a:pt x="32933" y="441339"/>
                  <a:pt x="0" y="408406"/>
                  <a:pt x="0" y="367781"/>
                </a:cubicBezTo>
                <a:lnTo>
                  <a:pt x="0" y="73558"/>
                </a:lnTo>
                <a:cubicBezTo>
                  <a:pt x="0" y="32960"/>
                  <a:pt x="32960" y="0"/>
                  <a:pt x="73558" y="0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50" name="Shape 48"/>
          <p:cNvSpPr/>
          <p:nvPr/>
        </p:nvSpPr>
        <p:spPr>
          <a:xfrm>
            <a:off x="7628940" y="3926369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48056" y="13038"/>
                </a:moveTo>
                <a:cubicBezTo>
                  <a:pt x="51971" y="15767"/>
                  <a:pt x="52905" y="21155"/>
                  <a:pt x="50175" y="25034"/>
                </a:cubicBezTo>
                <a:lnTo>
                  <a:pt x="30062" y="53767"/>
                </a:lnTo>
                <a:cubicBezTo>
                  <a:pt x="28589" y="55850"/>
                  <a:pt x="26291" y="57179"/>
                  <a:pt x="23741" y="57394"/>
                </a:cubicBezTo>
                <a:cubicBezTo>
                  <a:pt x="21191" y="57610"/>
                  <a:pt x="18676" y="56748"/>
                  <a:pt x="16881" y="54952"/>
                </a:cubicBezTo>
                <a:lnTo>
                  <a:pt x="2514" y="40585"/>
                </a:lnTo>
                <a:cubicBezTo>
                  <a:pt x="-826" y="37209"/>
                  <a:pt x="-826" y="31750"/>
                  <a:pt x="2514" y="28374"/>
                </a:cubicBezTo>
                <a:cubicBezTo>
                  <a:pt x="5854" y="24998"/>
                  <a:pt x="11350" y="25034"/>
                  <a:pt x="14726" y="28374"/>
                </a:cubicBezTo>
                <a:lnTo>
                  <a:pt x="21837" y="35485"/>
                </a:lnTo>
                <a:lnTo>
                  <a:pt x="36060" y="15157"/>
                </a:lnTo>
                <a:cubicBezTo>
                  <a:pt x="38790" y="11242"/>
                  <a:pt x="44177" y="10308"/>
                  <a:pt x="48056" y="13038"/>
                </a:cubicBezTo>
                <a:close/>
                <a:moveTo>
                  <a:pt x="48056" y="70504"/>
                </a:moveTo>
                <a:cubicBezTo>
                  <a:pt x="51971" y="73233"/>
                  <a:pt x="52905" y="78621"/>
                  <a:pt x="50175" y="82500"/>
                </a:cubicBezTo>
                <a:lnTo>
                  <a:pt x="30062" y="111233"/>
                </a:lnTo>
                <a:cubicBezTo>
                  <a:pt x="28589" y="113316"/>
                  <a:pt x="26291" y="114645"/>
                  <a:pt x="23741" y="114860"/>
                </a:cubicBezTo>
                <a:cubicBezTo>
                  <a:pt x="21191" y="115076"/>
                  <a:pt x="18676" y="114214"/>
                  <a:pt x="16881" y="112418"/>
                </a:cubicBezTo>
                <a:lnTo>
                  <a:pt x="2514" y="98051"/>
                </a:lnTo>
                <a:cubicBezTo>
                  <a:pt x="-862" y="94675"/>
                  <a:pt x="-862" y="89216"/>
                  <a:pt x="2514" y="85876"/>
                </a:cubicBezTo>
                <a:cubicBezTo>
                  <a:pt x="5890" y="82536"/>
                  <a:pt x="11350" y="82500"/>
                  <a:pt x="14690" y="85876"/>
                </a:cubicBezTo>
                <a:lnTo>
                  <a:pt x="21801" y="92987"/>
                </a:lnTo>
                <a:lnTo>
                  <a:pt x="36024" y="72659"/>
                </a:lnTo>
                <a:cubicBezTo>
                  <a:pt x="38754" y="68744"/>
                  <a:pt x="44141" y="67810"/>
                  <a:pt x="48020" y="70540"/>
                </a:cubicBezTo>
                <a:close/>
                <a:moveTo>
                  <a:pt x="80452" y="34480"/>
                </a:moveTo>
                <a:cubicBezTo>
                  <a:pt x="80452" y="28122"/>
                  <a:pt x="85589" y="22986"/>
                  <a:pt x="91946" y="22986"/>
                </a:cubicBezTo>
                <a:lnTo>
                  <a:pt x="172398" y="22986"/>
                </a:lnTo>
                <a:cubicBezTo>
                  <a:pt x="178755" y="22986"/>
                  <a:pt x="183891" y="28122"/>
                  <a:pt x="183891" y="34480"/>
                </a:cubicBezTo>
                <a:cubicBezTo>
                  <a:pt x="183891" y="40837"/>
                  <a:pt x="178755" y="45973"/>
                  <a:pt x="172398" y="45973"/>
                </a:cubicBezTo>
                <a:lnTo>
                  <a:pt x="91946" y="45973"/>
                </a:lnTo>
                <a:cubicBezTo>
                  <a:pt x="85589" y="45973"/>
                  <a:pt x="80452" y="40837"/>
                  <a:pt x="80452" y="34480"/>
                </a:cubicBezTo>
                <a:close/>
                <a:moveTo>
                  <a:pt x="80452" y="91946"/>
                </a:moveTo>
                <a:cubicBezTo>
                  <a:pt x="80452" y="85589"/>
                  <a:pt x="85589" y="80452"/>
                  <a:pt x="91946" y="80452"/>
                </a:cubicBezTo>
                <a:lnTo>
                  <a:pt x="172398" y="80452"/>
                </a:lnTo>
                <a:cubicBezTo>
                  <a:pt x="178755" y="80452"/>
                  <a:pt x="183891" y="85589"/>
                  <a:pt x="183891" y="91946"/>
                </a:cubicBezTo>
                <a:cubicBezTo>
                  <a:pt x="183891" y="98303"/>
                  <a:pt x="178755" y="103439"/>
                  <a:pt x="172398" y="103439"/>
                </a:cubicBezTo>
                <a:lnTo>
                  <a:pt x="91946" y="103439"/>
                </a:lnTo>
                <a:cubicBezTo>
                  <a:pt x="85589" y="103439"/>
                  <a:pt x="80452" y="98303"/>
                  <a:pt x="80452" y="91946"/>
                </a:cubicBezTo>
                <a:close/>
                <a:moveTo>
                  <a:pt x="57466" y="149412"/>
                </a:moveTo>
                <a:cubicBezTo>
                  <a:pt x="57466" y="143055"/>
                  <a:pt x="62602" y="137919"/>
                  <a:pt x="68959" y="137919"/>
                </a:cubicBezTo>
                <a:lnTo>
                  <a:pt x="172398" y="137919"/>
                </a:lnTo>
                <a:cubicBezTo>
                  <a:pt x="178755" y="137919"/>
                  <a:pt x="183891" y="143055"/>
                  <a:pt x="183891" y="149412"/>
                </a:cubicBezTo>
                <a:cubicBezTo>
                  <a:pt x="183891" y="155769"/>
                  <a:pt x="178755" y="160905"/>
                  <a:pt x="172398" y="160905"/>
                </a:cubicBezTo>
                <a:lnTo>
                  <a:pt x="68959" y="160905"/>
                </a:lnTo>
                <a:cubicBezTo>
                  <a:pt x="62602" y="160905"/>
                  <a:pt x="57466" y="155769"/>
                  <a:pt x="57466" y="149412"/>
                </a:cubicBezTo>
                <a:close/>
                <a:moveTo>
                  <a:pt x="22986" y="135045"/>
                </a:moveTo>
                <a:cubicBezTo>
                  <a:pt x="30916" y="135045"/>
                  <a:pt x="37353" y="141483"/>
                  <a:pt x="37353" y="149412"/>
                </a:cubicBezTo>
                <a:cubicBezTo>
                  <a:pt x="37353" y="157341"/>
                  <a:pt x="30916" y="163778"/>
                  <a:pt x="22986" y="163778"/>
                </a:cubicBezTo>
                <a:cubicBezTo>
                  <a:pt x="15057" y="163778"/>
                  <a:pt x="8620" y="157341"/>
                  <a:pt x="8620" y="149412"/>
                </a:cubicBezTo>
                <a:cubicBezTo>
                  <a:pt x="8620" y="141483"/>
                  <a:pt x="15057" y="135045"/>
                  <a:pt x="22986" y="135045"/>
                </a:cubicBezTo>
                <a:close/>
              </a:path>
            </a:pathLst>
          </a:custGeom>
          <a:solidFill>
            <a:srgbClr val="F4F7F6"/>
          </a:solidFill>
        </p:spPr>
      </p:sp>
      <p:sp>
        <p:nvSpPr>
          <p:cNvPr id="51" name="Text 49"/>
          <p:cNvSpPr/>
          <p:nvPr/>
        </p:nvSpPr>
        <p:spPr>
          <a:xfrm>
            <a:off x="8051874" y="3871215"/>
            <a:ext cx="993014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操作流程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500279" y="4386097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183891" y="0"/>
                </a:moveTo>
                <a:lnTo>
                  <a:pt x="183891" y="0"/>
                </a:lnTo>
                <a:cubicBezTo>
                  <a:pt x="285384" y="0"/>
                  <a:pt x="367783" y="82399"/>
                  <a:pt x="367783" y="183891"/>
                </a:cubicBezTo>
                <a:lnTo>
                  <a:pt x="367783" y="183891"/>
                </a:lnTo>
                <a:cubicBezTo>
                  <a:pt x="367783" y="285384"/>
                  <a:pt x="285384" y="367783"/>
                  <a:pt x="183891" y="367783"/>
                </a:cubicBezTo>
                <a:lnTo>
                  <a:pt x="183891" y="367783"/>
                </a:lnTo>
                <a:cubicBezTo>
                  <a:pt x="82399" y="367783"/>
                  <a:pt x="0" y="285384"/>
                  <a:pt x="0" y="183891"/>
                </a:cubicBezTo>
                <a:lnTo>
                  <a:pt x="0" y="183891"/>
                </a:lnTo>
                <a:cubicBezTo>
                  <a:pt x="0" y="82399"/>
                  <a:pt x="82399" y="0"/>
                  <a:pt x="183891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53" name="Text 51"/>
          <p:cNvSpPr/>
          <p:nvPr/>
        </p:nvSpPr>
        <p:spPr>
          <a:xfrm>
            <a:off x="7458904" y="4386097"/>
            <a:ext cx="450534" cy="367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978365" y="4386097"/>
            <a:ext cx="1259656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拍照上传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978365" y="4680292"/>
            <a:ext cx="1250462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手机拍摄叶片照片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500279" y="5011198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183891" y="0"/>
                </a:moveTo>
                <a:lnTo>
                  <a:pt x="183891" y="0"/>
                </a:lnTo>
                <a:cubicBezTo>
                  <a:pt x="285384" y="0"/>
                  <a:pt x="367783" y="82399"/>
                  <a:pt x="367783" y="183891"/>
                </a:cubicBezTo>
                <a:lnTo>
                  <a:pt x="367783" y="183891"/>
                </a:lnTo>
                <a:cubicBezTo>
                  <a:pt x="367783" y="285384"/>
                  <a:pt x="285384" y="367783"/>
                  <a:pt x="183891" y="367783"/>
                </a:cubicBezTo>
                <a:lnTo>
                  <a:pt x="183891" y="367783"/>
                </a:lnTo>
                <a:cubicBezTo>
                  <a:pt x="82399" y="367783"/>
                  <a:pt x="0" y="285384"/>
                  <a:pt x="0" y="183891"/>
                </a:cubicBezTo>
                <a:lnTo>
                  <a:pt x="0" y="183891"/>
                </a:lnTo>
                <a:cubicBezTo>
                  <a:pt x="0" y="82399"/>
                  <a:pt x="82399" y="0"/>
                  <a:pt x="183891" y="0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57" name="Text 55"/>
          <p:cNvSpPr/>
          <p:nvPr/>
        </p:nvSpPr>
        <p:spPr>
          <a:xfrm>
            <a:off x="7458904" y="5011198"/>
            <a:ext cx="450534" cy="367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978365" y="5011198"/>
            <a:ext cx="1388380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智能识别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978365" y="5305393"/>
            <a:ext cx="1379186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AI自动分析病害类型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500279" y="5636303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183891" y="0"/>
                </a:moveTo>
                <a:lnTo>
                  <a:pt x="183891" y="0"/>
                </a:lnTo>
                <a:cubicBezTo>
                  <a:pt x="285384" y="0"/>
                  <a:pt x="367783" y="82399"/>
                  <a:pt x="367783" y="183891"/>
                </a:cubicBezTo>
                <a:lnTo>
                  <a:pt x="367783" y="183891"/>
                </a:lnTo>
                <a:cubicBezTo>
                  <a:pt x="367783" y="285384"/>
                  <a:pt x="285384" y="367783"/>
                  <a:pt x="183891" y="367783"/>
                </a:cubicBezTo>
                <a:lnTo>
                  <a:pt x="183891" y="367783"/>
                </a:lnTo>
                <a:cubicBezTo>
                  <a:pt x="82399" y="367783"/>
                  <a:pt x="0" y="285384"/>
                  <a:pt x="0" y="183891"/>
                </a:cubicBezTo>
                <a:lnTo>
                  <a:pt x="0" y="183891"/>
                </a:lnTo>
                <a:cubicBezTo>
                  <a:pt x="0" y="82399"/>
                  <a:pt x="82399" y="0"/>
                  <a:pt x="183891" y="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61" name="Text 59"/>
          <p:cNvSpPr/>
          <p:nvPr/>
        </p:nvSpPr>
        <p:spPr>
          <a:xfrm>
            <a:off x="7458904" y="5636303"/>
            <a:ext cx="450534" cy="367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978365" y="5636303"/>
            <a:ext cx="1406769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获取建议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978365" y="5930498"/>
            <a:ext cx="1397575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接收个性化防控方案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500279" y="6300754"/>
            <a:ext cx="4137557" cy="5108"/>
          </a:xfrm>
          <a:custGeom>
            <a:avLst/>
            <a:gdLst/>
            <a:ahLst/>
            <a:cxnLst/>
            <a:rect l="l" t="t" r="r" b="b"/>
            <a:pathLst>
              <a:path w="4137557" h="5108">
                <a:moveTo>
                  <a:pt x="0" y="0"/>
                </a:moveTo>
                <a:lnTo>
                  <a:pt x="4137557" y="0"/>
                </a:lnTo>
                <a:lnTo>
                  <a:pt x="4137557" y="5108"/>
                </a:lnTo>
                <a:lnTo>
                  <a:pt x="0" y="5108"/>
                </a:lnTo>
                <a:lnTo>
                  <a:pt x="0" y="0"/>
                </a:lnTo>
                <a:close/>
              </a:path>
            </a:pathLst>
          </a:custGeom>
          <a:solidFill>
            <a:srgbClr val="8AA39B">
              <a:alpha val="20000"/>
            </a:srgbClr>
          </a:solidFill>
        </p:spPr>
      </p:sp>
      <p:sp>
        <p:nvSpPr>
          <p:cNvPr id="65" name="Shape 63"/>
          <p:cNvSpPr/>
          <p:nvPr/>
        </p:nvSpPr>
        <p:spPr>
          <a:xfrm>
            <a:off x="8115677" y="6486163"/>
            <a:ext cx="147113" cy="147113"/>
          </a:xfrm>
          <a:custGeom>
            <a:avLst/>
            <a:gdLst/>
            <a:ahLst/>
            <a:cxnLst/>
            <a:rect l="l" t="t" r="r" b="b"/>
            <a:pathLst>
              <a:path w="147113" h="147113">
                <a:moveTo>
                  <a:pt x="73557" y="147113"/>
                </a:moveTo>
                <a:cubicBezTo>
                  <a:pt x="114154" y="147113"/>
                  <a:pt x="147113" y="114154"/>
                  <a:pt x="147113" y="73557"/>
                </a:cubicBezTo>
                <a:cubicBezTo>
                  <a:pt x="147113" y="32960"/>
                  <a:pt x="114154" y="0"/>
                  <a:pt x="73557" y="0"/>
                </a:cubicBezTo>
                <a:cubicBezTo>
                  <a:pt x="32960" y="0"/>
                  <a:pt x="0" y="32960"/>
                  <a:pt x="0" y="73557"/>
                </a:cubicBezTo>
                <a:cubicBezTo>
                  <a:pt x="0" y="114154"/>
                  <a:pt x="32960" y="147113"/>
                  <a:pt x="73557" y="147113"/>
                </a:cubicBezTo>
                <a:close/>
                <a:moveTo>
                  <a:pt x="64362" y="45973"/>
                </a:moveTo>
                <a:cubicBezTo>
                  <a:pt x="64362" y="40898"/>
                  <a:pt x="68482" y="36778"/>
                  <a:pt x="73557" y="36778"/>
                </a:cubicBezTo>
                <a:cubicBezTo>
                  <a:pt x="78631" y="36778"/>
                  <a:pt x="82751" y="40898"/>
                  <a:pt x="82751" y="45973"/>
                </a:cubicBezTo>
                <a:cubicBezTo>
                  <a:pt x="82751" y="51047"/>
                  <a:pt x="78631" y="55167"/>
                  <a:pt x="73557" y="55167"/>
                </a:cubicBezTo>
                <a:cubicBezTo>
                  <a:pt x="68482" y="55167"/>
                  <a:pt x="64362" y="51047"/>
                  <a:pt x="64362" y="45973"/>
                </a:cubicBezTo>
                <a:close/>
                <a:moveTo>
                  <a:pt x="62063" y="64362"/>
                </a:moveTo>
                <a:lnTo>
                  <a:pt x="75855" y="64362"/>
                </a:lnTo>
                <a:cubicBezTo>
                  <a:pt x="79677" y="64362"/>
                  <a:pt x="82751" y="67436"/>
                  <a:pt x="82751" y="71258"/>
                </a:cubicBezTo>
                <a:lnTo>
                  <a:pt x="82751" y="96543"/>
                </a:lnTo>
                <a:lnTo>
                  <a:pt x="85050" y="96543"/>
                </a:lnTo>
                <a:cubicBezTo>
                  <a:pt x="88871" y="96543"/>
                  <a:pt x="91946" y="99617"/>
                  <a:pt x="91946" y="103439"/>
                </a:cubicBezTo>
                <a:cubicBezTo>
                  <a:pt x="91946" y="107260"/>
                  <a:pt x="88871" y="110335"/>
                  <a:pt x="85050" y="110335"/>
                </a:cubicBezTo>
                <a:lnTo>
                  <a:pt x="62063" y="110335"/>
                </a:lnTo>
                <a:cubicBezTo>
                  <a:pt x="58242" y="110335"/>
                  <a:pt x="55167" y="107260"/>
                  <a:pt x="55167" y="103439"/>
                </a:cubicBezTo>
                <a:cubicBezTo>
                  <a:pt x="55167" y="99617"/>
                  <a:pt x="58242" y="96543"/>
                  <a:pt x="62063" y="96543"/>
                </a:cubicBezTo>
                <a:lnTo>
                  <a:pt x="68959" y="96543"/>
                </a:lnTo>
                <a:lnTo>
                  <a:pt x="68959" y="78154"/>
                </a:lnTo>
                <a:lnTo>
                  <a:pt x="62063" y="78154"/>
                </a:lnTo>
                <a:cubicBezTo>
                  <a:pt x="58242" y="78154"/>
                  <a:pt x="55167" y="75079"/>
                  <a:pt x="55167" y="71258"/>
                </a:cubicBezTo>
                <a:cubicBezTo>
                  <a:pt x="55167" y="67436"/>
                  <a:pt x="58242" y="64362"/>
                  <a:pt x="62063" y="64362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66" name="Text 64"/>
          <p:cNvSpPr/>
          <p:nvPr/>
        </p:nvSpPr>
        <p:spPr>
          <a:xfrm>
            <a:off x="7700646" y="6450404"/>
            <a:ext cx="3973968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无需专业技术背景，基层种植户轻松上手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智能服务与数据支撑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07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4" name="Shape 2"/>
          <p:cNvSpPr/>
          <p:nvPr/>
        </p:nvSpPr>
        <p:spPr>
          <a:xfrm>
            <a:off x="381000" y="1028486"/>
            <a:ext cx="5619750" cy="2819400"/>
          </a:xfrm>
          <a:custGeom>
            <a:avLst/>
            <a:gdLst/>
            <a:ahLst/>
            <a:cxnLst/>
            <a:rect l="l" t="t" r="r" b="b"/>
            <a:pathLst>
              <a:path w="5619750" h="2819400">
                <a:moveTo>
                  <a:pt x="114298" y="0"/>
                </a:moveTo>
                <a:lnTo>
                  <a:pt x="5505452" y="0"/>
                </a:lnTo>
                <a:cubicBezTo>
                  <a:pt x="5568577" y="0"/>
                  <a:pt x="5619750" y="51173"/>
                  <a:pt x="5619750" y="114298"/>
                </a:cubicBezTo>
                <a:lnTo>
                  <a:pt x="5619750" y="2705102"/>
                </a:lnTo>
                <a:cubicBezTo>
                  <a:pt x="5619750" y="2768227"/>
                  <a:pt x="5568577" y="2819400"/>
                  <a:pt x="5505452" y="2819400"/>
                </a:cubicBezTo>
                <a:lnTo>
                  <a:pt x="114298" y="2819400"/>
                </a:lnTo>
                <a:cubicBezTo>
                  <a:pt x="51173" y="2819400"/>
                  <a:pt x="0" y="2768227"/>
                  <a:pt x="0" y="270510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21898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6" name="Shape 4"/>
          <p:cNvSpPr/>
          <p:nvPr/>
        </p:nvSpPr>
        <p:spPr>
          <a:xfrm>
            <a:off x="692878" y="135227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F4F7F6"/>
          </a:solidFill>
        </p:spPr>
      </p:sp>
      <p:sp>
        <p:nvSpPr>
          <p:cNvPr id="7" name="Text 5"/>
          <p:cNvSpPr/>
          <p:nvPr/>
        </p:nvSpPr>
        <p:spPr>
          <a:xfrm>
            <a:off x="1142917" y="1295135"/>
            <a:ext cx="1257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AI智能问答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1828521"/>
            <a:ext cx="53149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搭载kimi K2.5大语言模型，精准解答马铃薯种植及病害防控相关问题，为种植户提供7×24小时智能咨询服务。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0075" y="251403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10" name="Text 8"/>
          <p:cNvSpPr/>
          <p:nvPr/>
        </p:nvSpPr>
        <p:spPr>
          <a:xfrm>
            <a:off x="838150" y="2476007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病害识别结果解读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0075" y="281872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12" name="Text 10"/>
          <p:cNvSpPr/>
          <p:nvPr/>
        </p:nvSpPr>
        <p:spPr>
          <a:xfrm>
            <a:off x="838150" y="2780691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种植技术咨询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0075" y="312340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14" name="Text 12"/>
          <p:cNvSpPr/>
          <p:nvPr/>
        </p:nvSpPr>
        <p:spPr>
          <a:xfrm>
            <a:off x="838150" y="3085374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防控方案优化建议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0075" y="342809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16" name="Text 14"/>
          <p:cNvSpPr/>
          <p:nvPr/>
        </p:nvSpPr>
        <p:spPr>
          <a:xfrm>
            <a:off x="838150" y="3390058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农业政策信息查询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1251" y="1028486"/>
            <a:ext cx="5619750" cy="2819400"/>
          </a:xfrm>
          <a:custGeom>
            <a:avLst/>
            <a:gdLst/>
            <a:ahLst/>
            <a:cxnLst/>
            <a:rect l="l" t="t" r="r" b="b"/>
            <a:pathLst>
              <a:path w="5619750" h="2819400">
                <a:moveTo>
                  <a:pt x="114298" y="0"/>
                </a:moveTo>
                <a:lnTo>
                  <a:pt x="5505452" y="0"/>
                </a:lnTo>
                <a:cubicBezTo>
                  <a:pt x="5568577" y="0"/>
                  <a:pt x="5619750" y="51173"/>
                  <a:pt x="5619750" y="114298"/>
                </a:cubicBezTo>
                <a:lnTo>
                  <a:pt x="5619750" y="2705102"/>
                </a:lnTo>
                <a:cubicBezTo>
                  <a:pt x="5619750" y="2768227"/>
                  <a:pt x="5568577" y="2819400"/>
                  <a:pt x="5505452" y="2819400"/>
                </a:cubicBezTo>
                <a:lnTo>
                  <a:pt x="114298" y="2819400"/>
                </a:lnTo>
                <a:cubicBezTo>
                  <a:pt x="51173" y="2819400"/>
                  <a:pt x="0" y="2768227"/>
                  <a:pt x="0" y="270510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1751" y="121898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19" name="Shape 17"/>
          <p:cNvSpPr/>
          <p:nvPr/>
        </p:nvSpPr>
        <p:spPr>
          <a:xfrm>
            <a:off x="6526941" y="135227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4F7F6"/>
          </a:solidFill>
        </p:spPr>
      </p:sp>
      <p:sp>
        <p:nvSpPr>
          <p:cNvPr id="20" name="Text 18"/>
          <p:cNvSpPr/>
          <p:nvPr/>
        </p:nvSpPr>
        <p:spPr>
          <a:xfrm>
            <a:off x="6953167" y="1295135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数据支撑体系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271" y="1828521"/>
            <a:ext cx="37042" cy="533400"/>
          </a:xfrm>
          <a:custGeom>
            <a:avLst/>
            <a:gdLst/>
            <a:ahLst/>
            <a:cxnLst/>
            <a:rect l="l" t="t" r="r" b="b"/>
            <a:pathLst>
              <a:path w="37042" h="533400">
                <a:moveTo>
                  <a:pt x="0" y="0"/>
                </a:moveTo>
                <a:lnTo>
                  <a:pt x="37042" y="0"/>
                </a:lnTo>
                <a:lnTo>
                  <a:pt x="37042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2A574A"/>
          </a:solidFill>
        </p:spPr>
      </p:sp>
      <p:sp>
        <p:nvSpPr>
          <p:cNvPr id="22" name="Text 20"/>
          <p:cNvSpPr/>
          <p:nvPr/>
        </p:nvSpPr>
        <p:spPr>
          <a:xfrm>
            <a:off x="6571176" y="1828521"/>
            <a:ext cx="5133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识别记录查询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71176" y="2133288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历史识别数据随时查看，支持多维度筛选与导出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271" y="2476086"/>
            <a:ext cx="37042" cy="533400"/>
          </a:xfrm>
          <a:custGeom>
            <a:avLst/>
            <a:gdLst/>
            <a:ahLst/>
            <a:cxnLst/>
            <a:rect l="l" t="t" r="r" b="b"/>
            <a:pathLst>
              <a:path w="37042" h="533400">
                <a:moveTo>
                  <a:pt x="0" y="0"/>
                </a:moveTo>
                <a:lnTo>
                  <a:pt x="37042" y="0"/>
                </a:lnTo>
                <a:lnTo>
                  <a:pt x="37042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AA39B"/>
          </a:solidFill>
        </p:spPr>
      </p:sp>
      <p:sp>
        <p:nvSpPr>
          <p:cNvPr id="25" name="Text 23"/>
          <p:cNvSpPr/>
          <p:nvPr/>
        </p:nvSpPr>
        <p:spPr>
          <a:xfrm>
            <a:off x="6571176" y="2476086"/>
            <a:ext cx="5133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区域统计分析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71176" y="2780854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合作社/管理部门可查看区域病害分布与趋势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271" y="3123656"/>
            <a:ext cx="37042" cy="533400"/>
          </a:xfrm>
          <a:custGeom>
            <a:avLst/>
            <a:gdLst/>
            <a:ahLst/>
            <a:cxnLst/>
            <a:rect l="l" t="t" r="r" b="b"/>
            <a:pathLst>
              <a:path w="37042" h="533400">
                <a:moveTo>
                  <a:pt x="0" y="0"/>
                </a:moveTo>
                <a:lnTo>
                  <a:pt x="37042" y="0"/>
                </a:lnTo>
                <a:lnTo>
                  <a:pt x="37042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28" name="Text 26"/>
          <p:cNvSpPr/>
          <p:nvPr/>
        </p:nvSpPr>
        <p:spPr>
          <a:xfrm>
            <a:off x="6571176" y="3123656"/>
            <a:ext cx="5133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实时数据同步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71176" y="3428423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多终端数据实时同步，确保信息一致性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000" y="4038451"/>
            <a:ext cx="5619750" cy="2438400"/>
          </a:xfrm>
          <a:custGeom>
            <a:avLst/>
            <a:gdLst/>
            <a:ahLst/>
            <a:cxnLst/>
            <a:rect l="l" t="t" r="r" b="b"/>
            <a:pathLst>
              <a:path w="5619750" h="2438400">
                <a:moveTo>
                  <a:pt x="114312" y="0"/>
                </a:moveTo>
                <a:lnTo>
                  <a:pt x="5505438" y="0"/>
                </a:lnTo>
                <a:cubicBezTo>
                  <a:pt x="5568571" y="0"/>
                  <a:pt x="5619750" y="51179"/>
                  <a:pt x="5619750" y="114312"/>
                </a:cubicBezTo>
                <a:lnTo>
                  <a:pt x="5619750" y="2324088"/>
                </a:lnTo>
                <a:cubicBezTo>
                  <a:pt x="5619750" y="2387221"/>
                  <a:pt x="5568571" y="2438400"/>
                  <a:pt x="5505438" y="2438400"/>
                </a:cubicBezTo>
                <a:lnTo>
                  <a:pt x="114312" y="2438400"/>
                </a:lnTo>
                <a:cubicBezTo>
                  <a:pt x="51179" y="2438400"/>
                  <a:pt x="0" y="2387221"/>
                  <a:pt x="0" y="2324088"/>
                </a:cubicBezTo>
                <a:lnTo>
                  <a:pt x="0" y="114312"/>
                </a:lnTo>
                <a:cubicBezTo>
                  <a:pt x="0" y="51222"/>
                  <a:pt x="51222" y="0"/>
                  <a:pt x="114312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31" name="Shape 29"/>
          <p:cNvSpPr/>
          <p:nvPr/>
        </p:nvSpPr>
        <p:spPr>
          <a:xfrm>
            <a:off x="571500" y="4266986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57175" y="21431"/>
                </a:moveTo>
                <a:cubicBezTo>
                  <a:pt x="257175" y="16475"/>
                  <a:pt x="254630" y="11876"/>
                  <a:pt x="250388" y="9287"/>
                </a:cubicBezTo>
                <a:cubicBezTo>
                  <a:pt x="246147" y="6697"/>
                  <a:pt x="240923" y="6429"/>
                  <a:pt x="236503" y="8662"/>
                </a:cubicBezTo>
                <a:lnTo>
                  <a:pt x="184621" y="34603"/>
                </a:lnTo>
                <a:lnTo>
                  <a:pt x="104522" y="7858"/>
                </a:lnTo>
                <a:cubicBezTo>
                  <a:pt x="100905" y="6653"/>
                  <a:pt x="97021" y="6921"/>
                  <a:pt x="93628" y="8617"/>
                </a:cubicBezTo>
                <a:lnTo>
                  <a:pt x="36478" y="37192"/>
                </a:lnTo>
                <a:cubicBezTo>
                  <a:pt x="31611" y="39648"/>
                  <a:pt x="28575" y="44604"/>
                  <a:pt x="28575" y="50006"/>
                </a:cubicBezTo>
                <a:lnTo>
                  <a:pt x="28575" y="207169"/>
                </a:lnTo>
                <a:cubicBezTo>
                  <a:pt x="28575" y="212125"/>
                  <a:pt x="31120" y="216724"/>
                  <a:pt x="35362" y="219313"/>
                </a:cubicBezTo>
                <a:cubicBezTo>
                  <a:pt x="39603" y="221903"/>
                  <a:pt x="44827" y="222171"/>
                  <a:pt x="49247" y="219938"/>
                </a:cubicBezTo>
                <a:lnTo>
                  <a:pt x="101084" y="193997"/>
                </a:lnTo>
                <a:lnTo>
                  <a:pt x="178460" y="219804"/>
                </a:lnTo>
                <a:cubicBezTo>
                  <a:pt x="176540" y="216947"/>
                  <a:pt x="174665" y="213955"/>
                  <a:pt x="172834" y="210919"/>
                </a:cubicBezTo>
                <a:cubicBezTo>
                  <a:pt x="167923" y="202749"/>
                  <a:pt x="163056" y="193372"/>
                  <a:pt x="159440" y="183326"/>
                </a:cubicBezTo>
                <a:lnTo>
                  <a:pt x="114255" y="168280"/>
                </a:lnTo>
                <a:lnTo>
                  <a:pt x="114255" y="41255"/>
                </a:lnTo>
                <a:lnTo>
                  <a:pt x="171405" y="60320"/>
                </a:lnTo>
                <a:lnTo>
                  <a:pt x="171405" y="104656"/>
                </a:lnTo>
                <a:cubicBezTo>
                  <a:pt x="185246" y="88672"/>
                  <a:pt x="205785" y="78581"/>
                  <a:pt x="228555" y="78581"/>
                </a:cubicBezTo>
                <a:cubicBezTo>
                  <a:pt x="238646" y="78581"/>
                  <a:pt x="248290" y="80546"/>
                  <a:pt x="257130" y="84162"/>
                </a:cubicBezTo>
                <a:lnTo>
                  <a:pt x="257175" y="21431"/>
                </a:lnTo>
                <a:close/>
                <a:moveTo>
                  <a:pt x="228600" y="100013"/>
                </a:moveTo>
                <a:cubicBezTo>
                  <a:pt x="198998" y="100013"/>
                  <a:pt x="175022" y="123587"/>
                  <a:pt x="175022" y="152653"/>
                </a:cubicBezTo>
                <a:cubicBezTo>
                  <a:pt x="175022" y="183416"/>
                  <a:pt x="203642" y="219804"/>
                  <a:pt x="219045" y="237173"/>
                </a:cubicBezTo>
                <a:cubicBezTo>
                  <a:pt x="224224" y="242977"/>
                  <a:pt x="233020" y="242977"/>
                  <a:pt x="238199" y="237173"/>
                </a:cubicBezTo>
                <a:cubicBezTo>
                  <a:pt x="253603" y="219804"/>
                  <a:pt x="282223" y="183416"/>
                  <a:pt x="282223" y="152653"/>
                </a:cubicBezTo>
                <a:cubicBezTo>
                  <a:pt x="282223" y="123587"/>
                  <a:pt x="258247" y="100013"/>
                  <a:pt x="228645" y="100013"/>
                </a:cubicBezTo>
                <a:close/>
                <a:moveTo>
                  <a:pt x="210741" y="153591"/>
                </a:moveTo>
                <a:cubicBezTo>
                  <a:pt x="210741" y="143734"/>
                  <a:pt x="218743" y="135731"/>
                  <a:pt x="228600" y="135731"/>
                </a:cubicBezTo>
                <a:cubicBezTo>
                  <a:pt x="238457" y="135731"/>
                  <a:pt x="246459" y="143734"/>
                  <a:pt x="246459" y="153591"/>
                </a:cubicBezTo>
                <a:cubicBezTo>
                  <a:pt x="246459" y="163447"/>
                  <a:pt x="238457" y="171450"/>
                  <a:pt x="228600" y="171450"/>
                </a:cubicBezTo>
                <a:cubicBezTo>
                  <a:pt x="218743" y="171450"/>
                  <a:pt x="210741" y="163447"/>
                  <a:pt x="210741" y="153591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32" name="Text 30"/>
          <p:cNvSpPr/>
          <p:nvPr/>
        </p:nvSpPr>
        <p:spPr>
          <a:xfrm>
            <a:off x="971434" y="4228951"/>
            <a:ext cx="1714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个性化防控建议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1500" y="4686105"/>
            <a:ext cx="53149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4F7F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结合用户位置信息（经纬度）和当地天气数据，推送个性化、针对性的病害防控建议，实现"识别-分析-建议"一体化服务。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1500" y="5333586"/>
            <a:ext cx="2562225" cy="723900"/>
          </a:xfrm>
          <a:custGeom>
            <a:avLst/>
            <a:gdLst/>
            <a:ahLst/>
            <a:cxnLst/>
            <a:rect l="l" t="t" r="r" b="b"/>
            <a:pathLst>
              <a:path w="2562225" h="723900">
                <a:moveTo>
                  <a:pt x="76198" y="0"/>
                </a:moveTo>
                <a:lnTo>
                  <a:pt x="2486027" y="0"/>
                </a:lnTo>
                <a:cubicBezTo>
                  <a:pt x="2528082" y="0"/>
                  <a:pt x="2562225" y="34143"/>
                  <a:pt x="2562225" y="76198"/>
                </a:cubicBezTo>
                <a:lnTo>
                  <a:pt x="2562225" y="647702"/>
                </a:lnTo>
                <a:cubicBezTo>
                  <a:pt x="2562225" y="689757"/>
                  <a:pt x="2528082" y="723900"/>
                  <a:pt x="24860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723867" y="548588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56138"/>
                </a:moveTo>
                <a:cubicBezTo>
                  <a:pt x="0" y="25122"/>
                  <a:pt x="25598" y="0"/>
                  <a:pt x="57150" y="0"/>
                </a:cubicBezTo>
                <a:cubicBezTo>
                  <a:pt x="88702" y="0"/>
                  <a:pt x="114300" y="25122"/>
                  <a:pt x="114300" y="56138"/>
                </a:cubicBezTo>
                <a:cubicBezTo>
                  <a:pt x="114300" y="91648"/>
                  <a:pt x="78522" y="134213"/>
                  <a:pt x="63579" y="150435"/>
                </a:cubicBezTo>
                <a:cubicBezTo>
                  <a:pt x="60067" y="154245"/>
                  <a:pt x="54203" y="154245"/>
                  <a:pt x="50691" y="150435"/>
                </a:cubicBezTo>
                <a:cubicBezTo>
                  <a:pt x="35749" y="134213"/>
                  <a:pt x="-30" y="91648"/>
                  <a:pt x="-30" y="56138"/>
                </a:cubicBezTo>
                <a:close/>
                <a:moveTo>
                  <a:pt x="57150" y="76200"/>
                </a:moveTo>
                <a:cubicBezTo>
                  <a:pt x="67664" y="76200"/>
                  <a:pt x="76200" y="67664"/>
                  <a:pt x="76200" y="57150"/>
                </a:cubicBezTo>
                <a:cubicBezTo>
                  <a:pt x="76200" y="46636"/>
                  <a:pt x="67664" y="38100"/>
                  <a:pt x="57150" y="38100"/>
                </a:cubicBezTo>
                <a:cubicBezTo>
                  <a:pt x="46636" y="38100"/>
                  <a:pt x="38100" y="46636"/>
                  <a:pt x="38100" y="57150"/>
                </a:cubicBezTo>
                <a:cubicBezTo>
                  <a:pt x="38100" y="67664"/>
                  <a:pt x="46636" y="76200"/>
                  <a:pt x="57150" y="7620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36" name="Text 34"/>
          <p:cNvSpPr/>
          <p:nvPr/>
        </p:nvSpPr>
        <p:spPr>
          <a:xfrm>
            <a:off x="952417" y="5447854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位置获取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5767" y="5752537"/>
            <a:ext cx="2400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百度地图API精准定位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48009" y="5333586"/>
            <a:ext cx="2562225" cy="723900"/>
          </a:xfrm>
          <a:custGeom>
            <a:avLst/>
            <a:gdLst/>
            <a:ahLst/>
            <a:cxnLst/>
            <a:rect l="l" t="t" r="r" b="b"/>
            <a:pathLst>
              <a:path w="2562225" h="723900">
                <a:moveTo>
                  <a:pt x="76198" y="0"/>
                </a:moveTo>
                <a:lnTo>
                  <a:pt x="2486027" y="0"/>
                </a:lnTo>
                <a:cubicBezTo>
                  <a:pt x="2528082" y="0"/>
                  <a:pt x="2562225" y="34143"/>
                  <a:pt x="2562225" y="76198"/>
                </a:cubicBezTo>
                <a:lnTo>
                  <a:pt x="2562225" y="647702"/>
                </a:lnTo>
                <a:cubicBezTo>
                  <a:pt x="2562225" y="689757"/>
                  <a:pt x="2528082" y="723900"/>
                  <a:pt x="24860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3371801" y="548588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35017" y="-4405"/>
                </a:moveTo>
                <a:cubicBezTo>
                  <a:pt x="136475" y="-3810"/>
                  <a:pt x="137547" y="-2500"/>
                  <a:pt x="137845" y="-953"/>
                </a:cubicBezTo>
                <a:lnTo>
                  <a:pt x="142875" y="23813"/>
                </a:lnTo>
                <a:lnTo>
                  <a:pt x="167640" y="28813"/>
                </a:lnTo>
                <a:cubicBezTo>
                  <a:pt x="169188" y="29141"/>
                  <a:pt x="170468" y="30182"/>
                  <a:pt x="171093" y="31641"/>
                </a:cubicBezTo>
                <a:cubicBezTo>
                  <a:pt x="171718" y="33099"/>
                  <a:pt x="171539" y="34766"/>
                  <a:pt x="170676" y="36076"/>
                </a:cubicBezTo>
                <a:lnTo>
                  <a:pt x="156716" y="57120"/>
                </a:lnTo>
                <a:lnTo>
                  <a:pt x="170676" y="78165"/>
                </a:lnTo>
                <a:cubicBezTo>
                  <a:pt x="171539" y="79474"/>
                  <a:pt x="171718" y="81141"/>
                  <a:pt x="171093" y="82600"/>
                </a:cubicBezTo>
                <a:cubicBezTo>
                  <a:pt x="170468" y="84058"/>
                  <a:pt x="169188" y="85130"/>
                  <a:pt x="167640" y="85427"/>
                </a:cubicBezTo>
                <a:lnTo>
                  <a:pt x="149126" y="89208"/>
                </a:lnTo>
                <a:cubicBezTo>
                  <a:pt x="145584" y="86618"/>
                  <a:pt x="141655" y="84564"/>
                  <a:pt x="137398" y="83135"/>
                </a:cubicBezTo>
                <a:cubicBezTo>
                  <a:pt x="136654" y="79355"/>
                  <a:pt x="135374" y="75783"/>
                  <a:pt x="133618" y="72509"/>
                </a:cubicBezTo>
                <a:cubicBezTo>
                  <a:pt x="136446" y="68074"/>
                  <a:pt x="138113" y="62805"/>
                  <a:pt x="138113" y="57120"/>
                </a:cubicBezTo>
                <a:cubicBezTo>
                  <a:pt x="138113" y="41344"/>
                  <a:pt x="125313" y="28545"/>
                  <a:pt x="109538" y="28545"/>
                </a:cubicBezTo>
                <a:cubicBezTo>
                  <a:pt x="95280" y="28545"/>
                  <a:pt x="83463" y="38993"/>
                  <a:pt x="81320" y="52626"/>
                </a:cubicBezTo>
                <a:cubicBezTo>
                  <a:pt x="73432" y="46583"/>
                  <a:pt x="63609" y="42952"/>
                  <a:pt x="52923" y="42833"/>
                </a:cubicBezTo>
                <a:lnTo>
                  <a:pt x="48429" y="36076"/>
                </a:lnTo>
                <a:cubicBezTo>
                  <a:pt x="47565" y="34766"/>
                  <a:pt x="47387" y="33099"/>
                  <a:pt x="48012" y="31641"/>
                </a:cubicBezTo>
                <a:cubicBezTo>
                  <a:pt x="48637" y="30182"/>
                  <a:pt x="49917" y="29111"/>
                  <a:pt x="51465" y="28813"/>
                </a:cubicBezTo>
                <a:lnTo>
                  <a:pt x="76200" y="23813"/>
                </a:lnTo>
                <a:lnTo>
                  <a:pt x="81201" y="-952"/>
                </a:lnTo>
                <a:cubicBezTo>
                  <a:pt x="81528" y="-2500"/>
                  <a:pt x="82570" y="-3780"/>
                  <a:pt x="84028" y="-4405"/>
                </a:cubicBezTo>
                <a:cubicBezTo>
                  <a:pt x="85487" y="-5030"/>
                  <a:pt x="87154" y="-4852"/>
                  <a:pt x="88463" y="-3989"/>
                </a:cubicBezTo>
                <a:lnTo>
                  <a:pt x="109537" y="10001"/>
                </a:lnTo>
                <a:lnTo>
                  <a:pt x="130582" y="-3959"/>
                </a:lnTo>
                <a:cubicBezTo>
                  <a:pt x="131891" y="-4822"/>
                  <a:pt x="133558" y="-5001"/>
                  <a:pt x="135017" y="-4376"/>
                </a:cubicBezTo>
                <a:close/>
                <a:moveTo>
                  <a:pt x="123825" y="57150"/>
                </a:moveTo>
                <a:cubicBezTo>
                  <a:pt x="123825" y="58281"/>
                  <a:pt x="123706" y="59382"/>
                  <a:pt x="123438" y="60454"/>
                </a:cubicBezTo>
                <a:cubicBezTo>
                  <a:pt x="116979" y="55394"/>
                  <a:pt x="108853" y="52388"/>
                  <a:pt x="100013" y="52388"/>
                </a:cubicBezTo>
                <a:cubicBezTo>
                  <a:pt x="98643" y="52388"/>
                  <a:pt x="97304" y="52447"/>
                  <a:pt x="95994" y="52596"/>
                </a:cubicBezTo>
                <a:cubicBezTo>
                  <a:pt x="97899" y="46940"/>
                  <a:pt x="103257" y="42863"/>
                  <a:pt x="109537" y="42863"/>
                </a:cubicBezTo>
                <a:cubicBezTo>
                  <a:pt x="117425" y="42863"/>
                  <a:pt x="123825" y="49262"/>
                  <a:pt x="123825" y="57150"/>
                </a:cubicBezTo>
                <a:close/>
                <a:moveTo>
                  <a:pt x="28575" y="152400"/>
                </a:moveTo>
                <a:cubicBezTo>
                  <a:pt x="12799" y="152400"/>
                  <a:pt x="0" y="139601"/>
                  <a:pt x="0" y="123825"/>
                </a:cubicBezTo>
                <a:cubicBezTo>
                  <a:pt x="0" y="111175"/>
                  <a:pt x="8215" y="100429"/>
                  <a:pt x="19616" y="96679"/>
                </a:cubicBezTo>
                <a:cubicBezTo>
                  <a:pt x="19229" y="94684"/>
                  <a:pt x="19050" y="92601"/>
                  <a:pt x="19050" y="90488"/>
                </a:cubicBezTo>
                <a:cubicBezTo>
                  <a:pt x="19050" y="72063"/>
                  <a:pt x="33963" y="57150"/>
                  <a:pt x="52388" y="57150"/>
                </a:cubicBezTo>
                <a:cubicBezTo>
                  <a:pt x="65216" y="57150"/>
                  <a:pt x="76349" y="64383"/>
                  <a:pt x="81915" y="75009"/>
                </a:cubicBezTo>
                <a:cubicBezTo>
                  <a:pt x="86291" y="69919"/>
                  <a:pt x="92779" y="66675"/>
                  <a:pt x="100013" y="66675"/>
                </a:cubicBezTo>
                <a:cubicBezTo>
                  <a:pt x="113169" y="66675"/>
                  <a:pt x="123825" y="77331"/>
                  <a:pt x="123825" y="90488"/>
                </a:cubicBezTo>
                <a:cubicBezTo>
                  <a:pt x="123825" y="92125"/>
                  <a:pt x="123646" y="93702"/>
                  <a:pt x="123349" y="95250"/>
                </a:cubicBezTo>
                <a:cubicBezTo>
                  <a:pt x="123498" y="95250"/>
                  <a:pt x="123676" y="95250"/>
                  <a:pt x="123825" y="95250"/>
                </a:cubicBezTo>
                <a:cubicBezTo>
                  <a:pt x="139601" y="95250"/>
                  <a:pt x="152400" y="108049"/>
                  <a:pt x="152400" y="123825"/>
                </a:cubicBezTo>
                <a:cubicBezTo>
                  <a:pt x="152400" y="139601"/>
                  <a:pt x="139601" y="152400"/>
                  <a:pt x="123825" y="152400"/>
                </a:cubicBezTo>
                <a:lnTo>
                  <a:pt x="28575" y="15240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40" name="Text 38"/>
          <p:cNvSpPr/>
          <p:nvPr/>
        </p:nvSpPr>
        <p:spPr>
          <a:xfrm>
            <a:off x="3628926" y="5447854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天气数据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362276" y="5752537"/>
            <a:ext cx="2400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中国天气网实时数据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1251" y="4038451"/>
            <a:ext cx="5619750" cy="2438400"/>
          </a:xfrm>
          <a:custGeom>
            <a:avLst/>
            <a:gdLst/>
            <a:ahLst/>
            <a:cxnLst/>
            <a:rect l="l" t="t" r="r" b="b"/>
            <a:pathLst>
              <a:path w="5619750" h="2438400">
                <a:moveTo>
                  <a:pt x="114312" y="0"/>
                </a:moveTo>
                <a:lnTo>
                  <a:pt x="5505438" y="0"/>
                </a:lnTo>
                <a:cubicBezTo>
                  <a:pt x="5568571" y="0"/>
                  <a:pt x="5619750" y="51179"/>
                  <a:pt x="5619750" y="114312"/>
                </a:cubicBezTo>
                <a:lnTo>
                  <a:pt x="5619750" y="2324088"/>
                </a:lnTo>
                <a:cubicBezTo>
                  <a:pt x="5619750" y="2387221"/>
                  <a:pt x="5568571" y="2438400"/>
                  <a:pt x="5505438" y="2438400"/>
                </a:cubicBezTo>
                <a:lnTo>
                  <a:pt x="114312" y="2438400"/>
                </a:lnTo>
                <a:cubicBezTo>
                  <a:pt x="51179" y="2438400"/>
                  <a:pt x="0" y="2387221"/>
                  <a:pt x="0" y="2324088"/>
                </a:cubicBezTo>
                <a:lnTo>
                  <a:pt x="0" y="114312"/>
                </a:lnTo>
                <a:cubicBezTo>
                  <a:pt x="0" y="51222"/>
                  <a:pt x="51222" y="0"/>
                  <a:pt x="11431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81751" y="42289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44" name="Shape 42"/>
          <p:cNvSpPr/>
          <p:nvPr/>
        </p:nvSpPr>
        <p:spPr>
          <a:xfrm>
            <a:off x="6538847" y="4362236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1E2D2B"/>
          </a:solidFill>
        </p:spPr>
      </p:sp>
      <p:sp>
        <p:nvSpPr>
          <p:cNvPr id="45" name="Text 43"/>
          <p:cNvSpPr/>
          <p:nvPr/>
        </p:nvSpPr>
        <p:spPr>
          <a:xfrm>
            <a:off x="6953167" y="4305105"/>
            <a:ext cx="1257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多终端适配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81751" y="4838486"/>
            <a:ext cx="53149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采用跨终端适配技术，无需额外开发即可实现电脑、手机等多设备无缝切换，数据实时同步。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741336" y="548597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A574A">
              <a:alpha val="10196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6912736" y="565737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49" name="Text 47"/>
          <p:cNvSpPr/>
          <p:nvPr/>
        </p:nvSpPr>
        <p:spPr>
          <a:xfrm>
            <a:off x="6348413" y="6095507"/>
            <a:ext cx="132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电脑端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070040" y="548597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AA39B">
              <a:alpha val="10196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8265253" y="5657371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52" name="Text 50"/>
          <p:cNvSpPr/>
          <p:nvPr/>
        </p:nvSpPr>
        <p:spPr>
          <a:xfrm>
            <a:off x="7677117" y="6095507"/>
            <a:ext cx="132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手机端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398744" y="548597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056">
              <a:alpha val="10196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9582051" y="565737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142875" y="0"/>
                </a:lnTo>
                <a:cubicBezTo>
                  <a:pt x="156009" y="0"/>
                  <a:pt x="166688" y="10678"/>
                  <a:pt x="166688" y="23812"/>
                </a:cubicBezTo>
                <a:lnTo>
                  <a:pt x="166688" y="166688"/>
                </a:lnTo>
                <a:cubicBezTo>
                  <a:pt x="166688" y="179822"/>
                  <a:pt x="156009" y="190500"/>
                  <a:pt x="142875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95250" y="160734"/>
                </a:moveTo>
                <a:cubicBezTo>
                  <a:pt x="95250" y="154163"/>
                  <a:pt x="89915" y="148828"/>
                  <a:pt x="83344" y="148828"/>
                </a:cubicBezTo>
                <a:cubicBezTo>
                  <a:pt x="76773" y="148828"/>
                  <a:pt x="71438" y="154163"/>
                  <a:pt x="71438" y="160734"/>
                </a:cubicBezTo>
                <a:cubicBezTo>
                  <a:pt x="71438" y="167306"/>
                  <a:pt x="76773" y="172641"/>
                  <a:pt x="83344" y="172641"/>
                </a:cubicBezTo>
                <a:cubicBezTo>
                  <a:pt x="89915" y="172641"/>
                  <a:pt x="95250" y="167306"/>
                  <a:pt x="95250" y="160734"/>
                </a:cubicBezTo>
                <a:close/>
                <a:moveTo>
                  <a:pt x="142875" y="23812"/>
                </a:moveTo>
                <a:lnTo>
                  <a:pt x="23812" y="23812"/>
                </a:lnTo>
                <a:lnTo>
                  <a:pt x="23812" y="130969"/>
                </a:lnTo>
                <a:lnTo>
                  <a:pt x="142875" y="130969"/>
                </a:lnTo>
                <a:lnTo>
                  <a:pt x="142875" y="23812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55" name="Text 53"/>
          <p:cNvSpPr/>
          <p:nvPr/>
        </p:nvSpPr>
        <p:spPr>
          <a:xfrm>
            <a:off x="9005822" y="6095507"/>
            <a:ext cx="132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平板端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0727449" y="548597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A574A">
              <a:alpha val="10196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10898850" y="565737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2A574A"/>
          </a:solidFill>
        </p:spPr>
      </p:sp>
      <p:sp>
        <p:nvSpPr>
          <p:cNvPr id="58" name="Text 56"/>
          <p:cNvSpPr/>
          <p:nvPr/>
        </p:nvSpPr>
        <p:spPr>
          <a:xfrm>
            <a:off x="10334526" y="6095507"/>
            <a:ext cx="132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Web端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功能展示：天气信息获取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07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pic>
        <p:nvPicPr>
          <p:cNvPr id="5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151" y="3752701"/>
            <a:ext cx="914400" cy="914400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5295884" y="1028486"/>
            <a:ext cx="6515100" cy="2286000"/>
          </a:xfrm>
          <a:custGeom>
            <a:avLst/>
            <a:gdLst/>
            <a:ahLst/>
            <a:cxnLst/>
            <a:rect l="l" t="t" r="r" b="b"/>
            <a:pathLst>
              <a:path w="6515100" h="2286000">
                <a:moveTo>
                  <a:pt x="114300" y="0"/>
                </a:moveTo>
                <a:lnTo>
                  <a:pt x="6400800" y="0"/>
                </a:lnTo>
                <a:cubicBezTo>
                  <a:pt x="6463884" y="0"/>
                  <a:pt x="6515100" y="51216"/>
                  <a:pt x="6515100" y="114300"/>
                </a:cubicBezTo>
                <a:lnTo>
                  <a:pt x="6515100" y="2171700"/>
                </a:lnTo>
                <a:cubicBezTo>
                  <a:pt x="6515100" y="2234784"/>
                  <a:pt x="6463884" y="2286000"/>
                  <a:pt x="6400800" y="2286000"/>
                </a:cubicBezTo>
                <a:lnTo>
                  <a:pt x="114300" y="2286000"/>
                </a:lnTo>
                <a:cubicBezTo>
                  <a:pt x="51216" y="2286000"/>
                  <a:pt x="0" y="2234784"/>
                  <a:pt x="0" y="2171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384" y="121898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8" name="Shape 5"/>
          <p:cNvSpPr/>
          <p:nvPr/>
        </p:nvSpPr>
        <p:spPr>
          <a:xfrm>
            <a:off x="5607761" y="135227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68771" y="-5507"/>
                </a:moveTo>
                <a:cubicBezTo>
                  <a:pt x="170594" y="-4763"/>
                  <a:pt x="171934" y="-3125"/>
                  <a:pt x="172306" y="-1191"/>
                </a:cubicBezTo>
                <a:lnTo>
                  <a:pt x="178594" y="29766"/>
                </a:lnTo>
                <a:lnTo>
                  <a:pt x="209550" y="36016"/>
                </a:lnTo>
                <a:cubicBezTo>
                  <a:pt x="211485" y="36426"/>
                  <a:pt x="213085" y="37728"/>
                  <a:pt x="213866" y="39551"/>
                </a:cubicBezTo>
                <a:cubicBezTo>
                  <a:pt x="214647" y="41374"/>
                  <a:pt x="214424" y="43458"/>
                  <a:pt x="213345" y="45095"/>
                </a:cubicBezTo>
                <a:lnTo>
                  <a:pt x="195895" y="71400"/>
                </a:lnTo>
                <a:lnTo>
                  <a:pt x="213345" y="97706"/>
                </a:lnTo>
                <a:cubicBezTo>
                  <a:pt x="214424" y="99343"/>
                  <a:pt x="214647" y="101426"/>
                  <a:pt x="213866" y="103250"/>
                </a:cubicBezTo>
                <a:cubicBezTo>
                  <a:pt x="213085" y="105073"/>
                  <a:pt x="211485" y="106412"/>
                  <a:pt x="209550" y="106784"/>
                </a:cubicBezTo>
                <a:lnTo>
                  <a:pt x="186407" y="111509"/>
                </a:lnTo>
                <a:cubicBezTo>
                  <a:pt x="181980" y="108272"/>
                  <a:pt x="177068" y="105705"/>
                  <a:pt x="171748" y="103919"/>
                </a:cubicBezTo>
                <a:cubicBezTo>
                  <a:pt x="170817" y="99194"/>
                  <a:pt x="169218" y="94729"/>
                  <a:pt x="167022" y="90636"/>
                </a:cubicBezTo>
                <a:cubicBezTo>
                  <a:pt x="170557" y="85092"/>
                  <a:pt x="172641" y="78507"/>
                  <a:pt x="172641" y="71400"/>
                </a:cubicBezTo>
                <a:cubicBezTo>
                  <a:pt x="172641" y="51681"/>
                  <a:pt x="156642" y="35682"/>
                  <a:pt x="136922" y="35682"/>
                </a:cubicBezTo>
                <a:cubicBezTo>
                  <a:pt x="119100" y="35682"/>
                  <a:pt x="104329" y="48741"/>
                  <a:pt x="101650" y="65782"/>
                </a:cubicBezTo>
                <a:cubicBezTo>
                  <a:pt x="91790" y="58229"/>
                  <a:pt x="79511" y="53690"/>
                  <a:pt x="66154" y="53541"/>
                </a:cubicBezTo>
                <a:lnTo>
                  <a:pt x="60536" y="45095"/>
                </a:lnTo>
                <a:cubicBezTo>
                  <a:pt x="59457" y="43458"/>
                  <a:pt x="59234" y="41374"/>
                  <a:pt x="60015" y="39551"/>
                </a:cubicBezTo>
                <a:cubicBezTo>
                  <a:pt x="60796" y="37728"/>
                  <a:pt x="62396" y="36388"/>
                  <a:pt x="64331" y="36016"/>
                </a:cubicBezTo>
                <a:lnTo>
                  <a:pt x="95250" y="29766"/>
                </a:lnTo>
                <a:lnTo>
                  <a:pt x="101501" y="-1191"/>
                </a:lnTo>
                <a:cubicBezTo>
                  <a:pt x="101910" y="-3125"/>
                  <a:pt x="103212" y="-4725"/>
                  <a:pt x="105035" y="-5507"/>
                </a:cubicBezTo>
                <a:cubicBezTo>
                  <a:pt x="106859" y="-6288"/>
                  <a:pt x="108942" y="-6065"/>
                  <a:pt x="110579" y="-4986"/>
                </a:cubicBezTo>
                <a:lnTo>
                  <a:pt x="136922" y="12502"/>
                </a:lnTo>
                <a:lnTo>
                  <a:pt x="163227" y="-4949"/>
                </a:lnTo>
                <a:cubicBezTo>
                  <a:pt x="164864" y="-6028"/>
                  <a:pt x="166948" y="-6251"/>
                  <a:pt x="168771" y="-5469"/>
                </a:cubicBezTo>
                <a:close/>
                <a:moveTo>
                  <a:pt x="154781" y="71438"/>
                </a:moveTo>
                <a:cubicBezTo>
                  <a:pt x="154781" y="72851"/>
                  <a:pt x="154632" y="74228"/>
                  <a:pt x="154298" y="75567"/>
                </a:cubicBezTo>
                <a:cubicBezTo>
                  <a:pt x="146224" y="69242"/>
                  <a:pt x="136066" y="65484"/>
                  <a:pt x="125016" y="65484"/>
                </a:cubicBezTo>
                <a:cubicBezTo>
                  <a:pt x="123304" y="65484"/>
                  <a:pt x="121630" y="65559"/>
                  <a:pt x="119993" y="65745"/>
                </a:cubicBezTo>
                <a:cubicBezTo>
                  <a:pt x="122374" y="58675"/>
                  <a:pt x="129071" y="53578"/>
                  <a:pt x="136922" y="53578"/>
                </a:cubicBezTo>
                <a:cubicBezTo>
                  <a:pt x="146782" y="53578"/>
                  <a:pt x="154781" y="61578"/>
                  <a:pt x="154781" y="71438"/>
                </a:cubicBezTo>
                <a:close/>
                <a:moveTo>
                  <a:pt x="35719" y="190500"/>
                </a:moveTo>
                <a:cubicBezTo>
                  <a:pt x="15999" y="190500"/>
                  <a:pt x="0" y="174501"/>
                  <a:pt x="0" y="154781"/>
                </a:cubicBezTo>
                <a:cubicBezTo>
                  <a:pt x="0" y="138968"/>
                  <a:pt x="10269" y="125537"/>
                  <a:pt x="24519" y="120848"/>
                </a:cubicBezTo>
                <a:cubicBezTo>
                  <a:pt x="24036" y="118356"/>
                  <a:pt x="23812" y="115751"/>
                  <a:pt x="23812" y="113109"/>
                </a:cubicBezTo>
                <a:cubicBezTo>
                  <a:pt x="23812" y="90078"/>
                  <a:pt x="42453" y="71438"/>
                  <a:pt x="65484" y="71438"/>
                </a:cubicBezTo>
                <a:cubicBezTo>
                  <a:pt x="81521" y="71438"/>
                  <a:pt x="95436" y="80479"/>
                  <a:pt x="102394" y="93762"/>
                </a:cubicBezTo>
                <a:cubicBezTo>
                  <a:pt x="107863" y="87399"/>
                  <a:pt x="115974" y="83344"/>
                  <a:pt x="125016" y="83344"/>
                </a:cubicBezTo>
                <a:cubicBezTo>
                  <a:pt x="141461" y="83344"/>
                  <a:pt x="154781" y="96664"/>
                  <a:pt x="154781" y="113109"/>
                </a:cubicBezTo>
                <a:cubicBezTo>
                  <a:pt x="154781" y="115156"/>
                  <a:pt x="154558" y="117128"/>
                  <a:pt x="154186" y="119063"/>
                </a:cubicBezTo>
                <a:cubicBezTo>
                  <a:pt x="154372" y="119063"/>
                  <a:pt x="154595" y="119063"/>
                  <a:pt x="154781" y="119063"/>
                </a:cubicBezTo>
                <a:cubicBezTo>
                  <a:pt x="174501" y="119063"/>
                  <a:pt x="190500" y="135062"/>
                  <a:pt x="190500" y="154781"/>
                </a:cubicBezTo>
                <a:cubicBezTo>
                  <a:pt x="190500" y="174501"/>
                  <a:pt x="174501" y="190500"/>
                  <a:pt x="154781" y="190500"/>
                </a:cubicBezTo>
                <a:lnTo>
                  <a:pt x="35719" y="190500"/>
                </a:lnTo>
                <a:close/>
              </a:path>
            </a:pathLst>
          </a:custGeom>
          <a:solidFill>
            <a:srgbClr val="F4F7F6"/>
          </a:solidFill>
        </p:spPr>
      </p:sp>
      <p:sp>
        <p:nvSpPr>
          <p:cNvPr id="9" name="Text 6"/>
          <p:cNvSpPr/>
          <p:nvPr/>
        </p:nvSpPr>
        <p:spPr>
          <a:xfrm>
            <a:off x="6057801" y="1295135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智能天气获取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384" y="1828521"/>
            <a:ext cx="62103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系统在病害识别前会优先自动获取本地天气信息，为后续AI分析提供关键的环境数据支撑。当定位失败时，用户也可以手动输入城市名称，确保环境建议的完整性。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384" y="2476007"/>
            <a:ext cx="3009900" cy="647700"/>
          </a:xfrm>
          <a:custGeom>
            <a:avLst/>
            <a:gdLst/>
            <a:ahLst/>
            <a:cxnLst/>
            <a:rect l="l" t="t" r="r" b="b"/>
            <a:pathLst>
              <a:path w="3009900" h="647700">
                <a:moveTo>
                  <a:pt x="76202" y="0"/>
                </a:moveTo>
                <a:lnTo>
                  <a:pt x="2933698" y="0"/>
                </a:lnTo>
                <a:cubicBezTo>
                  <a:pt x="2975783" y="0"/>
                  <a:pt x="3009900" y="34117"/>
                  <a:pt x="3009900" y="76202"/>
                </a:cubicBezTo>
                <a:lnTo>
                  <a:pt x="3009900" y="571498"/>
                </a:lnTo>
                <a:cubicBezTo>
                  <a:pt x="3009900" y="613583"/>
                  <a:pt x="2975783" y="647700"/>
                  <a:pt x="29336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2A574A">
              <a:alpha val="5098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5619701" y="271404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0031" y="25282"/>
                </a:moveTo>
                <a:cubicBezTo>
                  <a:pt x="161538" y="21331"/>
                  <a:pt x="160600" y="16844"/>
                  <a:pt x="157620" y="13863"/>
                </a:cubicBezTo>
                <a:cubicBezTo>
                  <a:pt x="154640" y="10883"/>
                  <a:pt x="150153" y="9912"/>
                  <a:pt x="146201" y="11452"/>
                </a:cubicBezTo>
                <a:lnTo>
                  <a:pt x="6898" y="65030"/>
                </a:lnTo>
                <a:cubicBezTo>
                  <a:pt x="2645" y="66638"/>
                  <a:pt x="-100" y="70723"/>
                  <a:pt x="0" y="75244"/>
                </a:cubicBezTo>
                <a:cubicBezTo>
                  <a:pt x="100" y="79764"/>
                  <a:pt x="3047" y="83749"/>
                  <a:pt x="7334" y="85156"/>
                </a:cubicBezTo>
                <a:lnTo>
                  <a:pt x="66537" y="104879"/>
                </a:lnTo>
                <a:lnTo>
                  <a:pt x="86261" y="164083"/>
                </a:lnTo>
                <a:cubicBezTo>
                  <a:pt x="87701" y="168369"/>
                  <a:pt x="91652" y="171316"/>
                  <a:pt x="96173" y="171417"/>
                </a:cubicBezTo>
                <a:cubicBezTo>
                  <a:pt x="100693" y="171517"/>
                  <a:pt x="104779" y="168771"/>
                  <a:pt x="106420" y="164552"/>
                </a:cubicBezTo>
                <a:lnTo>
                  <a:pt x="159998" y="25249"/>
                </a:lnTo>
                <a:close/>
              </a:path>
            </a:pathLst>
          </a:custGeom>
          <a:solidFill>
            <a:srgbClr val="2A574A"/>
          </a:solidFill>
        </p:spPr>
      </p:sp>
      <p:sp>
        <p:nvSpPr>
          <p:cNvPr id="13" name="Text 10"/>
          <p:cNvSpPr/>
          <p:nvPr/>
        </p:nvSpPr>
        <p:spPr>
          <a:xfrm>
            <a:off x="5891031" y="2590274"/>
            <a:ext cx="1400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自动定位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891031" y="2818805"/>
            <a:ext cx="1390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基于GPS自动获取位置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610534" y="2476007"/>
            <a:ext cx="3009900" cy="647700"/>
          </a:xfrm>
          <a:custGeom>
            <a:avLst/>
            <a:gdLst/>
            <a:ahLst/>
            <a:cxnLst/>
            <a:rect l="l" t="t" r="r" b="b"/>
            <a:pathLst>
              <a:path w="3009900" h="647700">
                <a:moveTo>
                  <a:pt x="76202" y="0"/>
                </a:moveTo>
                <a:lnTo>
                  <a:pt x="2933698" y="0"/>
                </a:lnTo>
                <a:cubicBezTo>
                  <a:pt x="2975783" y="0"/>
                  <a:pt x="3009900" y="34117"/>
                  <a:pt x="3009900" y="76202"/>
                </a:cubicBezTo>
                <a:lnTo>
                  <a:pt x="3009900" y="571498"/>
                </a:lnTo>
                <a:cubicBezTo>
                  <a:pt x="3009900" y="613583"/>
                  <a:pt x="2975783" y="647700"/>
                  <a:pt x="29336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8AA39B">
              <a:alpha val="5098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8733136" y="2714048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21431" y="21431"/>
                </a:moveTo>
                <a:cubicBezTo>
                  <a:pt x="9611" y="21431"/>
                  <a:pt x="0" y="31042"/>
                  <a:pt x="0" y="42863"/>
                </a:cubicBezTo>
                <a:lnTo>
                  <a:pt x="0" y="128588"/>
                </a:lnTo>
                <a:cubicBezTo>
                  <a:pt x="0" y="140408"/>
                  <a:pt x="9611" y="150019"/>
                  <a:pt x="21431" y="150019"/>
                </a:cubicBezTo>
                <a:lnTo>
                  <a:pt x="171450" y="150019"/>
                </a:lnTo>
                <a:cubicBezTo>
                  <a:pt x="183271" y="150019"/>
                  <a:pt x="192881" y="140408"/>
                  <a:pt x="192881" y="128588"/>
                </a:cubicBezTo>
                <a:lnTo>
                  <a:pt x="192881" y="42863"/>
                </a:lnTo>
                <a:cubicBezTo>
                  <a:pt x="192881" y="31042"/>
                  <a:pt x="183271" y="21431"/>
                  <a:pt x="171450" y="21431"/>
                </a:cubicBezTo>
                <a:lnTo>
                  <a:pt x="21431" y="21431"/>
                </a:lnTo>
                <a:close/>
                <a:moveTo>
                  <a:pt x="26789" y="42863"/>
                </a:moveTo>
                <a:lnTo>
                  <a:pt x="37505" y="42863"/>
                </a:lnTo>
                <a:cubicBezTo>
                  <a:pt x="40451" y="42863"/>
                  <a:pt x="42863" y="45274"/>
                  <a:pt x="42863" y="48220"/>
                </a:cubicBezTo>
                <a:lnTo>
                  <a:pt x="42863" y="58936"/>
                </a:lnTo>
                <a:cubicBezTo>
                  <a:pt x="42863" y="61883"/>
                  <a:pt x="40451" y="64294"/>
                  <a:pt x="37505" y="64294"/>
                </a:cubicBezTo>
                <a:lnTo>
                  <a:pt x="26789" y="64294"/>
                </a:lnTo>
                <a:cubicBezTo>
                  <a:pt x="23842" y="64294"/>
                  <a:pt x="21431" y="61883"/>
                  <a:pt x="21431" y="58936"/>
                </a:cubicBezTo>
                <a:lnTo>
                  <a:pt x="21431" y="48220"/>
                </a:lnTo>
                <a:cubicBezTo>
                  <a:pt x="21431" y="45274"/>
                  <a:pt x="23842" y="42863"/>
                  <a:pt x="26789" y="42863"/>
                </a:cubicBezTo>
                <a:close/>
                <a:moveTo>
                  <a:pt x="21431" y="80367"/>
                </a:moveTo>
                <a:cubicBezTo>
                  <a:pt x="21431" y="77420"/>
                  <a:pt x="23842" y="75009"/>
                  <a:pt x="26789" y="75009"/>
                </a:cubicBezTo>
                <a:lnTo>
                  <a:pt x="37505" y="75009"/>
                </a:lnTo>
                <a:cubicBezTo>
                  <a:pt x="40451" y="75009"/>
                  <a:pt x="42863" y="77420"/>
                  <a:pt x="42863" y="80367"/>
                </a:cubicBezTo>
                <a:lnTo>
                  <a:pt x="42863" y="91083"/>
                </a:lnTo>
                <a:cubicBezTo>
                  <a:pt x="42863" y="94030"/>
                  <a:pt x="40451" y="96441"/>
                  <a:pt x="37505" y="96441"/>
                </a:cubicBezTo>
                <a:lnTo>
                  <a:pt x="26789" y="96441"/>
                </a:lnTo>
                <a:cubicBezTo>
                  <a:pt x="23842" y="96441"/>
                  <a:pt x="21431" y="94030"/>
                  <a:pt x="21431" y="91083"/>
                </a:cubicBezTo>
                <a:lnTo>
                  <a:pt x="21431" y="80367"/>
                </a:lnTo>
                <a:close/>
                <a:moveTo>
                  <a:pt x="58936" y="42863"/>
                </a:moveTo>
                <a:lnTo>
                  <a:pt x="69652" y="42863"/>
                </a:lnTo>
                <a:cubicBezTo>
                  <a:pt x="72598" y="42863"/>
                  <a:pt x="75009" y="45274"/>
                  <a:pt x="75009" y="48220"/>
                </a:cubicBezTo>
                <a:lnTo>
                  <a:pt x="75009" y="58936"/>
                </a:lnTo>
                <a:cubicBezTo>
                  <a:pt x="75009" y="61883"/>
                  <a:pt x="72598" y="64294"/>
                  <a:pt x="69652" y="64294"/>
                </a:cubicBezTo>
                <a:lnTo>
                  <a:pt x="58936" y="64294"/>
                </a:lnTo>
                <a:cubicBezTo>
                  <a:pt x="55989" y="64294"/>
                  <a:pt x="53578" y="61883"/>
                  <a:pt x="53578" y="58936"/>
                </a:cubicBezTo>
                <a:lnTo>
                  <a:pt x="53578" y="48220"/>
                </a:lnTo>
                <a:cubicBezTo>
                  <a:pt x="53578" y="45274"/>
                  <a:pt x="55989" y="42863"/>
                  <a:pt x="58936" y="42863"/>
                </a:cubicBezTo>
                <a:close/>
                <a:moveTo>
                  <a:pt x="53578" y="80367"/>
                </a:moveTo>
                <a:cubicBezTo>
                  <a:pt x="53578" y="77420"/>
                  <a:pt x="55989" y="75009"/>
                  <a:pt x="58936" y="75009"/>
                </a:cubicBezTo>
                <a:lnTo>
                  <a:pt x="69652" y="75009"/>
                </a:lnTo>
                <a:cubicBezTo>
                  <a:pt x="72598" y="75009"/>
                  <a:pt x="75009" y="77420"/>
                  <a:pt x="75009" y="80367"/>
                </a:cubicBezTo>
                <a:lnTo>
                  <a:pt x="75009" y="91083"/>
                </a:lnTo>
                <a:cubicBezTo>
                  <a:pt x="75009" y="94030"/>
                  <a:pt x="72598" y="96441"/>
                  <a:pt x="69652" y="96441"/>
                </a:cubicBezTo>
                <a:lnTo>
                  <a:pt x="58936" y="96441"/>
                </a:lnTo>
                <a:cubicBezTo>
                  <a:pt x="55989" y="96441"/>
                  <a:pt x="53578" y="94030"/>
                  <a:pt x="53578" y="91083"/>
                </a:cubicBezTo>
                <a:lnTo>
                  <a:pt x="53578" y="80367"/>
                </a:lnTo>
                <a:close/>
                <a:moveTo>
                  <a:pt x="58936" y="107156"/>
                </a:moveTo>
                <a:lnTo>
                  <a:pt x="133945" y="107156"/>
                </a:lnTo>
                <a:cubicBezTo>
                  <a:pt x="136892" y="107156"/>
                  <a:pt x="139303" y="109567"/>
                  <a:pt x="139303" y="112514"/>
                </a:cubicBezTo>
                <a:lnTo>
                  <a:pt x="139303" y="123230"/>
                </a:lnTo>
                <a:cubicBezTo>
                  <a:pt x="139303" y="126176"/>
                  <a:pt x="136892" y="128588"/>
                  <a:pt x="133945" y="128588"/>
                </a:cubicBezTo>
                <a:lnTo>
                  <a:pt x="58936" y="128588"/>
                </a:lnTo>
                <a:cubicBezTo>
                  <a:pt x="55989" y="128588"/>
                  <a:pt x="53578" y="126176"/>
                  <a:pt x="53578" y="123230"/>
                </a:cubicBezTo>
                <a:lnTo>
                  <a:pt x="53578" y="112514"/>
                </a:lnTo>
                <a:cubicBezTo>
                  <a:pt x="53578" y="109567"/>
                  <a:pt x="55989" y="107156"/>
                  <a:pt x="58936" y="107156"/>
                </a:cubicBezTo>
                <a:close/>
                <a:moveTo>
                  <a:pt x="85725" y="48220"/>
                </a:moveTo>
                <a:cubicBezTo>
                  <a:pt x="85725" y="45274"/>
                  <a:pt x="88136" y="42863"/>
                  <a:pt x="91083" y="42863"/>
                </a:cubicBezTo>
                <a:lnTo>
                  <a:pt x="101798" y="42863"/>
                </a:lnTo>
                <a:cubicBezTo>
                  <a:pt x="104745" y="42863"/>
                  <a:pt x="107156" y="45274"/>
                  <a:pt x="107156" y="48220"/>
                </a:cubicBezTo>
                <a:lnTo>
                  <a:pt x="107156" y="58936"/>
                </a:lnTo>
                <a:cubicBezTo>
                  <a:pt x="107156" y="61883"/>
                  <a:pt x="104745" y="64294"/>
                  <a:pt x="101798" y="64294"/>
                </a:cubicBezTo>
                <a:lnTo>
                  <a:pt x="91083" y="64294"/>
                </a:lnTo>
                <a:cubicBezTo>
                  <a:pt x="88136" y="64294"/>
                  <a:pt x="85725" y="61883"/>
                  <a:pt x="85725" y="58936"/>
                </a:cubicBezTo>
                <a:lnTo>
                  <a:pt x="85725" y="48220"/>
                </a:lnTo>
                <a:close/>
                <a:moveTo>
                  <a:pt x="91083" y="75009"/>
                </a:moveTo>
                <a:lnTo>
                  <a:pt x="101798" y="75009"/>
                </a:lnTo>
                <a:cubicBezTo>
                  <a:pt x="104745" y="75009"/>
                  <a:pt x="107156" y="77420"/>
                  <a:pt x="107156" y="80367"/>
                </a:cubicBezTo>
                <a:lnTo>
                  <a:pt x="107156" y="91083"/>
                </a:lnTo>
                <a:cubicBezTo>
                  <a:pt x="107156" y="94030"/>
                  <a:pt x="104745" y="96441"/>
                  <a:pt x="101798" y="96441"/>
                </a:cubicBezTo>
                <a:lnTo>
                  <a:pt x="91083" y="96441"/>
                </a:lnTo>
                <a:cubicBezTo>
                  <a:pt x="88136" y="96441"/>
                  <a:pt x="85725" y="94030"/>
                  <a:pt x="85725" y="91083"/>
                </a:cubicBezTo>
                <a:lnTo>
                  <a:pt x="85725" y="80367"/>
                </a:lnTo>
                <a:cubicBezTo>
                  <a:pt x="85725" y="77420"/>
                  <a:pt x="88136" y="75009"/>
                  <a:pt x="91083" y="75009"/>
                </a:cubicBezTo>
                <a:close/>
                <a:moveTo>
                  <a:pt x="117872" y="48220"/>
                </a:moveTo>
                <a:cubicBezTo>
                  <a:pt x="117872" y="45274"/>
                  <a:pt x="120283" y="42863"/>
                  <a:pt x="123230" y="42863"/>
                </a:cubicBezTo>
                <a:lnTo>
                  <a:pt x="133945" y="42863"/>
                </a:lnTo>
                <a:cubicBezTo>
                  <a:pt x="136892" y="42863"/>
                  <a:pt x="139303" y="45274"/>
                  <a:pt x="139303" y="48220"/>
                </a:cubicBezTo>
                <a:lnTo>
                  <a:pt x="139303" y="58936"/>
                </a:lnTo>
                <a:cubicBezTo>
                  <a:pt x="139303" y="61883"/>
                  <a:pt x="136892" y="64294"/>
                  <a:pt x="133945" y="64294"/>
                </a:cubicBezTo>
                <a:lnTo>
                  <a:pt x="123230" y="64294"/>
                </a:lnTo>
                <a:cubicBezTo>
                  <a:pt x="120283" y="64294"/>
                  <a:pt x="117872" y="61883"/>
                  <a:pt x="117872" y="58936"/>
                </a:cubicBezTo>
                <a:lnTo>
                  <a:pt x="117872" y="48220"/>
                </a:lnTo>
                <a:close/>
                <a:moveTo>
                  <a:pt x="123230" y="75009"/>
                </a:moveTo>
                <a:lnTo>
                  <a:pt x="133945" y="75009"/>
                </a:lnTo>
                <a:cubicBezTo>
                  <a:pt x="136892" y="75009"/>
                  <a:pt x="139303" y="77420"/>
                  <a:pt x="139303" y="80367"/>
                </a:cubicBezTo>
                <a:lnTo>
                  <a:pt x="139303" y="91083"/>
                </a:lnTo>
                <a:cubicBezTo>
                  <a:pt x="139303" y="94030"/>
                  <a:pt x="136892" y="96441"/>
                  <a:pt x="133945" y="96441"/>
                </a:cubicBezTo>
                <a:lnTo>
                  <a:pt x="123230" y="96441"/>
                </a:lnTo>
                <a:cubicBezTo>
                  <a:pt x="120283" y="96441"/>
                  <a:pt x="117872" y="94030"/>
                  <a:pt x="117872" y="91083"/>
                </a:cubicBezTo>
                <a:lnTo>
                  <a:pt x="117872" y="80367"/>
                </a:lnTo>
                <a:cubicBezTo>
                  <a:pt x="117872" y="77420"/>
                  <a:pt x="120283" y="75009"/>
                  <a:pt x="123230" y="75009"/>
                </a:cubicBezTo>
                <a:close/>
                <a:moveTo>
                  <a:pt x="150019" y="48220"/>
                </a:moveTo>
                <a:cubicBezTo>
                  <a:pt x="150019" y="45274"/>
                  <a:pt x="152430" y="42863"/>
                  <a:pt x="155377" y="42863"/>
                </a:cubicBezTo>
                <a:lnTo>
                  <a:pt x="166092" y="42863"/>
                </a:lnTo>
                <a:cubicBezTo>
                  <a:pt x="169039" y="42863"/>
                  <a:pt x="171450" y="45274"/>
                  <a:pt x="171450" y="48220"/>
                </a:cubicBezTo>
                <a:lnTo>
                  <a:pt x="171450" y="58936"/>
                </a:lnTo>
                <a:cubicBezTo>
                  <a:pt x="171450" y="61883"/>
                  <a:pt x="169039" y="64294"/>
                  <a:pt x="166092" y="64294"/>
                </a:cubicBezTo>
                <a:lnTo>
                  <a:pt x="155377" y="64294"/>
                </a:lnTo>
                <a:cubicBezTo>
                  <a:pt x="152430" y="64294"/>
                  <a:pt x="150019" y="61883"/>
                  <a:pt x="150019" y="58936"/>
                </a:cubicBezTo>
                <a:lnTo>
                  <a:pt x="150019" y="48220"/>
                </a:lnTo>
                <a:close/>
                <a:moveTo>
                  <a:pt x="155377" y="75009"/>
                </a:moveTo>
                <a:lnTo>
                  <a:pt x="166092" y="75009"/>
                </a:lnTo>
                <a:cubicBezTo>
                  <a:pt x="169039" y="75009"/>
                  <a:pt x="171450" y="77420"/>
                  <a:pt x="171450" y="80367"/>
                </a:cubicBezTo>
                <a:lnTo>
                  <a:pt x="171450" y="91083"/>
                </a:lnTo>
                <a:cubicBezTo>
                  <a:pt x="171450" y="94030"/>
                  <a:pt x="169039" y="96441"/>
                  <a:pt x="166092" y="96441"/>
                </a:cubicBezTo>
                <a:lnTo>
                  <a:pt x="155377" y="96441"/>
                </a:lnTo>
                <a:cubicBezTo>
                  <a:pt x="152430" y="96441"/>
                  <a:pt x="150019" y="94030"/>
                  <a:pt x="150019" y="91083"/>
                </a:cubicBezTo>
                <a:lnTo>
                  <a:pt x="150019" y="80367"/>
                </a:lnTo>
                <a:cubicBezTo>
                  <a:pt x="150019" y="77420"/>
                  <a:pt x="152430" y="75009"/>
                  <a:pt x="155377" y="75009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17" name="Text 14"/>
          <p:cNvSpPr/>
          <p:nvPr/>
        </p:nvSpPr>
        <p:spPr>
          <a:xfrm>
            <a:off x="9015182" y="259027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手动输入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015182" y="2818805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支持城市名称输入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95884" y="3466458"/>
            <a:ext cx="6515100" cy="3009900"/>
          </a:xfrm>
          <a:custGeom>
            <a:avLst/>
            <a:gdLst/>
            <a:ahLst/>
            <a:cxnLst/>
            <a:rect l="l" t="t" r="r" b="b"/>
            <a:pathLst>
              <a:path w="6515100" h="3009900">
                <a:moveTo>
                  <a:pt x="114286" y="0"/>
                </a:moveTo>
                <a:lnTo>
                  <a:pt x="6400814" y="0"/>
                </a:lnTo>
                <a:cubicBezTo>
                  <a:pt x="6463932" y="0"/>
                  <a:pt x="6515100" y="51168"/>
                  <a:pt x="6515100" y="114286"/>
                </a:cubicBezTo>
                <a:lnTo>
                  <a:pt x="6515100" y="2895614"/>
                </a:lnTo>
                <a:cubicBezTo>
                  <a:pt x="6515100" y="2958732"/>
                  <a:pt x="6463932" y="3009900"/>
                  <a:pt x="6400814" y="3009900"/>
                </a:cubicBezTo>
                <a:lnTo>
                  <a:pt x="114286" y="3009900"/>
                </a:lnTo>
                <a:cubicBezTo>
                  <a:pt x="51168" y="3009900"/>
                  <a:pt x="0" y="2958732"/>
                  <a:pt x="0" y="2895614"/>
                </a:cubicBezTo>
                <a:lnTo>
                  <a:pt x="0" y="114286"/>
                </a:lnTo>
                <a:cubicBezTo>
                  <a:pt x="0" y="51168"/>
                  <a:pt x="51168" y="0"/>
                  <a:pt x="114286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20" name="Shape 17"/>
          <p:cNvSpPr/>
          <p:nvPr/>
        </p:nvSpPr>
        <p:spPr>
          <a:xfrm>
            <a:off x="5514959" y="36949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1" name="Text 18"/>
          <p:cNvSpPr/>
          <p:nvPr/>
        </p:nvSpPr>
        <p:spPr>
          <a:xfrm>
            <a:off x="5886318" y="3656958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天气数据维度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384" y="4114107"/>
            <a:ext cx="1971675" cy="990600"/>
          </a:xfrm>
          <a:custGeom>
            <a:avLst/>
            <a:gdLst/>
            <a:ahLst/>
            <a:cxnLst/>
            <a:rect l="l" t="t" r="r" b="b"/>
            <a:pathLst>
              <a:path w="1971675" h="990600">
                <a:moveTo>
                  <a:pt x="76197" y="0"/>
                </a:moveTo>
                <a:lnTo>
                  <a:pt x="1895478" y="0"/>
                </a:lnTo>
                <a:cubicBezTo>
                  <a:pt x="1937560" y="0"/>
                  <a:pt x="1971675" y="34115"/>
                  <a:pt x="1971675" y="76197"/>
                </a:cubicBezTo>
                <a:lnTo>
                  <a:pt x="1971675" y="914403"/>
                </a:lnTo>
                <a:cubicBezTo>
                  <a:pt x="1971675" y="956485"/>
                  <a:pt x="1937560" y="990600"/>
                  <a:pt x="18954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</p:spPr>
      </p:sp>
      <p:sp>
        <p:nvSpPr>
          <p:cNvPr id="23" name="Shape 20"/>
          <p:cNvSpPr/>
          <p:nvPr/>
        </p:nvSpPr>
        <p:spPr>
          <a:xfrm>
            <a:off x="6384909" y="4228374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84207"/>
                </a:moveTo>
                <a:cubicBezTo>
                  <a:pt x="0" y="37683"/>
                  <a:pt x="38398" y="0"/>
                  <a:pt x="85725" y="0"/>
                </a:cubicBezTo>
                <a:cubicBezTo>
                  <a:pt x="133052" y="0"/>
                  <a:pt x="171450" y="37683"/>
                  <a:pt x="171450" y="84207"/>
                </a:cubicBezTo>
                <a:cubicBezTo>
                  <a:pt x="171450" y="137473"/>
                  <a:pt x="117783" y="201320"/>
                  <a:pt x="95369" y="225653"/>
                </a:cubicBezTo>
                <a:cubicBezTo>
                  <a:pt x="90101" y="231368"/>
                  <a:pt x="81305" y="231368"/>
                  <a:pt x="76036" y="225653"/>
                </a:cubicBezTo>
                <a:cubicBezTo>
                  <a:pt x="53623" y="201320"/>
                  <a:pt x="-45" y="137473"/>
                  <a:pt x="-45" y="84207"/>
                </a:cubicBezTo>
                <a:close/>
                <a:moveTo>
                  <a:pt x="85725" y="114300"/>
                </a:moveTo>
                <a:cubicBezTo>
                  <a:pt x="101496" y="114300"/>
                  <a:pt x="114300" y="101496"/>
                  <a:pt x="114300" y="85725"/>
                </a:cubicBezTo>
                <a:cubicBezTo>
                  <a:pt x="114300" y="69954"/>
                  <a:pt x="101496" y="57150"/>
                  <a:pt x="85725" y="57150"/>
                </a:cubicBezTo>
                <a:cubicBezTo>
                  <a:pt x="69954" y="57150"/>
                  <a:pt x="57150" y="69954"/>
                  <a:pt x="57150" y="85725"/>
                </a:cubicBezTo>
                <a:cubicBezTo>
                  <a:pt x="57150" y="101496"/>
                  <a:pt x="69954" y="114300"/>
                  <a:pt x="85725" y="11430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4" name="Text 21"/>
          <p:cNvSpPr/>
          <p:nvPr/>
        </p:nvSpPr>
        <p:spPr>
          <a:xfrm>
            <a:off x="5562551" y="4533142"/>
            <a:ext cx="1819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位置信息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567313" y="4799707"/>
            <a:ext cx="1809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自动定位/手动输入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569151" y="4114107"/>
            <a:ext cx="1971675" cy="990600"/>
          </a:xfrm>
          <a:custGeom>
            <a:avLst/>
            <a:gdLst/>
            <a:ahLst/>
            <a:cxnLst/>
            <a:rect l="l" t="t" r="r" b="b"/>
            <a:pathLst>
              <a:path w="1971675" h="990600">
                <a:moveTo>
                  <a:pt x="76197" y="0"/>
                </a:moveTo>
                <a:lnTo>
                  <a:pt x="1895478" y="0"/>
                </a:lnTo>
                <a:cubicBezTo>
                  <a:pt x="1937560" y="0"/>
                  <a:pt x="1971675" y="34115"/>
                  <a:pt x="1971675" y="76197"/>
                </a:cubicBezTo>
                <a:lnTo>
                  <a:pt x="1971675" y="914403"/>
                </a:lnTo>
                <a:cubicBezTo>
                  <a:pt x="1971675" y="956485"/>
                  <a:pt x="1937560" y="990600"/>
                  <a:pt x="18954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</p:spPr>
      </p:sp>
      <p:sp>
        <p:nvSpPr>
          <p:cNvPr id="27" name="Shape 24"/>
          <p:cNvSpPr/>
          <p:nvPr/>
        </p:nvSpPr>
        <p:spPr>
          <a:xfrm>
            <a:off x="8424813" y="422837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150019"/>
                </a:moveTo>
                <a:cubicBezTo>
                  <a:pt x="0" y="185514"/>
                  <a:pt x="28798" y="214313"/>
                  <a:pt x="64294" y="214313"/>
                </a:cubicBezTo>
                <a:lnTo>
                  <a:pt x="200025" y="214313"/>
                </a:lnTo>
                <a:cubicBezTo>
                  <a:pt x="231591" y="214313"/>
                  <a:pt x="257175" y="188729"/>
                  <a:pt x="257175" y="157163"/>
                </a:cubicBezTo>
                <a:cubicBezTo>
                  <a:pt x="257175" y="134124"/>
                  <a:pt x="243557" y="114255"/>
                  <a:pt x="223912" y="105236"/>
                </a:cubicBezTo>
                <a:cubicBezTo>
                  <a:pt x="226903" y="99387"/>
                  <a:pt x="228600" y="92735"/>
                  <a:pt x="228600" y="85725"/>
                </a:cubicBezTo>
                <a:cubicBezTo>
                  <a:pt x="228600" y="62061"/>
                  <a:pt x="209401" y="42863"/>
                  <a:pt x="185738" y="42863"/>
                </a:cubicBezTo>
                <a:cubicBezTo>
                  <a:pt x="177835" y="42863"/>
                  <a:pt x="170468" y="45006"/>
                  <a:pt x="164128" y="48711"/>
                </a:cubicBezTo>
                <a:cubicBezTo>
                  <a:pt x="153367" y="28262"/>
                  <a:pt x="131891" y="14288"/>
                  <a:pt x="107156" y="14288"/>
                </a:cubicBezTo>
                <a:cubicBezTo>
                  <a:pt x="71661" y="14288"/>
                  <a:pt x="42863" y="43086"/>
                  <a:pt x="42863" y="78581"/>
                </a:cubicBezTo>
                <a:cubicBezTo>
                  <a:pt x="42863" y="82153"/>
                  <a:pt x="43175" y="85680"/>
                  <a:pt x="43711" y="89074"/>
                </a:cubicBezTo>
                <a:cubicBezTo>
                  <a:pt x="18306" y="97646"/>
                  <a:pt x="0" y="121712"/>
                  <a:pt x="0" y="150019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8" name="Text 25"/>
          <p:cNvSpPr/>
          <p:nvPr/>
        </p:nvSpPr>
        <p:spPr>
          <a:xfrm>
            <a:off x="7645318" y="4533142"/>
            <a:ext cx="1819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当前天气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50080" y="4799707"/>
            <a:ext cx="1809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实时天气状况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651918" y="4114107"/>
            <a:ext cx="1971675" cy="990600"/>
          </a:xfrm>
          <a:custGeom>
            <a:avLst/>
            <a:gdLst/>
            <a:ahLst/>
            <a:cxnLst/>
            <a:rect l="l" t="t" r="r" b="b"/>
            <a:pathLst>
              <a:path w="1971675" h="990600">
                <a:moveTo>
                  <a:pt x="76197" y="0"/>
                </a:moveTo>
                <a:lnTo>
                  <a:pt x="1895478" y="0"/>
                </a:lnTo>
                <a:cubicBezTo>
                  <a:pt x="1937560" y="0"/>
                  <a:pt x="1971675" y="34115"/>
                  <a:pt x="1971675" y="76197"/>
                </a:cubicBezTo>
                <a:lnTo>
                  <a:pt x="1971675" y="914403"/>
                </a:lnTo>
                <a:cubicBezTo>
                  <a:pt x="1971675" y="956485"/>
                  <a:pt x="1937560" y="990600"/>
                  <a:pt x="18954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</p:spPr>
      </p:sp>
      <p:sp>
        <p:nvSpPr>
          <p:cNvPr id="31" name="Shape 28"/>
          <p:cNvSpPr/>
          <p:nvPr/>
        </p:nvSpPr>
        <p:spPr>
          <a:xfrm>
            <a:off x="10564813" y="4228374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71438" y="0"/>
                </a:moveTo>
                <a:cubicBezTo>
                  <a:pt x="47774" y="0"/>
                  <a:pt x="28575" y="19199"/>
                  <a:pt x="28575" y="42863"/>
                </a:cubicBezTo>
                <a:lnTo>
                  <a:pt x="28575" y="116398"/>
                </a:lnTo>
                <a:cubicBezTo>
                  <a:pt x="15404" y="128141"/>
                  <a:pt x="7144" y="145286"/>
                  <a:pt x="7144" y="164306"/>
                </a:cubicBezTo>
                <a:cubicBezTo>
                  <a:pt x="7144" y="199802"/>
                  <a:pt x="35942" y="228600"/>
                  <a:pt x="71438" y="228600"/>
                </a:cubicBezTo>
                <a:cubicBezTo>
                  <a:pt x="106933" y="228600"/>
                  <a:pt x="135731" y="199802"/>
                  <a:pt x="135731" y="164306"/>
                </a:cubicBezTo>
                <a:cubicBezTo>
                  <a:pt x="135731" y="145286"/>
                  <a:pt x="127471" y="128141"/>
                  <a:pt x="114300" y="116398"/>
                </a:cubicBezTo>
                <a:lnTo>
                  <a:pt x="114300" y="42863"/>
                </a:lnTo>
                <a:cubicBezTo>
                  <a:pt x="114300" y="19199"/>
                  <a:pt x="95101" y="0"/>
                  <a:pt x="71438" y="0"/>
                </a:cubicBezTo>
                <a:close/>
                <a:moveTo>
                  <a:pt x="100013" y="164306"/>
                </a:moveTo>
                <a:cubicBezTo>
                  <a:pt x="100013" y="180067"/>
                  <a:pt x="87198" y="192881"/>
                  <a:pt x="71438" y="192881"/>
                </a:cubicBezTo>
                <a:cubicBezTo>
                  <a:pt x="55677" y="192881"/>
                  <a:pt x="42863" y="180067"/>
                  <a:pt x="42863" y="164306"/>
                </a:cubicBezTo>
                <a:cubicBezTo>
                  <a:pt x="42863" y="152296"/>
                  <a:pt x="50229" y="142027"/>
                  <a:pt x="60722" y="137830"/>
                </a:cubicBezTo>
                <a:lnTo>
                  <a:pt x="60722" y="96441"/>
                </a:lnTo>
                <a:cubicBezTo>
                  <a:pt x="60722" y="90502"/>
                  <a:pt x="65499" y="85725"/>
                  <a:pt x="71438" y="85725"/>
                </a:cubicBezTo>
                <a:cubicBezTo>
                  <a:pt x="77376" y="85725"/>
                  <a:pt x="82153" y="90502"/>
                  <a:pt x="82153" y="96441"/>
                </a:cubicBezTo>
                <a:lnTo>
                  <a:pt x="82153" y="137830"/>
                </a:lnTo>
                <a:cubicBezTo>
                  <a:pt x="92646" y="142071"/>
                  <a:pt x="100013" y="152340"/>
                  <a:pt x="100013" y="164306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32" name="Text 29"/>
          <p:cNvSpPr/>
          <p:nvPr/>
        </p:nvSpPr>
        <p:spPr>
          <a:xfrm>
            <a:off x="9728085" y="4533142"/>
            <a:ext cx="1819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温度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732848" y="4799707"/>
            <a:ext cx="1809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实时温度数据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486384" y="5218742"/>
            <a:ext cx="1971675" cy="990600"/>
          </a:xfrm>
          <a:custGeom>
            <a:avLst/>
            <a:gdLst/>
            <a:ahLst/>
            <a:cxnLst/>
            <a:rect l="l" t="t" r="r" b="b"/>
            <a:pathLst>
              <a:path w="1971675" h="990600">
                <a:moveTo>
                  <a:pt x="76197" y="0"/>
                </a:moveTo>
                <a:lnTo>
                  <a:pt x="1895478" y="0"/>
                </a:lnTo>
                <a:cubicBezTo>
                  <a:pt x="1937560" y="0"/>
                  <a:pt x="1971675" y="34115"/>
                  <a:pt x="1971675" y="76197"/>
                </a:cubicBezTo>
                <a:lnTo>
                  <a:pt x="1971675" y="914403"/>
                </a:lnTo>
                <a:cubicBezTo>
                  <a:pt x="1971675" y="956485"/>
                  <a:pt x="1937560" y="990600"/>
                  <a:pt x="18954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</p:spPr>
      </p:sp>
      <p:sp>
        <p:nvSpPr>
          <p:cNvPr id="35" name="Shape 32"/>
          <p:cNvSpPr/>
          <p:nvPr/>
        </p:nvSpPr>
        <p:spPr>
          <a:xfrm>
            <a:off x="6384909" y="5333009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85725" y="228600"/>
                </a:moveTo>
                <a:cubicBezTo>
                  <a:pt x="38398" y="228600"/>
                  <a:pt x="0" y="190202"/>
                  <a:pt x="0" y="142875"/>
                </a:cubicBezTo>
                <a:cubicBezTo>
                  <a:pt x="0" y="102156"/>
                  <a:pt x="58132" y="20494"/>
                  <a:pt x="74384" y="-1563"/>
                </a:cubicBezTo>
                <a:cubicBezTo>
                  <a:pt x="77019" y="-5135"/>
                  <a:pt x="81171" y="-7144"/>
                  <a:pt x="85636" y="-7144"/>
                </a:cubicBezTo>
                <a:lnTo>
                  <a:pt x="85814" y="-7144"/>
                </a:lnTo>
                <a:cubicBezTo>
                  <a:pt x="90279" y="-7144"/>
                  <a:pt x="94431" y="-5135"/>
                  <a:pt x="97066" y="-1563"/>
                </a:cubicBezTo>
                <a:cubicBezTo>
                  <a:pt x="113318" y="20494"/>
                  <a:pt x="171450" y="102156"/>
                  <a:pt x="171450" y="142875"/>
                </a:cubicBezTo>
                <a:cubicBezTo>
                  <a:pt x="171450" y="190202"/>
                  <a:pt x="133052" y="228600"/>
                  <a:pt x="85725" y="228600"/>
                </a:cubicBezTo>
                <a:close/>
                <a:moveTo>
                  <a:pt x="50006" y="139303"/>
                </a:moveTo>
                <a:cubicBezTo>
                  <a:pt x="50006" y="133365"/>
                  <a:pt x="45229" y="128588"/>
                  <a:pt x="39291" y="128588"/>
                </a:cubicBezTo>
                <a:cubicBezTo>
                  <a:pt x="33352" y="128588"/>
                  <a:pt x="28575" y="133365"/>
                  <a:pt x="28575" y="139303"/>
                </a:cubicBezTo>
                <a:cubicBezTo>
                  <a:pt x="28575" y="172834"/>
                  <a:pt x="55766" y="200025"/>
                  <a:pt x="89297" y="200025"/>
                </a:cubicBezTo>
                <a:cubicBezTo>
                  <a:pt x="95235" y="200025"/>
                  <a:pt x="100013" y="195248"/>
                  <a:pt x="100013" y="189309"/>
                </a:cubicBezTo>
                <a:cubicBezTo>
                  <a:pt x="100013" y="183371"/>
                  <a:pt x="95235" y="178594"/>
                  <a:pt x="89297" y="178594"/>
                </a:cubicBezTo>
                <a:cubicBezTo>
                  <a:pt x="67598" y="178594"/>
                  <a:pt x="50006" y="161002"/>
                  <a:pt x="50006" y="139303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36" name="Text 33"/>
          <p:cNvSpPr/>
          <p:nvPr/>
        </p:nvSpPr>
        <p:spPr>
          <a:xfrm>
            <a:off x="5562551" y="5637777"/>
            <a:ext cx="1819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湿度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567313" y="5904342"/>
            <a:ext cx="1809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相对湿度百分比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569151" y="5218742"/>
            <a:ext cx="1971675" cy="990600"/>
          </a:xfrm>
          <a:custGeom>
            <a:avLst/>
            <a:gdLst/>
            <a:ahLst/>
            <a:cxnLst/>
            <a:rect l="l" t="t" r="r" b="b"/>
            <a:pathLst>
              <a:path w="1971675" h="990600">
                <a:moveTo>
                  <a:pt x="76197" y="0"/>
                </a:moveTo>
                <a:lnTo>
                  <a:pt x="1895478" y="0"/>
                </a:lnTo>
                <a:cubicBezTo>
                  <a:pt x="1937560" y="0"/>
                  <a:pt x="1971675" y="34115"/>
                  <a:pt x="1971675" y="76197"/>
                </a:cubicBezTo>
                <a:lnTo>
                  <a:pt x="1971675" y="914403"/>
                </a:lnTo>
                <a:cubicBezTo>
                  <a:pt x="1971675" y="956485"/>
                  <a:pt x="1937560" y="990600"/>
                  <a:pt x="18954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</p:spPr>
      </p:sp>
      <p:sp>
        <p:nvSpPr>
          <p:cNvPr id="39" name="Shape 36"/>
          <p:cNvSpPr/>
          <p:nvPr/>
        </p:nvSpPr>
        <p:spPr>
          <a:xfrm>
            <a:off x="8439101" y="533300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8588" y="14288"/>
                </a:moveTo>
                <a:cubicBezTo>
                  <a:pt x="128588" y="22190"/>
                  <a:pt x="134972" y="28575"/>
                  <a:pt x="142875" y="28575"/>
                </a:cubicBezTo>
                <a:lnTo>
                  <a:pt x="160734" y="28575"/>
                </a:lnTo>
                <a:cubicBezTo>
                  <a:pt x="166673" y="28575"/>
                  <a:pt x="171450" y="33352"/>
                  <a:pt x="171450" y="39291"/>
                </a:cubicBezTo>
                <a:cubicBezTo>
                  <a:pt x="171450" y="45229"/>
                  <a:pt x="166673" y="50006"/>
                  <a:pt x="160734" y="50006"/>
                </a:cubicBezTo>
                <a:lnTo>
                  <a:pt x="14288" y="50006"/>
                </a:lnTo>
                <a:cubicBezTo>
                  <a:pt x="6385" y="50006"/>
                  <a:pt x="0" y="56391"/>
                  <a:pt x="0" y="64294"/>
                </a:cubicBezTo>
                <a:cubicBezTo>
                  <a:pt x="0" y="72197"/>
                  <a:pt x="6385" y="78581"/>
                  <a:pt x="14288" y="78581"/>
                </a:cubicBezTo>
                <a:lnTo>
                  <a:pt x="160734" y="78581"/>
                </a:lnTo>
                <a:cubicBezTo>
                  <a:pt x="182434" y="78581"/>
                  <a:pt x="200025" y="60990"/>
                  <a:pt x="200025" y="39291"/>
                </a:cubicBezTo>
                <a:cubicBezTo>
                  <a:pt x="200025" y="17591"/>
                  <a:pt x="182434" y="0"/>
                  <a:pt x="160734" y="0"/>
                </a:cubicBezTo>
                <a:lnTo>
                  <a:pt x="142875" y="0"/>
                </a:lnTo>
                <a:cubicBezTo>
                  <a:pt x="134972" y="0"/>
                  <a:pt x="128588" y="6385"/>
                  <a:pt x="128588" y="14288"/>
                </a:cubicBezTo>
                <a:close/>
                <a:moveTo>
                  <a:pt x="157163" y="171450"/>
                </a:moveTo>
                <a:cubicBezTo>
                  <a:pt x="157163" y="179353"/>
                  <a:pt x="163547" y="185738"/>
                  <a:pt x="171450" y="185738"/>
                </a:cubicBezTo>
                <a:lnTo>
                  <a:pt x="185738" y="185738"/>
                </a:lnTo>
                <a:cubicBezTo>
                  <a:pt x="209401" y="185738"/>
                  <a:pt x="228600" y="166539"/>
                  <a:pt x="228600" y="142875"/>
                </a:cubicBezTo>
                <a:cubicBezTo>
                  <a:pt x="228600" y="119211"/>
                  <a:pt x="209401" y="100013"/>
                  <a:pt x="185738" y="100013"/>
                </a:cubicBez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171450" y="157163"/>
                </a:lnTo>
                <a:cubicBezTo>
                  <a:pt x="163547" y="157163"/>
                  <a:pt x="157163" y="163547"/>
                  <a:pt x="157163" y="171450"/>
                </a:cubicBezTo>
                <a:close/>
                <a:moveTo>
                  <a:pt x="57150" y="228600"/>
                </a:moveTo>
                <a:lnTo>
                  <a:pt x="75009" y="228600"/>
                </a:lnTo>
                <a:cubicBezTo>
                  <a:pt x="96709" y="228600"/>
                  <a:pt x="114300" y="211009"/>
                  <a:pt x="114300" y="189309"/>
                </a:cubicBezTo>
                <a:cubicBezTo>
                  <a:pt x="114300" y="167610"/>
                  <a:pt x="96709" y="150019"/>
                  <a:pt x="75009" y="150019"/>
                </a:cubicBezTo>
                <a:lnTo>
                  <a:pt x="14288" y="150019"/>
                </a:lnTo>
                <a:cubicBezTo>
                  <a:pt x="6385" y="150019"/>
                  <a:pt x="0" y="156403"/>
                  <a:pt x="0" y="164306"/>
                </a:cubicBezTo>
                <a:cubicBezTo>
                  <a:pt x="0" y="172209"/>
                  <a:pt x="6385" y="178594"/>
                  <a:pt x="14288" y="178594"/>
                </a:cubicBezTo>
                <a:lnTo>
                  <a:pt x="75009" y="178594"/>
                </a:lnTo>
                <a:cubicBezTo>
                  <a:pt x="80948" y="178594"/>
                  <a:pt x="85725" y="183371"/>
                  <a:pt x="85725" y="189309"/>
                </a:cubicBezTo>
                <a:cubicBezTo>
                  <a:pt x="85725" y="195248"/>
                  <a:pt x="80948" y="200025"/>
                  <a:pt x="75009" y="200025"/>
                </a:cubicBezTo>
                <a:lnTo>
                  <a:pt x="57150" y="200025"/>
                </a:lnTo>
                <a:cubicBezTo>
                  <a:pt x="49247" y="200025"/>
                  <a:pt x="42863" y="206410"/>
                  <a:pt x="42863" y="214313"/>
                </a:cubicBezTo>
                <a:cubicBezTo>
                  <a:pt x="42863" y="222215"/>
                  <a:pt x="49247" y="228600"/>
                  <a:pt x="57150" y="22860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40" name="Text 37"/>
          <p:cNvSpPr/>
          <p:nvPr/>
        </p:nvSpPr>
        <p:spPr>
          <a:xfrm>
            <a:off x="7645318" y="5637777"/>
            <a:ext cx="1819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风速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650080" y="5904342"/>
            <a:ext cx="1809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风速与风向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9651918" y="5218742"/>
            <a:ext cx="1971675" cy="990600"/>
          </a:xfrm>
          <a:custGeom>
            <a:avLst/>
            <a:gdLst/>
            <a:ahLst/>
            <a:cxnLst/>
            <a:rect l="l" t="t" r="r" b="b"/>
            <a:pathLst>
              <a:path w="1971675" h="990600">
                <a:moveTo>
                  <a:pt x="76197" y="0"/>
                </a:moveTo>
                <a:lnTo>
                  <a:pt x="1895478" y="0"/>
                </a:lnTo>
                <a:cubicBezTo>
                  <a:pt x="1937560" y="0"/>
                  <a:pt x="1971675" y="34115"/>
                  <a:pt x="1971675" y="76197"/>
                </a:cubicBezTo>
                <a:lnTo>
                  <a:pt x="1971675" y="914403"/>
                </a:lnTo>
                <a:cubicBezTo>
                  <a:pt x="1971675" y="956485"/>
                  <a:pt x="1937560" y="990600"/>
                  <a:pt x="189547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</p:spPr>
      </p:sp>
      <p:sp>
        <p:nvSpPr>
          <p:cNvPr id="43" name="Shape 40"/>
          <p:cNvSpPr/>
          <p:nvPr/>
        </p:nvSpPr>
        <p:spPr>
          <a:xfrm>
            <a:off x="10507663" y="5333009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-7144"/>
                </a:moveTo>
                <a:cubicBezTo>
                  <a:pt x="136490" y="-7144"/>
                  <a:pt x="142875" y="-759"/>
                  <a:pt x="142875" y="7144"/>
                </a:cubicBezTo>
                <a:lnTo>
                  <a:pt x="142875" y="15314"/>
                </a:lnTo>
                <a:cubicBezTo>
                  <a:pt x="186675" y="21565"/>
                  <a:pt x="221322" y="56212"/>
                  <a:pt x="227573" y="100013"/>
                </a:cubicBezTo>
                <a:lnTo>
                  <a:pt x="235744" y="100013"/>
                </a:lnTo>
                <a:cubicBezTo>
                  <a:pt x="243647" y="100013"/>
                  <a:pt x="250031" y="106397"/>
                  <a:pt x="250031" y="114300"/>
                </a:cubicBezTo>
                <a:cubicBezTo>
                  <a:pt x="250031" y="122203"/>
                  <a:pt x="243647" y="128588"/>
                  <a:pt x="235744" y="128588"/>
                </a:cubicBezTo>
                <a:lnTo>
                  <a:pt x="227573" y="128588"/>
                </a:lnTo>
                <a:cubicBezTo>
                  <a:pt x="221322" y="172388"/>
                  <a:pt x="186675" y="207035"/>
                  <a:pt x="142875" y="213286"/>
                </a:cubicBezTo>
                <a:lnTo>
                  <a:pt x="142875" y="221456"/>
                </a:lnTo>
                <a:cubicBezTo>
                  <a:pt x="142875" y="229359"/>
                  <a:pt x="136490" y="235744"/>
                  <a:pt x="128588" y="235744"/>
                </a:cubicBezTo>
                <a:cubicBezTo>
                  <a:pt x="120685" y="235744"/>
                  <a:pt x="114300" y="229359"/>
                  <a:pt x="114300" y="221456"/>
                </a:cubicBezTo>
                <a:lnTo>
                  <a:pt x="114300" y="213286"/>
                </a:lnTo>
                <a:cubicBezTo>
                  <a:pt x="70500" y="207035"/>
                  <a:pt x="35853" y="172388"/>
                  <a:pt x="29602" y="128588"/>
                </a:cubicBezTo>
                <a:lnTo>
                  <a:pt x="21431" y="128588"/>
                </a:lnTo>
                <a:cubicBezTo>
                  <a:pt x="13528" y="128588"/>
                  <a:pt x="7144" y="122203"/>
                  <a:pt x="7144" y="114300"/>
                </a:cubicBezTo>
                <a:cubicBezTo>
                  <a:pt x="7144" y="106397"/>
                  <a:pt x="13528" y="100013"/>
                  <a:pt x="21431" y="100013"/>
                </a:cubicBezTo>
                <a:lnTo>
                  <a:pt x="29602" y="100013"/>
                </a:lnTo>
                <a:cubicBezTo>
                  <a:pt x="35853" y="56212"/>
                  <a:pt x="70500" y="21565"/>
                  <a:pt x="114300" y="15314"/>
                </a:cubicBezTo>
                <a:lnTo>
                  <a:pt x="114300" y="7144"/>
                </a:lnTo>
                <a:cubicBezTo>
                  <a:pt x="114300" y="-759"/>
                  <a:pt x="120685" y="-7144"/>
                  <a:pt x="128588" y="-7144"/>
                </a:cubicBezTo>
                <a:close/>
                <a:moveTo>
                  <a:pt x="58579" y="128588"/>
                </a:moveTo>
                <a:cubicBezTo>
                  <a:pt x="64249" y="156582"/>
                  <a:pt x="86305" y="178638"/>
                  <a:pt x="114300" y="184309"/>
                </a:cubicBezTo>
                <a:lnTo>
                  <a:pt x="114300" y="178594"/>
                </a:lnTo>
                <a:cubicBezTo>
                  <a:pt x="114300" y="170691"/>
                  <a:pt x="120685" y="164306"/>
                  <a:pt x="128588" y="164306"/>
                </a:cubicBezTo>
                <a:cubicBezTo>
                  <a:pt x="136490" y="164306"/>
                  <a:pt x="142875" y="170691"/>
                  <a:pt x="142875" y="178594"/>
                </a:cubicBezTo>
                <a:lnTo>
                  <a:pt x="142875" y="184309"/>
                </a:lnTo>
                <a:cubicBezTo>
                  <a:pt x="170870" y="178638"/>
                  <a:pt x="192926" y="156582"/>
                  <a:pt x="198596" y="128588"/>
                </a:cubicBezTo>
                <a:lnTo>
                  <a:pt x="192881" y="128588"/>
                </a:lnTo>
                <a:cubicBezTo>
                  <a:pt x="184978" y="128588"/>
                  <a:pt x="178594" y="122203"/>
                  <a:pt x="178594" y="114300"/>
                </a:cubicBezTo>
                <a:cubicBezTo>
                  <a:pt x="178594" y="106397"/>
                  <a:pt x="184978" y="100013"/>
                  <a:pt x="192881" y="100013"/>
                </a:cubicBezTo>
                <a:lnTo>
                  <a:pt x="198596" y="100013"/>
                </a:lnTo>
                <a:cubicBezTo>
                  <a:pt x="192926" y="72018"/>
                  <a:pt x="170870" y="49962"/>
                  <a:pt x="142875" y="44291"/>
                </a:cubicBezTo>
                <a:lnTo>
                  <a:pt x="142875" y="50006"/>
                </a:lnTo>
                <a:cubicBezTo>
                  <a:pt x="142875" y="57909"/>
                  <a:pt x="136490" y="64294"/>
                  <a:pt x="128588" y="64294"/>
                </a:cubicBezTo>
                <a:cubicBezTo>
                  <a:pt x="120685" y="64294"/>
                  <a:pt x="114300" y="57909"/>
                  <a:pt x="114300" y="50006"/>
                </a:cubicBezTo>
                <a:lnTo>
                  <a:pt x="114300" y="44291"/>
                </a:lnTo>
                <a:cubicBezTo>
                  <a:pt x="86305" y="49962"/>
                  <a:pt x="64249" y="72018"/>
                  <a:pt x="58579" y="100013"/>
                </a:cubicBezTo>
                <a:lnTo>
                  <a:pt x="64294" y="100013"/>
                </a:lnTo>
                <a:cubicBezTo>
                  <a:pt x="72197" y="100013"/>
                  <a:pt x="78581" y="106397"/>
                  <a:pt x="78581" y="114300"/>
                </a:cubicBezTo>
                <a:cubicBezTo>
                  <a:pt x="78581" y="122203"/>
                  <a:pt x="72197" y="128588"/>
                  <a:pt x="64294" y="128588"/>
                </a:cubicBezTo>
                <a:lnTo>
                  <a:pt x="58579" y="128588"/>
                </a:lnTo>
                <a:close/>
                <a:moveTo>
                  <a:pt x="128588" y="92869"/>
                </a:moveTo>
                <a:cubicBezTo>
                  <a:pt x="140416" y="92869"/>
                  <a:pt x="150019" y="102472"/>
                  <a:pt x="150019" y="114300"/>
                </a:cubicBezTo>
                <a:cubicBezTo>
                  <a:pt x="150019" y="126128"/>
                  <a:pt x="140416" y="135731"/>
                  <a:pt x="128588" y="135731"/>
                </a:cubicBezTo>
                <a:cubicBezTo>
                  <a:pt x="116759" y="135731"/>
                  <a:pt x="107156" y="126128"/>
                  <a:pt x="107156" y="114300"/>
                </a:cubicBezTo>
                <a:cubicBezTo>
                  <a:pt x="107156" y="102472"/>
                  <a:pt x="116759" y="92869"/>
                  <a:pt x="128588" y="92869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44" name="Text 41"/>
          <p:cNvSpPr/>
          <p:nvPr/>
        </p:nvSpPr>
        <p:spPr>
          <a:xfrm>
            <a:off x="9728085" y="5637777"/>
            <a:ext cx="1819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经纬度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9732848" y="5904342"/>
            <a:ext cx="1809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精确地理位置</a:t>
            </a:r>
            <a:endParaRPr lang="en-US" sz="1600" dirty="0"/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19200"/>
            <a:ext cx="4313555" cy="4965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功能展示：AI智能分析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07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pic>
        <p:nvPicPr>
          <p:cNvPr id="5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151" y="3752701"/>
            <a:ext cx="914400" cy="914400"/>
          </a:xfrm>
          <a:prstGeom prst="roundRect">
            <a:avLst>
              <a:gd name="adj" fmla="val 2419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5295884" y="1028486"/>
            <a:ext cx="6515100" cy="2286000"/>
          </a:xfrm>
          <a:custGeom>
            <a:avLst/>
            <a:gdLst/>
            <a:ahLst/>
            <a:cxnLst/>
            <a:rect l="l" t="t" r="r" b="b"/>
            <a:pathLst>
              <a:path w="6515100" h="2286000">
                <a:moveTo>
                  <a:pt x="114300" y="0"/>
                </a:moveTo>
                <a:lnTo>
                  <a:pt x="6400800" y="0"/>
                </a:lnTo>
                <a:cubicBezTo>
                  <a:pt x="6463884" y="0"/>
                  <a:pt x="6515100" y="51216"/>
                  <a:pt x="6515100" y="114300"/>
                </a:cubicBezTo>
                <a:lnTo>
                  <a:pt x="6515100" y="2171700"/>
                </a:lnTo>
                <a:cubicBezTo>
                  <a:pt x="6515100" y="2234784"/>
                  <a:pt x="6463884" y="2286000"/>
                  <a:pt x="6400800" y="2286000"/>
                </a:cubicBezTo>
                <a:lnTo>
                  <a:pt x="114300" y="2286000"/>
                </a:lnTo>
                <a:cubicBezTo>
                  <a:pt x="51216" y="2286000"/>
                  <a:pt x="0" y="2234784"/>
                  <a:pt x="0" y="2171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384" y="121898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8" name="Shape 5"/>
          <p:cNvSpPr/>
          <p:nvPr/>
        </p:nvSpPr>
        <p:spPr>
          <a:xfrm>
            <a:off x="5619667" y="135227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4F7F6"/>
          </a:solidFill>
        </p:spPr>
      </p:sp>
      <p:sp>
        <p:nvSpPr>
          <p:cNvPr id="9" name="Text 6"/>
          <p:cNvSpPr/>
          <p:nvPr/>
        </p:nvSpPr>
        <p:spPr>
          <a:xfrm>
            <a:off x="6057801" y="1295135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综合分析能力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384" y="1828521"/>
            <a:ext cx="62103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系统结合图像识别和环境数据进行综合分析，不仅给出病害识别结果，还提供详细的AI分析解释、治理建议、结合天气的动态建议以及注意事项，为种植户提供全方位的防控指导。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384" y="2476007"/>
            <a:ext cx="3009900" cy="647700"/>
          </a:xfrm>
          <a:custGeom>
            <a:avLst/>
            <a:gdLst/>
            <a:ahLst/>
            <a:cxnLst/>
            <a:rect l="l" t="t" r="r" b="b"/>
            <a:pathLst>
              <a:path w="3009900" h="647700">
                <a:moveTo>
                  <a:pt x="76202" y="0"/>
                </a:moveTo>
                <a:lnTo>
                  <a:pt x="2933698" y="0"/>
                </a:lnTo>
                <a:cubicBezTo>
                  <a:pt x="2975783" y="0"/>
                  <a:pt x="3009900" y="34117"/>
                  <a:pt x="3009900" y="76202"/>
                </a:cubicBezTo>
                <a:lnTo>
                  <a:pt x="3009900" y="571498"/>
                </a:lnTo>
                <a:cubicBezTo>
                  <a:pt x="3009900" y="613583"/>
                  <a:pt x="2975783" y="647700"/>
                  <a:pt x="29336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2A574A">
              <a:alpha val="5098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5630416" y="2714048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42863" y="37505"/>
                </a:moveTo>
                <a:cubicBezTo>
                  <a:pt x="51734" y="37505"/>
                  <a:pt x="58936" y="44707"/>
                  <a:pt x="58936" y="53578"/>
                </a:cubicBezTo>
                <a:cubicBezTo>
                  <a:pt x="58936" y="62449"/>
                  <a:pt x="51734" y="69652"/>
                  <a:pt x="42863" y="69652"/>
                </a:cubicBezTo>
                <a:cubicBezTo>
                  <a:pt x="33991" y="69652"/>
                  <a:pt x="26789" y="62449"/>
                  <a:pt x="26789" y="53578"/>
                </a:cubicBezTo>
                <a:cubicBezTo>
                  <a:pt x="26789" y="44707"/>
                  <a:pt x="33991" y="37505"/>
                  <a:pt x="42863" y="37505"/>
                </a:cubicBezTo>
                <a:close/>
                <a:moveTo>
                  <a:pt x="91083" y="75009"/>
                </a:moveTo>
                <a:cubicBezTo>
                  <a:pt x="93896" y="75009"/>
                  <a:pt x="96474" y="76483"/>
                  <a:pt x="97948" y="78860"/>
                </a:cubicBezTo>
                <a:lnTo>
                  <a:pt x="127415" y="127081"/>
                </a:lnTo>
                <a:cubicBezTo>
                  <a:pt x="128922" y="129559"/>
                  <a:pt x="128989" y="132673"/>
                  <a:pt x="127583" y="135218"/>
                </a:cubicBezTo>
                <a:cubicBezTo>
                  <a:pt x="126176" y="137763"/>
                  <a:pt x="123464" y="139303"/>
                  <a:pt x="120551" y="139303"/>
                </a:cubicBezTo>
                <a:lnTo>
                  <a:pt x="29468" y="139303"/>
                </a:lnTo>
                <a:cubicBezTo>
                  <a:pt x="26488" y="139303"/>
                  <a:pt x="23708" y="137629"/>
                  <a:pt x="22335" y="134983"/>
                </a:cubicBezTo>
                <a:cubicBezTo>
                  <a:pt x="20962" y="132338"/>
                  <a:pt x="21163" y="129123"/>
                  <a:pt x="22871" y="126679"/>
                </a:cubicBezTo>
                <a:lnTo>
                  <a:pt x="41624" y="99890"/>
                </a:lnTo>
                <a:cubicBezTo>
                  <a:pt x="43130" y="97747"/>
                  <a:pt x="45575" y="96474"/>
                  <a:pt x="48220" y="96474"/>
                </a:cubicBezTo>
                <a:cubicBezTo>
                  <a:pt x="50866" y="96474"/>
                  <a:pt x="53310" y="97747"/>
                  <a:pt x="54817" y="99890"/>
                </a:cubicBezTo>
                <a:lnTo>
                  <a:pt x="63658" y="112548"/>
                </a:lnTo>
                <a:lnTo>
                  <a:pt x="84218" y="78894"/>
                </a:lnTo>
                <a:cubicBezTo>
                  <a:pt x="85692" y="76516"/>
                  <a:pt x="88270" y="75043"/>
                  <a:pt x="91083" y="75043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13" name="Text 10"/>
          <p:cNvSpPr/>
          <p:nvPr/>
        </p:nvSpPr>
        <p:spPr>
          <a:xfrm>
            <a:off x="5891031" y="2590274"/>
            <a:ext cx="1000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图像识别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891031" y="2818805"/>
            <a:ext cx="990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AI分析病斑特征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610534" y="2476007"/>
            <a:ext cx="3009900" cy="647700"/>
          </a:xfrm>
          <a:custGeom>
            <a:avLst/>
            <a:gdLst/>
            <a:ahLst/>
            <a:cxnLst/>
            <a:rect l="l" t="t" r="r" b="b"/>
            <a:pathLst>
              <a:path w="3009900" h="647700">
                <a:moveTo>
                  <a:pt x="76202" y="0"/>
                </a:moveTo>
                <a:lnTo>
                  <a:pt x="2933698" y="0"/>
                </a:lnTo>
                <a:cubicBezTo>
                  <a:pt x="2975783" y="0"/>
                  <a:pt x="3009900" y="34117"/>
                  <a:pt x="3009900" y="76202"/>
                </a:cubicBezTo>
                <a:lnTo>
                  <a:pt x="3009900" y="571498"/>
                </a:lnTo>
                <a:cubicBezTo>
                  <a:pt x="3009900" y="613583"/>
                  <a:pt x="2975783" y="647700"/>
                  <a:pt x="29336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8AA39B">
              <a:alpha val="5098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8733136" y="2714048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51894" y="-4956"/>
                </a:moveTo>
                <a:cubicBezTo>
                  <a:pt x="153535" y="-4286"/>
                  <a:pt x="154740" y="-2813"/>
                  <a:pt x="155075" y="-1072"/>
                </a:cubicBezTo>
                <a:lnTo>
                  <a:pt x="160734" y="26789"/>
                </a:lnTo>
                <a:lnTo>
                  <a:pt x="188595" y="32415"/>
                </a:lnTo>
                <a:cubicBezTo>
                  <a:pt x="190336" y="32783"/>
                  <a:pt x="191776" y="33955"/>
                  <a:pt x="192479" y="35596"/>
                </a:cubicBezTo>
                <a:cubicBezTo>
                  <a:pt x="193183" y="37237"/>
                  <a:pt x="192982" y="39112"/>
                  <a:pt x="192011" y="40585"/>
                </a:cubicBezTo>
                <a:lnTo>
                  <a:pt x="176306" y="64260"/>
                </a:lnTo>
                <a:lnTo>
                  <a:pt x="192011" y="87935"/>
                </a:lnTo>
                <a:cubicBezTo>
                  <a:pt x="192982" y="89408"/>
                  <a:pt x="193183" y="91284"/>
                  <a:pt x="192479" y="92925"/>
                </a:cubicBezTo>
                <a:cubicBezTo>
                  <a:pt x="191776" y="94565"/>
                  <a:pt x="190336" y="95771"/>
                  <a:pt x="188595" y="96106"/>
                </a:cubicBezTo>
                <a:lnTo>
                  <a:pt x="167767" y="100359"/>
                </a:lnTo>
                <a:cubicBezTo>
                  <a:pt x="163782" y="97445"/>
                  <a:pt x="159361" y="95135"/>
                  <a:pt x="154573" y="93527"/>
                </a:cubicBezTo>
                <a:cubicBezTo>
                  <a:pt x="153736" y="89275"/>
                  <a:pt x="152296" y="85256"/>
                  <a:pt x="150320" y="81573"/>
                </a:cubicBezTo>
                <a:cubicBezTo>
                  <a:pt x="153501" y="76583"/>
                  <a:pt x="155377" y="70656"/>
                  <a:pt x="155377" y="64260"/>
                </a:cubicBezTo>
                <a:cubicBezTo>
                  <a:pt x="155377" y="46513"/>
                  <a:pt x="140977" y="32113"/>
                  <a:pt x="123230" y="32113"/>
                </a:cubicBezTo>
                <a:cubicBezTo>
                  <a:pt x="107190" y="32113"/>
                  <a:pt x="93896" y="43867"/>
                  <a:pt x="91485" y="59204"/>
                </a:cubicBezTo>
                <a:cubicBezTo>
                  <a:pt x="82611" y="52406"/>
                  <a:pt x="71560" y="48321"/>
                  <a:pt x="59539" y="48187"/>
                </a:cubicBezTo>
                <a:lnTo>
                  <a:pt x="54482" y="40585"/>
                </a:lnTo>
                <a:cubicBezTo>
                  <a:pt x="53511" y="39112"/>
                  <a:pt x="53310" y="37237"/>
                  <a:pt x="54013" y="35596"/>
                </a:cubicBezTo>
                <a:cubicBezTo>
                  <a:pt x="54717" y="33955"/>
                  <a:pt x="56157" y="32750"/>
                  <a:pt x="57898" y="32415"/>
                </a:cubicBezTo>
                <a:lnTo>
                  <a:pt x="85725" y="26789"/>
                </a:lnTo>
                <a:lnTo>
                  <a:pt x="91351" y="-1072"/>
                </a:lnTo>
                <a:cubicBezTo>
                  <a:pt x="91719" y="-2813"/>
                  <a:pt x="92891" y="-4253"/>
                  <a:pt x="94532" y="-4956"/>
                </a:cubicBezTo>
                <a:cubicBezTo>
                  <a:pt x="96173" y="-5659"/>
                  <a:pt x="98048" y="-5458"/>
                  <a:pt x="99521" y="-4487"/>
                </a:cubicBezTo>
                <a:lnTo>
                  <a:pt x="123230" y="11251"/>
                </a:lnTo>
                <a:lnTo>
                  <a:pt x="146905" y="-4454"/>
                </a:lnTo>
                <a:cubicBezTo>
                  <a:pt x="148378" y="-5425"/>
                  <a:pt x="150253" y="-5626"/>
                  <a:pt x="151894" y="-4922"/>
                </a:cubicBezTo>
                <a:close/>
                <a:moveTo>
                  <a:pt x="139303" y="64294"/>
                </a:moveTo>
                <a:cubicBezTo>
                  <a:pt x="139303" y="65566"/>
                  <a:pt x="139169" y="66805"/>
                  <a:pt x="138868" y="68011"/>
                </a:cubicBezTo>
                <a:cubicBezTo>
                  <a:pt x="131601" y="62318"/>
                  <a:pt x="122460" y="58936"/>
                  <a:pt x="112514" y="58936"/>
                </a:cubicBezTo>
                <a:cubicBezTo>
                  <a:pt x="110974" y="58936"/>
                  <a:pt x="109467" y="59003"/>
                  <a:pt x="107993" y="59170"/>
                </a:cubicBezTo>
                <a:cubicBezTo>
                  <a:pt x="110137" y="52808"/>
                  <a:pt x="116164" y="48220"/>
                  <a:pt x="123230" y="48220"/>
                </a:cubicBezTo>
                <a:cubicBezTo>
                  <a:pt x="132104" y="48220"/>
                  <a:pt x="139303" y="55420"/>
                  <a:pt x="139303" y="64294"/>
                </a:cubicBezTo>
                <a:close/>
                <a:moveTo>
                  <a:pt x="32147" y="171450"/>
                </a:moveTo>
                <a:cubicBezTo>
                  <a:pt x="14399" y="171450"/>
                  <a:pt x="0" y="157051"/>
                  <a:pt x="0" y="139303"/>
                </a:cubicBezTo>
                <a:cubicBezTo>
                  <a:pt x="0" y="125071"/>
                  <a:pt x="9242" y="112983"/>
                  <a:pt x="22067" y="108764"/>
                </a:cubicBezTo>
                <a:cubicBezTo>
                  <a:pt x="21632" y="106520"/>
                  <a:pt x="21431" y="104176"/>
                  <a:pt x="21431" y="101798"/>
                </a:cubicBezTo>
                <a:cubicBezTo>
                  <a:pt x="21431" y="81070"/>
                  <a:pt x="38208" y="64294"/>
                  <a:pt x="58936" y="64294"/>
                </a:cubicBezTo>
                <a:cubicBezTo>
                  <a:pt x="73369" y="64294"/>
                  <a:pt x="85892" y="72431"/>
                  <a:pt x="92154" y="84386"/>
                </a:cubicBezTo>
                <a:cubicBezTo>
                  <a:pt x="97077" y="78659"/>
                  <a:pt x="104377" y="75009"/>
                  <a:pt x="112514" y="75009"/>
                </a:cubicBezTo>
                <a:cubicBezTo>
                  <a:pt x="127315" y="75009"/>
                  <a:pt x="139303" y="86997"/>
                  <a:pt x="139303" y="101798"/>
                </a:cubicBezTo>
                <a:cubicBezTo>
                  <a:pt x="139303" y="103640"/>
                  <a:pt x="139102" y="105415"/>
                  <a:pt x="138767" y="107156"/>
                </a:cubicBezTo>
                <a:cubicBezTo>
                  <a:pt x="138935" y="107156"/>
                  <a:pt x="139136" y="107156"/>
                  <a:pt x="139303" y="107156"/>
                </a:cubicBezTo>
                <a:cubicBezTo>
                  <a:pt x="157051" y="107156"/>
                  <a:pt x="171450" y="121555"/>
                  <a:pt x="171450" y="139303"/>
                </a:cubicBezTo>
                <a:cubicBezTo>
                  <a:pt x="171450" y="157051"/>
                  <a:pt x="157051" y="171450"/>
                  <a:pt x="139303" y="171450"/>
                </a:cubicBezTo>
                <a:lnTo>
                  <a:pt x="32147" y="171450"/>
                </a:lnTo>
                <a:close/>
              </a:path>
            </a:pathLst>
          </a:custGeom>
          <a:solidFill>
            <a:srgbClr val="8AA39B"/>
          </a:solidFill>
        </p:spPr>
      </p:sp>
      <p:sp>
        <p:nvSpPr>
          <p:cNvPr id="17" name="Text 14"/>
          <p:cNvSpPr/>
          <p:nvPr/>
        </p:nvSpPr>
        <p:spPr>
          <a:xfrm>
            <a:off x="9015182" y="2590274"/>
            <a:ext cx="1009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环境分析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015182" y="2818805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结合温湿度条件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95884" y="3466458"/>
            <a:ext cx="3181350" cy="1428750"/>
          </a:xfrm>
          <a:custGeom>
            <a:avLst/>
            <a:gdLst/>
            <a:ahLst/>
            <a:cxnLst/>
            <a:rect l="l" t="t" r="r" b="b"/>
            <a:pathLst>
              <a:path w="3181350" h="1428750">
                <a:moveTo>
                  <a:pt x="114300" y="0"/>
                </a:moveTo>
                <a:lnTo>
                  <a:pt x="3067050" y="0"/>
                </a:lnTo>
                <a:cubicBezTo>
                  <a:pt x="3130134" y="0"/>
                  <a:pt x="3181350" y="51216"/>
                  <a:pt x="3181350" y="114300"/>
                </a:cubicBezTo>
                <a:lnTo>
                  <a:pt x="3181350" y="1314450"/>
                </a:lnTo>
                <a:cubicBezTo>
                  <a:pt x="3181350" y="1377534"/>
                  <a:pt x="3130134" y="1428750"/>
                  <a:pt x="3067050" y="1428750"/>
                </a:cubicBezTo>
                <a:lnTo>
                  <a:pt x="114300" y="1428750"/>
                </a:lnTo>
                <a:cubicBezTo>
                  <a:pt x="51216" y="1428750"/>
                  <a:pt x="0" y="1377534"/>
                  <a:pt x="0" y="13144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20" name="Shape 17"/>
          <p:cNvSpPr/>
          <p:nvPr/>
        </p:nvSpPr>
        <p:spPr>
          <a:xfrm>
            <a:off x="5448267" y="365695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1" name="Text 18"/>
          <p:cNvSpPr/>
          <p:nvPr/>
        </p:nvSpPr>
        <p:spPr>
          <a:xfrm>
            <a:off x="5762542" y="3618840"/>
            <a:ext cx="600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AI分析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62555" y="401885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3" name="Text 20"/>
          <p:cNvSpPr/>
          <p:nvPr/>
        </p:nvSpPr>
        <p:spPr>
          <a:xfrm>
            <a:off x="5691022" y="3999840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识别置信度展示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62555" y="428550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5" name="Text 22"/>
          <p:cNvSpPr/>
          <p:nvPr/>
        </p:nvSpPr>
        <p:spPr>
          <a:xfrm>
            <a:off x="5691022" y="4266493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病斑特征分析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62555" y="455215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7" name="Text 24"/>
          <p:cNvSpPr/>
          <p:nvPr/>
        </p:nvSpPr>
        <p:spPr>
          <a:xfrm>
            <a:off x="5691022" y="4533142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环境条件评估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629634" y="3466458"/>
            <a:ext cx="3181350" cy="1428750"/>
          </a:xfrm>
          <a:custGeom>
            <a:avLst/>
            <a:gdLst/>
            <a:ahLst/>
            <a:cxnLst/>
            <a:rect l="l" t="t" r="r" b="b"/>
            <a:pathLst>
              <a:path w="3181350" h="1428750">
                <a:moveTo>
                  <a:pt x="114300" y="0"/>
                </a:moveTo>
                <a:lnTo>
                  <a:pt x="3067050" y="0"/>
                </a:lnTo>
                <a:cubicBezTo>
                  <a:pt x="3130134" y="0"/>
                  <a:pt x="3181350" y="51216"/>
                  <a:pt x="3181350" y="114300"/>
                </a:cubicBezTo>
                <a:lnTo>
                  <a:pt x="3181350" y="1314450"/>
                </a:lnTo>
                <a:cubicBezTo>
                  <a:pt x="3181350" y="1377534"/>
                  <a:pt x="3130134" y="1428750"/>
                  <a:pt x="3067050" y="1428750"/>
                </a:cubicBezTo>
                <a:lnTo>
                  <a:pt x="114300" y="1428750"/>
                </a:lnTo>
                <a:cubicBezTo>
                  <a:pt x="51216" y="1428750"/>
                  <a:pt x="0" y="1377534"/>
                  <a:pt x="0" y="13144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29" name="Shape 26"/>
          <p:cNvSpPr/>
          <p:nvPr/>
        </p:nvSpPr>
        <p:spPr>
          <a:xfrm>
            <a:off x="8817736" y="365695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2977"/>
                </a:move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lose/>
                <a:moveTo>
                  <a:pt x="105668" y="119360"/>
                </a:moveTo>
                <a:cubicBezTo>
                  <a:pt x="103659" y="119174"/>
                  <a:pt x="101575" y="119063"/>
                  <a:pt x="99492" y="119063"/>
                </a:cubicBezTo>
                <a:lnTo>
                  <a:pt x="67159" y="119063"/>
                </a:lnTo>
                <a:cubicBezTo>
                  <a:pt x="65075" y="119063"/>
                  <a:pt x="63029" y="119174"/>
                  <a:pt x="60982" y="119360"/>
                </a:cubicBezTo>
                <a:lnTo>
                  <a:pt x="60982" y="144475"/>
                </a:lnTo>
                <a:cubicBezTo>
                  <a:pt x="67121" y="147303"/>
                  <a:pt x="71400" y="153516"/>
                  <a:pt x="71400" y="160697"/>
                </a:cubicBezTo>
                <a:cubicBezTo>
                  <a:pt x="71400" y="170557"/>
                  <a:pt x="63401" y="178557"/>
                  <a:pt x="53541" y="178557"/>
                </a:cubicBezTo>
                <a:cubicBezTo>
                  <a:pt x="43681" y="178557"/>
                  <a:pt x="35682" y="170557"/>
                  <a:pt x="35682" y="160697"/>
                </a:cubicBezTo>
                <a:cubicBezTo>
                  <a:pt x="35682" y="153479"/>
                  <a:pt x="39960" y="147265"/>
                  <a:pt x="46100" y="144475"/>
                </a:cubicBezTo>
                <a:lnTo>
                  <a:pt x="46100" y="122746"/>
                </a:lnTo>
                <a:cubicBezTo>
                  <a:pt x="22696" y="131341"/>
                  <a:pt x="5953" y="153888"/>
                  <a:pt x="5953" y="180305"/>
                </a:cubicBezTo>
                <a:cubicBezTo>
                  <a:pt x="5953" y="185924"/>
                  <a:pt x="10530" y="190500"/>
                  <a:pt x="16148" y="190500"/>
                </a:cubicBezTo>
                <a:lnTo>
                  <a:pt x="150502" y="190500"/>
                </a:lnTo>
                <a:cubicBezTo>
                  <a:pt x="156121" y="190500"/>
                  <a:pt x="160697" y="185924"/>
                  <a:pt x="160697" y="180305"/>
                </a:cubicBezTo>
                <a:cubicBezTo>
                  <a:pt x="160697" y="153888"/>
                  <a:pt x="143954" y="131378"/>
                  <a:pt x="120514" y="122783"/>
                </a:cubicBezTo>
                <a:lnTo>
                  <a:pt x="120514" y="136699"/>
                </a:lnTo>
                <a:cubicBezTo>
                  <a:pt x="129183" y="139750"/>
                  <a:pt x="135396" y="148047"/>
                  <a:pt x="135396" y="157758"/>
                </a:cubicBezTo>
                <a:lnTo>
                  <a:pt x="135396" y="169664"/>
                </a:lnTo>
                <a:cubicBezTo>
                  <a:pt x="135396" y="173757"/>
                  <a:pt x="132048" y="177105"/>
                  <a:pt x="127955" y="177105"/>
                </a:cubicBezTo>
                <a:cubicBezTo>
                  <a:pt x="123862" y="177105"/>
                  <a:pt x="120514" y="173757"/>
                  <a:pt x="120514" y="169664"/>
                </a:cubicBezTo>
                <a:lnTo>
                  <a:pt x="120514" y="157758"/>
                </a:lnTo>
                <a:cubicBezTo>
                  <a:pt x="120514" y="153665"/>
                  <a:pt x="117165" y="150316"/>
                  <a:pt x="113072" y="150316"/>
                </a:cubicBezTo>
                <a:cubicBezTo>
                  <a:pt x="108979" y="150316"/>
                  <a:pt x="105631" y="153665"/>
                  <a:pt x="105631" y="157758"/>
                </a:cubicBezTo>
                <a:lnTo>
                  <a:pt x="105631" y="169664"/>
                </a:lnTo>
                <a:cubicBezTo>
                  <a:pt x="105631" y="173757"/>
                  <a:pt x="102282" y="177105"/>
                  <a:pt x="98189" y="177105"/>
                </a:cubicBezTo>
                <a:cubicBezTo>
                  <a:pt x="94097" y="177105"/>
                  <a:pt x="90748" y="173757"/>
                  <a:pt x="90748" y="169664"/>
                </a:cubicBezTo>
                <a:lnTo>
                  <a:pt x="90748" y="157758"/>
                </a:lnTo>
                <a:cubicBezTo>
                  <a:pt x="90748" y="148047"/>
                  <a:pt x="96962" y="139787"/>
                  <a:pt x="105631" y="136699"/>
                </a:cubicBezTo>
                <a:lnTo>
                  <a:pt x="105631" y="11936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30" name="Text 27"/>
          <p:cNvSpPr/>
          <p:nvPr/>
        </p:nvSpPr>
        <p:spPr>
          <a:xfrm>
            <a:off x="9096293" y="361884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治理建议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796305" y="401885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32" name="Text 29"/>
          <p:cNvSpPr/>
          <p:nvPr/>
        </p:nvSpPr>
        <p:spPr>
          <a:xfrm>
            <a:off x="9024772" y="3999840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清除病株措施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796305" y="428550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34" name="Text 31"/>
          <p:cNvSpPr/>
          <p:nvPr/>
        </p:nvSpPr>
        <p:spPr>
          <a:xfrm>
            <a:off x="9024772" y="4266493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药剂防治方案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796305" y="455215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36" name="Text 33"/>
          <p:cNvSpPr/>
          <p:nvPr/>
        </p:nvSpPr>
        <p:spPr>
          <a:xfrm>
            <a:off x="9024772" y="4533142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培土管理建议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5295884" y="5047920"/>
            <a:ext cx="3181350" cy="1428750"/>
          </a:xfrm>
          <a:custGeom>
            <a:avLst/>
            <a:gdLst/>
            <a:ahLst/>
            <a:cxnLst/>
            <a:rect l="l" t="t" r="r" b="b"/>
            <a:pathLst>
              <a:path w="3181350" h="1428750">
                <a:moveTo>
                  <a:pt x="114300" y="0"/>
                </a:moveTo>
                <a:lnTo>
                  <a:pt x="3067050" y="0"/>
                </a:lnTo>
                <a:cubicBezTo>
                  <a:pt x="3130134" y="0"/>
                  <a:pt x="3181350" y="51216"/>
                  <a:pt x="3181350" y="114300"/>
                </a:cubicBezTo>
                <a:lnTo>
                  <a:pt x="3181350" y="1314450"/>
                </a:lnTo>
                <a:cubicBezTo>
                  <a:pt x="3181350" y="1377534"/>
                  <a:pt x="3130134" y="1428750"/>
                  <a:pt x="3067050" y="1428750"/>
                </a:cubicBezTo>
                <a:lnTo>
                  <a:pt x="114300" y="1428750"/>
                </a:lnTo>
                <a:cubicBezTo>
                  <a:pt x="51216" y="1428750"/>
                  <a:pt x="0" y="1377534"/>
                  <a:pt x="0" y="13144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38" name="Shape 35"/>
          <p:cNvSpPr/>
          <p:nvPr/>
        </p:nvSpPr>
        <p:spPr>
          <a:xfrm>
            <a:off x="5460174" y="523842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2812" y="-1191"/>
                </a:moveTo>
                <a:cubicBezTo>
                  <a:pt x="112402" y="-3125"/>
                  <a:pt x="111100" y="-4725"/>
                  <a:pt x="109277" y="-5507"/>
                </a:cubicBezTo>
                <a:cubicBezTo>
                  <a:pt x="107454" y="-6288"/>
                  <a:pt x="105370" y="-6065"/>
                  <a:pt x="103733" y="-4986"/>
                </a:cubicBezTo>
                <a:lnTo>
                  <a:pt x="77391" y="12502"/>
                </a:lnTo>
                <a:lnTo>
                  <a:pt x="51085" y="-4949"/>
                </a:lnTo>
                <a:cubicBezTo>
                  <a:pt x="49448" y="-6028"/>
                  <a:pt x="47365" y="-6251"/>
                  <a:pt x="45541" y="-5469"/>
                </a:cubicBezTo>
                <a:cubicBezTo>
                  <a:pt x="43718" y="-4688"/>
                  <a:pt x="42379" y="-3088"/>
                  <a:pt x="42007" y="-1153"/>
                </a:cubicBezTo>
                <a:lnTo>
                  <a:pt x="35719" y="29766"/>
                </a:lnTo>
                <a:lnTo>
                  <a:pt x="4763" y="36016"/>
                </a:lnTo>
                <a:cubicBezTo>
                  <a:pt x="2828" y="36426"/>
                  <a:pt x="1228" y="37728"/>
                  <a:pt x="446" y="39551"/>
                </a:cubicBezTo>
                <a:cubicBezTo>
                  <a:pt x="-335" y="41374"/>
                  <a:pt x="-112" y="43458"/>
                  <a:pt x="967" y="45095"/>
                </a:cubicBezTo>
                <a:lnTo>
                  <a:pt x="18455" y="71438"/>
                </a:lnTo>
                <a:lnTo>
                  <a:pt x="1005" y="97743"/>
                </a:lnTo>
                <a:cubicBezTo>
                  <a:pt x="-74" y="99380"/>
                  <a:pt x="-298" y="101464"/>
                  <a:pt x="484" y="103287"/>
                </a:cubicBezTo>
                <a:cubicBezTo>
                  <a:pt x="1265" y="105110"/>
                  <a:pt x="2865" y="106449"/>
                  <a:pt x="4800" y="106821"/>
                </a:cubicBezTo>
                <a:lnTo>
                  <a:pt x="35719" y="113109"/>
                </a:lnTo>
                <a:lnTo>
                  <a:pt x="41970" y="144066"/>
                </a:lnTo>
                <a:cubicBezTo>
                  <a:pt x="42379" y="146000"/>
                  <a:pt x="43681" y="147600"/>
                  <a:pt x="45504" y="148382"/>
                </a:cubicBezTo>
                <a:cubicBezTo>
                  <a:pt x="47327" y="149163"/>
                  <a:pt x="49411" y="148940"/>
                  <a:pt x="51048" y="147861"/>
                </a:cubicBezTo>
                <a:lnTo>
                  <a:pt x="76088" y="131266"/>
                </a:lnTo>
                <a:cubicBezTo>
                  <a:pt x="70210" y="124048"/>
                  <a:pt x="66415" y="115081"/>
                  <a:pt x="65596" y="105259"/>
                </a:cubicBezTo>
                <a:cubicBezTo>
                  <a:pt x="51643" y="100385"/>
                  <a:pt x="41635" y="87139"/>
                  <a:pt x="41635" y="71512"/>
                </a:cubicBezTo>
                <a:cubicBezTo>
                  <a:pt x="41635" y="51792"/>
                  <a:pt x="57634" y="35793"/>
                  <a:pt x="77353" y="35793"/>
                </a:cubicBezTo>
                <a:cubicBezTo>
                  <a:pt x="85427" y="35793"/>
                  <a:pt x="92906" y="38472"/>
                  <a:pt x="98859" y="43011"/>
                </a:cubicBezTo>
                <a:cubicBezTo>
                  <a:pt x="104626" y="36463"/>
                  <a:pt x="112588" y="31849"/>
                  <a:pt x="121593" y="30361"/>
                </a:cubicBezTo>
                <a:lnTo>
                  <a:pt x="119063" y="29766"/>
                </a:lnTo>
                <a:lnTo>
                  <a:pt x="112812" y="-1191"/>
                </a:lnTo>
                <a:close/>
                <a:moveTo>
                  <a:pt x="90413" y="59196"/>
                </a:moveTo>
                <a:cubicBezTo>
                  <a:pt x="87139" y="55736"/>
                  <a:pt x="82525" y="53578"/>
                  <a:pt x="77391" y="53578"/>
                </a:cubicBezTo>
                <a:cubicBezTo>
                  <a:pt x="67531" y="53578"/>
                  <a:pt x="59531" y="61578"/>
                  <a:pt x="59531" y="71438"/>
                </a:cubicBezTo>
                <a:cubicBezTo>
                  <a:pt x="59531" y="77763"/>
                  <a:pt x="62843" y="83344"/>
                  <a:pt x="67791" y="86506"/>
                </a:cubicBezTo>
                <a:cubicBezTo>
                  <a:pt x="71586" y="74823"/>
                  <a:pt x="79735" y="65150"/>
                  <a:pt x="90376" y="59345"/>
                </a:cubicBezTo>
                <a:lnTo>
                  <a:pt x="90413" y="59196"/>
                </a:lnTo>
                <a:close/>
                <a:moveTo>
                  <a:pt x="113109" y="130969"/>
                </a:moveTo>
                <a:lnTo>
                  <a:pt x="184547" y="130969"/>
                </a:lnTo>
                <a:cubicBezTo>
                  <a:pt x="200992" y="130969"/>
                  <a:pt x="214313" y="117649"/>
                  <a:pt x="214313" y="101203"/>
                </a:cubicBezTo>
                <a:cubicBezTo>
                  <a:pt x="214313" y="88590"/>
                  <a:pt x="206462" y="77800"/>
                  <a:pt x="195374" y="73484"/>
                </a:cubicBezTo>
                <a:cubicBezTo>
                  <a:pt x="196081" y="70954"/>
                  <a:pt x="196453" y="68275"/>
                  <a:pt x="196453" y="65484"/>
                </a:cubicBezTo>
                <a:cubicBezTo>
                  <a:pt x="196453" y="49039"/>
                  <a:pt x="183133" y="35719"/>
                  <a:pt x="166688" y="35719"/>
                </a:cubicBezTo>
                <a:cubicBezTo>
                  <a:pt x="155228" y="35719"/>
                  <a:pt x="145293" y="42193"/>
                  <a:pt x="140308" y="51643"/>
                </a:cubicBezTo>
                <a:cubicBezTo>
                  <a:pt x="136847" y="49113"/>
                  <a:pt x="132606" y="47625"/>
                  <a:pt x="127992" y="47625"/>
                </a:cubicBezTo>
                <a:cubicBezTo>
                  <a:pt x="116495" y="47625"/>
                  <a:pt x="107156" y="56964"/>
                  <a:pt x="107156" y="68461"/>
                </a:cubicBezTo>
                <a:cubicBezTo>
                  <a:pt x="107156" y="69652"/>
                  <a:pt x="107268" y="70842"/>
                  <a:pt x="107454" y="71958"/>
                </a:cubicBezTo>
                <a:cubicBezTo>
                  <a:pt x="93725" y="74600"/>
                  <a:pt x="83344" y="86692"/>
                  <a:pt x="83344" y="101203"/>
                </a:cubicBezTo>
                <a:cubicBezTo>
                  <a:pt x="83344" y="117649"/>
                  <a:pt x="96664" y="130969"/>
                  <a:pt x="113109" y="130969"/>
                </a:cubicBezTo>
                <a:close/>
                <a:moveTo>
                  <a:pt x="106040" y="149237"/>
                </a:moveTo>
                <a:cubicBezTo>
                  <a:pt x="101352" y="147675"/>
                  <a:pt x="96292" y="150205"/>
                  <a:pt x="94729" y="154893"/>
                </a:cubicBezTo>
                <a:lnTo>
                  <a:pt x="86767" y="178743"/>
                </a:lnTo>
                <a:cubicBezTo>
                  <a:pt x="85204" y="183431"/>
                  <a:pt x="87734" y="188491"/>
                  <a:pt x="92422" y="190054"/>
                </a:cubicBezTo>
                <a:cubicBezTo>
                  <a:pt x="97110" y="191616"/>
                  <a:pt x="102171" y="189086"/>
                  <a:pt x="103733" y="184398"/>
                </a:cubicBezTo>
                <a:lnTo>
                  <a:pt x="111696" y="160548"/>
                </a:lnTo>
                <a:cubicBezTo>
                  <a:pt x="113258" y="155860"/>
                  <a:pt x="110728" y="150800"/>
                  <a:pt x="106040" y="149237"/>
                </a:cubicBezTo>
                <a:close/>
                <a:moveTo>
                  <a:pt x="150688" y="149237"/>
                </a:moveTo>
                <a:cubicBezTo>
                  <a:pt x="146000" y="147675"/>
                  <a:pt x="140940" y="150205"/>
                  <a:pt x="139378" y="154893"/>
                </a:cubicBezTo>
                <a:lnTo>
                  <a:pt x="131415" y="178743"/>
                </a:lnTo>
                <a:cubicBezTo>
                  <a:pt x="129853" y="183431"/>
                  <a:pt x="132383" y="188491"/>
                  <a:pt x="137071" y="190054"/>
                </a:cubicBezTo>
                <a:cubicBezTo>
                  <a:pt x="141759" y="191616"/>
                  <a:pt x="146819" y="189086"/>
                  <a:pt x="148382" y="184398"/>
                </a:cubicBezTo>
                <a:lnTo>
                  <a:pt x="156344" y="160548"/>
                </a:lnTo>
                <a:cubicBezTo>
                  <a:pt x="157907" y="155860"/>
                  <a:pt x="155377" y="150800"/>
                  <a:pt x="150688" y="149237"/>
                </a:cubicBezTo>
                <a:close/>
                <a:moveTo>
                  <a:pt x="195337" y="149237"/>
                </a:moveTo>
                <a:cubicBezTo>
                  <a:pt x="190649" y="147675"/>
                  <a:pt x="185589" y="150205"/>
                  <a:pt x="184026" y="154893"/>
                </a:cubicBezTo>
                <a:lnTo>
                  <a:pt x="176064" y="178743"/>
                </a:lnTo>
                <a:cubicBezTo>
                  <a:pt x="174501" y="183431"/>
                  <a:pt x="177031" y="188491"/>
                  <a:pt x="181719" y="190054"/>
                </a:cubicBezTo>
                <a:cubicBezTo>
                  <a:pt x="186407" y="191616"/>
                  <a:pt x="191467" y="189086"/>
                  <a:pt x="193030" y="184398"/>
                </a:cubicBezTo>
                <a:lnTo>
                  <a:pt x="200992" y="160548"/>
                </a:lnTo>
                <a:cubicBezTo>
                  <a:pt x="202555" y="155860"/>
                  <a:pt x="200025" y="150800"/>
                  <a:pt x="195337" y="149237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39" name="Text 36"/>
          <p:cNvSpPr/>
          <p:nvPr/>
        </p:nvSpPr>
        <p:spPr>
          <a:xfrm>
            <a:off x="5762542" y="5200306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D2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天气建议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5462555" y="560032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41" name="Text 38"/>
          <p:cNvSpPr/>
          <p:nvPr/>
        </p:nvSpPr>
        <p:spPr>
          <a:xfrm>
            <a:off x="5691022" y="5581306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温湿度影响分析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5462555" y="586697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43" name="Text 40"/>
          <p:cNvSpPr/>
          <p:nvPr/>
        </p:nvSpPr>
        <p:spPr>
          <a:xfrm>
            <a:off x="5691022" y="5847955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动态防控建议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5462555" y="613362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45" name="Text 42"/>
          <p:cNvSpPr/>
          <p:nvPr/>
        </p:nvSpPr>
        <p:spPr>
          <a:xfrm>
            <a:off x="5691022" y="6114604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最佳施药时机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629634" y="5047920"/>
            <a:ext cx="3181350" cy="1428750"/>
          </a:xfrm>
          <a:custGeom>
            <a:avLst/>
            <a:gdLst/>
            <a:ahLst/>
            <a:cxnLst/>
            <a:rect l="l" t="t" r="r" b="b"/>
            <a:pathLst>
              <a:path w="3181350" h="1428750">
                <a:moveTo>
                  <a:pt x="114300" y="0"/>
                </a:moveTo>
                <a:lnTo>
                  <a:pt x="3067050" y="0"/>
                </a:lnTo>
                <a:cubicBezTo>
                  <a:pt x="3130134" y="0"/>
                  <a:pt x="3181350" y="51216"/>
                  <a:pt x="3181350" y="114300"/>
                </a:cubicBezTo>
                <a:lnTo>
                  <a:pt x="3181350" y="1314450"/>
                </a:lnTo>
                <a:cubicBezTo>
                  <a:pt x="3181350" y="1377534"/>
                  <a:pt x="3130134" y="1428750"/>
                  <a:pt x="3067050" y="1428750"/>
                </a:cubicBezTo>
                <a:lnTo>
                  <a:pt x="114300" y="1428750"/>
                </a:lnTo>
                <a:cubicBezTo>
                  <a:pt x="51216" y="1428750"/>
                  <a:pt x="0" y="1377534"/>
                  <a:pt x="0" y="13144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47" name="Shape 44"/>
          <p:cNvSpPr/>
          <p:nvPr/>
        </p:nvSpPr>
        <p:spPr>
          <a:xfrm>
            <a:off x="8805830" y="52384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48" name="Text 45"/>
          <p:cNvSpPr/>
          <p:nvPr/>
        </p:nvSpPr>
        <p:spPr>
          <a:xfrm>
            <a:off x="9096293" y="5200306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注意事项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796305" y="560032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50" name="Text 47"/>
          <p:cNvSpPr/>
          <p:nvPr/>
        </p:nvSpPr>
        <p:spPr>
          <a:xfrm>
            <a:off x="9024772" y="5581306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病害发展预警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796305" y="586697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52" name="Text 49"/>
          <p:cNvSpPr/>
          <p:nvPr/>
        </p:nvSpPr>
        <p:spPr>
          <a:xfrm>
            <a:off x="9024772" y="5847955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观察要点提醒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796305" y="613362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54" name="Text 51"/>
          <p:cNvSpPr/>
          <p:nvPr/>
        </p:nvSpPr>
        <p:spPr>
          <a:xfrm>
            <a:off x="9024772" y="6114604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紧急处理提示</a:t>
            </a:r>
            <a:endParaRPr lang="en-US" sz="1600" dirty="0"/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25" y="762000"/>
            <a:ext cx="4801235" cy="59912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功能展示：智能问答交互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07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pic>
        <p:nvPicPr>
          <p:cNvPr id="5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151" y="3821413"/>
            <a:ext cx="914400" cy="914400"/>
          </a:xfrm>
          <a:prstGeom prst="roundRect">
            <a:avLst>
              <a:gd name="adj" fmla="val 2419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5295884" y="1028486"/>
            <a:ext cx="6515100" cy="2533650"/>
          </a:xfrm>
          <a:custGeom>
            <a:avLst/>
            <a:gdLst/>
            <a:ahLst/>
            <a:cxnLst/>
            <a:rect l="l" t="t" r="r" b="b"/>
            <a:pathLst>
              <a:path w="6515100" h="2533650">
                <a:moveTo>
                  <a:pt x="114293" y="0"/>
                </a:moveTo>
                <a:lnTo>
                  <a:pt x="6400807" y="0"/>
                </a:lnTo>
                <a:cubicBezTo>
                  <a:pt x="6463929" y="0"/>
                  <a:pt x="6515100" y="51171"/>
                  <a:pt x="6515100" y="114293"/>
                </a:cubicBezTo>
                <a:lnTo>
                  <a:pt x="6515100" y="2419357"/>
                </a:lnTo>
                <a:cubicBezTo>
                  <a:pt x="6515100" y="2482479"/>
                  <a:pt x="6463929" y="2533650"/>
                  <a:pt x="6400807" y="2533650"/>
                </a:cubicBezTo>
                <a:lnTo>
                  <a:pt x="114293" y="2533650"/>
                </a:lnTo>
                <a:cubicBezTo>
                  <a:pt x="51171" y="2533650"/>
                  <a:pt x="0" y="2482479"/>
                  <a:pt x="0" y="241935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384" y="121898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8" name="Shape 5"/>
          <p:cNvSpPr/>
          <p:nvPr/>
        </p:nvSpPr>
        <p:spPr>
          <a:xfrm>
            <a:off x="5607761" y="135227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F4F7F6"/>
          </a:solidFill>
        </p:spPr>
      </p:sp>
      <p:sp>
        <p:nvSpPr>
          <p:cNvPr id="9" name="Text 6"/>
          <p:cNvSpPr/>
          <p:nvPr/>
        </p:nvSpPr>
        <p:spPr>
          <a:xfrm>
            <a:off x="6057801" y="129514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智能问答服务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384" y="1828521"/>
            <a:ext cx="62103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完成后，用户可以继续追问严重程度、扩散风险、观察重点或处理优先级等问题。系统采用聊天式交互界面，用户可快速选择常见问题或输入自定义问题，系统会结合本次识别结果、置信度和天气信息进行智能回答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384" y="2723555"/>
            <a:ext cx="3009900" cy="647700"/>
          </a:xfrm>
          <a:custGeom>
            <a:avLst/>
            <a:gdLst/>
            <a:ahLst/>
            <a:cxnLst/>
            <a:rect l="l" t="t" r="r" b="b"/>
            <a:pathLst>
              <a:path w="3009900" h="647700">
                <a:moveTo>
                  <a:pt x="76202" y="0"/>
                </a:moveTo>
                <a:lnTo>
                  <a:pt x="2933698" y="0"/>
                </a:lnTo>
                <a:cubicBezTo>
                  <a:pt x="2975783" y="0"/>
                  <a:pt x="3009900" y="34117"/>
                  <a:pt x="3009900" y="76202"/>
                </a:cubicBezTo>
                <a:lnTo>
                  <a:pt x="3009900" y="571498"/>
                </a:lnTo>
                <a:cubicBezTo>
                  <a:pt x="3009900" y="613583"/>
                  <a:pt x="2975783" y="647700"/>
                  <a:pt x="29336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2A574A">
              <a:alpha val="5098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5619701" y="296160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13" name="Text 10"/>
          <p:cNvSpPr/>
          <p:nvPr/>
        </p:nvSpPr>
        <p:spPr>
          <a:xfrm>
            <a:off x="5891031" y="2837822"/>
            <a:ext cx="1009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7×24小时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891031" y="3066357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全天候智能服务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610534" y="2723555"/>
            <a:ext cx="3009900" cy="647700"/>
          </a:xfrm>
          <a:custGeom>
            <a:avLst/>
            <a:gdLst/>
            <a:ahLst/>
            <a:cxnLst/>
            <a:rect l="l" t="t" r="r" b="b"/>
            <a:pathLst>
              <a:path w="3009900" h="647700">
                <a:moveTo>
                  <a:pt x="76202" y="0"/>
                </a:moveTo>
                <a:lnTo>
                  <a:pt x="2933698" y="0"/>
                </a:lnTo>
                <a:cubicBezTo>
                  <a:pt x="2975783" y="0"/>
                  <a:pt x="3009900" y="34117"/>
                  <a:pt x="3009900" y="76202"/>
                </a:cubicBezTo>
                <a:lnTo>
                  <a:pt x="3009900" y="571498"/>
                </a:lnTo>
                <a:cubicBezTo>
                  <a:pt x="3009900" y="613583"/>
                  <a:pt x="2975783" y="647700"/>
                  <a:pt x="29336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8AA39B">
              <a:alpha val="5098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8754567" y="2961601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0803" y="-4353"/>
                </a:moveTo>
                <a:cubicBezTo>
                  <a:pt x="76985" y="-5123"/>
                  <a:pt x="73067" y="-5123"/>
                  <a:pt x="69250" y="-4353"/>
                </a:cubicBezTo>
                <a:lnTo>
                  <a:pt x="6463" y="8204"/>
                </a:lnTo>
                <a:cubicBezTo>
                  <a:pt x="2712" y="8941"/>
                  <a:pt x="0" y="12256"/>
                  <a:pt x="0" y="16073"/>
                </a:cubicBezTo>
                <a:cubicBezTo>
                  <a:pt x="0" y="19523"/>
                  <a:pt x="2177" y="22536"/>
                  <a:pt x="5358" y="23641"/>
                </a:cubicBezTo>
                <a:lnTo>
                  <a:pt x="5358" y="48220"/>
                </a:lnTo>
                <a:lnTo>
                  <a:pt x="100" y="74541"/>
                </a:lnTo>
                <a:cubicBezTo>
                  <a:pt x="33" y="74842"/>
                  <a:pt x="0" y="75177"/>
                  <a:pt x="0" y="75512"/>
                </a:cubicBezTo>
                <a:cubicBezTo>
                  <a:pt x="0" y="78191"/>
                  <a:pt x="2177" y="80401"/>
                  <a:pt x="4889" y="80401"/>
                </a:cubicBezTo>
                <a:lnTo>
                  <a:pt x="16576" y="80401"/>
                </a:lnTo>
                <a:cubicBezTo>
                  <a:pt x="19255" y="80401"/>
                  <a:pt x="21465" y="78224"/>
                  <a:pt x="21465" y="75512"/>
                </a:cubicBezTo>
                <a:cubicBezTo>
                  <a:pt x="21465" y="75177"/>
                  <a:pt x="21431" y="74875"/>
                  <a:pt x="21364" y="74541"/>
                </a:cubicBezTo>
                <a:lnTo>
                  <a:pt x="16073" y="48220"/>
                </a:lnTo>
                <a:lnTo>
                  <a:pt x="16073" y="25885"/>
                </a:lnTo>
                <a:lnTo>
                  <a:pt x="32147" y="29100"/>
                </a:lnTo>
                <a:lnTo>
                  <a:pt x="32147" y="48220"/>
                </a:lnTo>
                <a:cubicBezTo>
                  <a:pt x="32147" y="71895"/>
                  <a:pt x="51335" y="91083"/>
                  <a:pt x="75009" y="91083"/>
                </a:cubicBezTo>
                <a:cubicBezTo>
                  <a:pt x="98684" y="91083"/>
                  <a:pt x="117872" y="71895"/>
                  <a:pt x="117872" y="48220"/>
                </a:cubicBezTo>
                <a:lnTo>
                  <a:pt x="117872" y="29100"/>
                </a:lnTo>
                <a:lnTo>
                  <a:pt x="143556" y="23976"/>
                </a:lnTo>
                <a:cubicBezTo>
                  <a:pt x="147306" y="23206"/>
                  <a:pt x="150019" y="19891"/>
                  <a:pt x="150019" y="16073"/>
                </a:cubicBezTo>
                <a:cubicBezTo>
                  <a:pt x="150019" y="12256"/>
                  <a:pt x="147306" y="8941"/>
                  <a:pt x="143556" y="8204"/>
                </a:cubicBezTo>
                <a:lnTo>
                  <a:pt x="80803" y="-4353"/>
                </a:lnTo>
                <a:close/>
                <a:moveTo>
                  <a:pt x="75009" y="75009"/>
                </a:moveTo>
                <a:cubicBezTo>
                  <a:pt x="60208" y="75009"/>
                  <a:pt x="48220" y="63021"/>
                  <a:pt x="48220" y="48220"/>
                </a:cubicBezTo>
                <a:lnTo>
                  <a:pt x="101798" y="48220"/>
                </a:lnTo>
                <a:cubicBezTo>
                  <a:pt x="101798" y="63021"/>
                  <a:pt x="89810" y="75009"/>
                  <a:pt x="75009" y="75009"/>
                </a:cubicBezTo>
                <a:close/>
                <a:moveTo>
                  <a:pt x="40217" y="107190"/>
                </a:moveTo>
                <a:cubicBezTo>
                  <a:pt x="19656" y="116633"/>
                  <a:pt x="5358" y="137394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66973" y="171450"/>
                </a:lnTo>
                <a:lnTo>
                  <a:pt x="66973" y="122560"/>
                </a:lnTo>
                <a:lnTo>
                  <a:pt x="47752" y="108161"/>
                </a:lnTo>
                <a:cubicBezTo>
                  <a:pt x="45575" y="106520"/>
                  <a:pt x="42662" y="106085"/>
                  <a:pt x="40184" y="107223"/>
                </a:cubicBezTo>
                <a:close/>
                <a:moveTo>
                  <a:pt x="83046" y="171450"/>
                </a:move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37394"/>
                  <a:pt x="130362" y="116633"/>
                  <a:pt x="109802" y="107223"/>
                </a:cubicBezTo>
                <a:cubicBezTo>
                  <a:pt x="107324" y="106085"/>
                  <a:pt x="104410" y="106520"/>
                  <a:pt x="102234" y="108161"/>
                </a:cubicBezTo>
                <a:lnTo>
                  <a:pt x="83013" y="122560"/>
                </a:lnTo>
                <a:lnTo>
                  <a:pt x="83013" y="171450"/>
                </a:lnTo>
                <a:close/>
              </a:path>
            </a:pathLst>
          </a:custGeom>
          <a:solidFill>
            <a:srgbClr val="8AA39B"/>
          </a:solidFill>
        </p:spPr>
      </p:sp>
      <p:sp>
        <p:nvSpPr>
          <p:cNvPr id="17" name="Text 14"/>
          <p:cNvSpPr/>
          <p:nvPr/>
        </p:nvSpPr>
        <p:spPr>
          <a:xfrm>
            <a:off x="9015182" y="2837822"/>
            <a:ext cx="876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专家级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015182" y="3066357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专业咨询服务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95884" y="3714006"/>
            <a:ext cx="6515100" cy="2905125"/>
          </a:xfrm>
          <a:custGeom>
            <a:avLst/>
            <a:gdLst/>
            <a:ahLst/>
            <a:cxnLst/>
            <a:rect l="l" t="t" r="r" b="b"/>
            <a:pathLst>
              <a:path w="6515100" h="2905125">
                <a:moveTo>
                  <a:pt x="114288" y="0"/>
                </a:moveTo>
                <a:lnTo>
                  <a:pt x="6400812" y="0"/>
                </a:lnTo>
                <a:cubicBezTo>
                  <a:pt x="6463932" y="0"/>
                  <a:pt x="6515100" y="51168"/>
                  <a:pt x="6515100" y="114288"/>
                </a:cubicBezTo>
                <a:lnTo>
                  <a:pt x="6515100" y="2790837"/>
                </a:lnTo>
                <a:cubicBezTo>
                  <a:pt x="6515100" y="2853957"/>
                  <a:pt x="6463932" y="2905125"/>
                  <a:pt x="6400812" y="2905125"/>
                </a:cubicBezTo>
                <a:lnTo>
                  <a:pt x="114288" y="2905125"/>
                </a:lnTo>
                <a:cubicBezTo>
                  <a:pt x="51168" y="2905125"/>
                  <a:pt x="0" y="2853957"/>
                  <a:pt x="0" y="2790837"/>
                </a:cubicBezTo>
                <a:lnTo>
                  <a:pt x="0" y="114288"/>
                </a:lnTo>
                <a:cubicBezTo>
                  <a:pt x="0" y="51168"/>
                  <a:pt x="51168" y="0"/>
                  <a:pt x="114288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20" name="Shape 17"/>
          <p:cNvSpPr/>
          <p:nvPr/>
        </p:nvSpPr>
        <p:spPr>
          <a:xfrm>
            <a:off x="5514959" y="39425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78581"/>
                </a:moveTo>
                <a:cubicBezTo>
                  <a:pt x="106397" y="78581"/>
                  <a:pt x="100013" y="84966"/>
                  <a:pt x="100013" y="92869"/>
                </a:cubicBezTo>
                <a:cubicBezTo>
                  <a:pt x="100013" y="98807"/>
                  <a:pt x="95235" y="103584"/>
                  <a:pt x="89297" y="103584"/>
                </a:cubicBezTo>
                <a:cubicBezTo>
                  <a:pt x="83359" y="103584"/>
                  <a:pt x="78581" y="98807"/>
                  <a:pt x="78581" y="92869"/>
                </a:cubicBezTo>
                <a:cubicBezTo>
                  <a:pt x="78581" y="73134"/>
                  <a:pt x="94565" y="57150"/>
                  <a:pt x="114300" y="57150"/>
                </a:cubicBezTo>
                <a:cubicBezTo>
                  <a:pt x="134035" y="57150"/>
                  <a:pt x="150019" y="73134"/>
                  <a:pt x="150019" y="92869"/>
                </a:cubicBezTo>
                <a:cubicBezTo>
                  <a:pt x="150019" y="113943"/>
                  <a:pt x="133945" y="122873"/>
                  <a:pt x="125016" y="126132"/>
                </a:cubicBezTo>
                <a:lnTo>
                  <a:pt x="125016" y="127828"/>
                </a:lnTo>
                <a:cubicBezTo>
                  <a:pt x="125016" y="133767"/>
                  <a:pt x="120238" y="138544"/>
                  <a:pt x="114300" y="138544"/>
                </a:cubicBezTo>
                <a:cubicBezTo>
                  <a:pt x="108362" y="138544"/>
                  <a:pt x="103584" y="133767"/>
                  <a:pt x="103584" y="127828"/>
                </a:cubicBezTo>
                <a:lnTo>
                  <a:pt x="103584" y="124212"/>
                </a:lnTo>
                <a:cubicBezTo>
                  <a:pt x="103584" y="115059"/>
                  <a:pt x="110192" y="108496"/>
                  <a:pt x="117024" y="106263"/>
                </a:cubicBezTo>
                <a:cubicBezTo>
                  <a:pt x="119881" y="105326"/>
                  <a:pt x="122917" y="103808"/>
                  <a:pt x="125150" y="101664"/>
                </a:cubicBezTo>
                <a:cubicBezTo>
                  <a:pt x="127069" y="99789"/>
                  <a:pt x="128588" y="97200"/>
                  <a:pt x="128588" y="92913"/>
                </a:cubicBezTo>
                <a:cubicBezTo>
                  <a:pt x="128588" y="85011"/>
                  <a:pt x="122203" y="78626"/>
                  <a:pt x="114300" y="78626"/>
                </a:cubicBezTo>
                <a:close/>
                <a:moveTo>
                  <a:pt x="100013" y="164306"/>
                </a:moveTo>
                <a:cubicBezTo>
                  <a:pt x="100013" y="156421"/>
                  <a:pt x="106415" y="150019"/>
                  <a:pt x="114300" y="150019"/>
                </a:cubicBezTo>
                <a:cubicBezTo>
                  <a:pt x="122185" y="150019"/>
                  <a:pt x="128588" y="156421"/>
                  <a:pt x="128588" y="164306"/>
                </a:cubicBezTo>
                <a:cubicBezTo>
                  <a:pt x="128588" y="172192"/>
                  <a:pt x="122185" y="178594"/>
                  <a:pt x="114300" y="178594"/>
                </a:cubicBezTo>
                <a:cubicBezTo>
                  <a:pt x="106415" y="178594"/>
                  <a:pt x="100013" y="172192"/>
                  <a:pt x="100013" y="164306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1" name="Text 18"/>
          <p:cNvSpPr/>
          <p:nvPr/>
        </p:nvSpPr>
        <p:spPr>
          <a:xfrm>
            <a:off x="5886318" y="3904506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常见问题类型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384" y="4361659"/>
            <a:ext cx="3009900" cy="723900"/>
          </a:xfrm>
          <a:custGeom>
            <a:avLst/>
            <a:gdLst/>
            <a:ahLst/>
            <a:cxnLst/>
            <a:rect l="l" t="t" r="r" b="b"/>
            <a:pathLst>
              <a:path w="3009900" h="723900">
                <a:moveTo>
                  <a:pt x="76198" y="0"/>
                </a:moveTo>
                <a:lnTo>
                  <a:pt x="2933702" y="0"/>
                </a:lnTo>
                <a:cubicBezTo>
                  <a:pt x="2975757" y="0"/>
                  <a:pt x="3009900" y="34143"/>
                  <a:pt x="3009900" y="76198"/>
                </a:cubicBezTo>
                <a:lnTo>
                  <a:pt x="3009900" y="647702"/>
                </a:lnTo>
                <a:cubicBezTo>
                  <a:pt x="3009900" y="689757"/>
                  <a:pt x="2975757" y="723900"/>
                  <a:pt x="29337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</p:spPr>
      </p:sp>
      <p:sp>
        <p:nvSpPr>
          <p:cNvPr id="23" name="Shape 20"/>
          <p:cNvSpPr/>
          <p:nvPr/>
        </p:nvSpPr>
        <p:spPr>
          <a:xfrm>
            <a:off x="5648276" y="4513957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7625" y="0"/>
                </a:moveTo>
                <a:cubicBezTo>
                  <a:pt x="31849" y="0"/>
                  <a:pt x="19050" y="12799"/>
                  <a:pt x="19050" y="28575"/>
                </a:cubicBezTo>
                <a:lnTo>
                  <a:pt x="19050" y="77599"/>
                </a:lnTo>
                <a:cubicBezTo>
                  <a:pt x="10269" y="85427"/>
                  <a:pt x="4763" y="96857"/>
                  <a:pt x="4763" y="109537"/>
                </a:cubicBezTo>
                <a:cubicBezTo>
                  <a:pt x="4763" y="133201"/>
                  <a:pt x="23961" y="152400"/>
                  <a:pt x="47625" y="152400"/>
                </a:cubicBezTo>
                <a:cubicBezTo>
                  <a:pt x="71289" y="152400"/>
                  <a:pt x="90488" y="133201"/>
                  <a:pt x="90488" y="109537"/>
                </a:cubicBezTo>
                <a:cubicBezTo>
                  <a:pt x="90488" y="96857"/>
                  <a:pt x="84981" y="85427"/>
                  <a:pt x="76200" y="77599"/>
                </a:cubicBezTo>
                <a:lnTo>
                  <a:pt x="76200" y="28575"/>
                </a:lnTo>
                <a:cubicBezTo>
                  <a:pt x="76200" y="12799"/>
                  <a:pt x="63401" y="0"/>
                  <a:pt x="47625" y="0"/>
                </a:cubicBezTo>
                <a:close/>
                <a:moveTo>
                  <a:pt x="66675" y="109537"/>
                </a:moveTo>
                <a:cubicBezTo>
                  <a:pt x="66675" y="120045"/>
                  <a:pt x="58132" y="128588"/>
                  <a:pt x="47625" y="128588"/>
                </a:cubicBezTo>
                <a:cubicBezTo>
                  <a:pt x="37118" y="128588"/>
                  <a:pt x="28575" y="120045"/>
                  <a:pt x="28575" y="109537"/>
                </a:cubicBezTo>
                <a:cubicBezTo>
                  <a:pt x="28575" y="101531"/>
                  <a:pt x="33486" y="94684"/>
                  <a:pt x="40481" y="91886"/>
                </a:cubicBezTo>
                <a:lnTo>
                  <a:pt x="40481" y="28575"/>
                </a:lnTo>
                <a:cubicBezTo>
                  <a:pt x="40481" y="24616"/>
                  <a:pt x="43666" y="21431"/>
                  <a:pt x="47625" y="21431"/>
                </a:cubicBezTo>
                <a:cubicBezTo>
                  <a:pt x="51584" y="21431"/>
                  <a:pt x="54769" y="24616"/>
                  <a:pt x="54769" y="28575"/>
                </a:cubicBezTo>
                <a:lnTo>
                  <a:pt x="54769" y="91886"/>
                </a:lnTo>
                <a:cubicBezTo>
                  <a:pt x="61764" y="94714"/>
                  <a:pt x="66675" y="101560"/>
                  <a:pt x="66675" y="109537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4" name="Text 21"/>
          <p:cNvSpPr/>
          <p:nvPr/>
        </p:nvSpPr>
        <p:spPr>
          <a:xfrm>
            <a:off x="5867301" y="4475927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严重程度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600651" y="4780606"/>
            <a:ext cx="2847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"这个现在严重吗？"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610534" y="4361659"/>
            <a:ext cx="3009900" cy="723900"/>
          </a:xfrm>
          <a:custGeom>
            <a:avLst/>
            <a:gdLst/>
            <a:ahLst/>
            <a:cxnLst/>
            <a:rect l="l" t="t" r="r" b="b"/>
            <a:pathLst>
              <a:path w="3009900" h="723900">
                <a:moveTo>
                  <a:pt x="76198" y="0"/>
                </a:moveTo>
                <a:lnTo>
                  <a:pt x="2933702" y="0"/>
                </a:lnTo>
                <a:cubicBezTo>
                  <a:pt x="2975757" y="0"/>
                  <a:pt x="3009900" y="34143"/>
                  <a:pt x="3009900" y="76198"/>
                </a:cubicBezTo>
                <a:lnTo>
                  <a:pt x="3009900" y="647702"/>
                </a:lnTo>
                <a:cubicBezTo>
                  <a:pt x="3009900" y="689757"/>
                  <a:pt x="2975757" y="723900"/>
                  <a:pt x="29337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</p:spPr>
      </p:sp>
      <p:sp>
        <p:nvSpPr>
          <p:cNvPr id="27" name="Shape 24"/>
          <p:cNvSpPr/>
          <p:nvPr/>
        </p:nvSpPr>
        <p:spPr>
          <a:xfrm>
            <a:off x="8743851" y="451395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8575" y="95250"/>
                </a:moveTo>
                <a:cubicBezTo>
                  <a:pt x="12799" y="95250"/>
                  <a:pt x="0" y="82451"/>
                  <a:pt x="0" y="66675"/>
                </a:cubicBezTo>
                <a:cubicBezTo>
                  <a:pt x="0" y="54025"/>
                  <a:pt x="8215" y="43279"/>
                  <a:pt x="19616" y="39529"/>
                </a:cubicBezTo>
                <a:cubicBezTo>
                  <a:pt x="19229" y="37534"/>
                  <a:pt x="19050" y="35451"/>
                  <a:pt x="19050" y="33338"/>
                </a:cubicBezTo>
                <a:cubicBezTo>
                  <a:pt x="19050" y="14913"/>
                  <a:pt x="33963" y="0"/>
                  <a:pt x="52388" y="0"/>
                </a:cubicBezTo>
                <a:cubicBezTo>
                  <a:pt x="65216" y="0"/>
                  <a:pt x="76349" y="7233"/>
                  <a:pt x="81915" y="17859"/>
                </a:cubicBezTo>
                <a:cubicBezTo>
                  <a:pt x="86291" y="12769"/>
                  <a:pt x="92779" y="9525"/>
                  <a:pt x="100013" y="9525"/>
                </a:cubicBezTo>
                <a:cubicBezTo>
                  <a:pt x="113169" y="9525"/>
                  <a:pt x="123825" y="20181"/>
                  <a:pt x="123825" y="33338"/>
                </a:cubicBezTo>
                <a:cubicBezTo>
                  <a:pt x="123825" y="34975"/>
                  <a:pt x="123646" y="36552"/>
                  <a:pt x="123349" y="38100"/>
                </a:cubicBezTo>
                <a:cubicBezTo>
                  <a:pt x="123498" y="38100"/>
                  <a:pt x="123676" y="38100"/>
                  <a:pt x="123825" y="38100"/>
                </a:cubicBezTo>
                <a:cubicBezTo>
                  <a:pt x="139601" y="38100"/>
                  <a:pt x="152400" y="50899"/>
                  <a:pt x="152400" y="66675"/>
                </a:cubicBezTo>
                <a:cubicBezTo>
                  <a:pt x="152400" y="82451"/>
                  <a:pt x="139601" y="95250"/>
                  <a:pt x="123825" y="95250"/>
                </a:cubicBezTo>
                <a:lnTo>
                  <a:pt x="28575" y="95250"/>
                </a:lnTo>
                <a:close/>
                <a:moveTo>
                  <a:pt x="29051" y="115550"/>
                </a:moveTo>
                <a:cubicBezTo>
                  <a:pt x="29379" y="114806"/>
                  <a:pt x="30123" y="114300"/>
                  <a:pt x="30956" y="114300"/>
                </a:cubicBezTo>
                <a:cubicBezTo>
                  <a:pt x="31790" y="114300"/>
                  <a:pt x="32534" y="114776"/>
                  <a:pt x="32861" y="115550"/>
                </a:cubicBezTo>
                <a:lnTo>
                  <a:pt x="41850" y="135850"/>
                </a:lnTo>
                <a:cubicBezTo>
                  <a:pt x="42505" y="137368"/>
                  <a:pt x="42863" y="138976"/>
                  <a:pt x="42863" y="140613"/>
                </a:cubicBezTo>
                <a:cubicBezTo>
                  <a:pt x="42863" y="147131"/>
                  <a:pt x="37475" y="152400"/>
                  <a:pt x="30956" y="152400"/>
                </a:cubicBezTo>
                <a:cubicBezTo>
                  <a:pt x="24438" y="152400"/>
                  <a:pt x="19050" y="147131"/>
                  <a:pt x="19050" y="140613"/>
                </a:cubicBezTo>
                <a:cubicBezTo>
                  <a:pt x="19050" y="138976"/>
                  <a:pt x="19407" y="137339"/>
                  <a:pt x="20062" y="135850"/>
                </a:cubicBezTo>
                <a:lnTo>
                  <a:pt x="29051" y="115550"/>
                </a:lnTo>
                <a:close/>
                <a:moveTo>
                  <a:pt x="74295" y="115550"/>
                </a:moveTo>
                <a:cubicBezTo>
                  <a:pt x="74622" y="114806"/>
                  <a:pt x="75367" y="114300"/>
                  <a:pt x="76200" y="114300"/>
                </a:cubicBezTo>
                <a:cubicBezTo>
                  <a:pt x="77033" y="114300"/>
                  <a:pt x="77778" y="114776"/>
                  <a:pt x="78105" y="115550"/>
                </a:cubicBezTo>
                <a:lnTo>
                  <a:pt x="87094" y="135850"/>
                </a:lnTo>
                <a:cubicBezTo>
                  <a:pt x="87749" y="137368"/>
                  <a:pt x="88106" y="138976"/>
                  <a:pt x="88106" y="140613"/>
                </a:cubicBezTo>
                <a:cubicBezTo>
                  <a:pt x="88106" y="147131"/>
                  <a:pt x="82719" y="152400"/>
                  <a:pt x="76200" y="152400"/>
                </a:cubicBezTo>
                <a:cubicBezTo>
                  <a:pt x="69681" y="152400"/>
                  <a:pt x="64294" y="147131"/>
                  <a:pt x="64294" y="140613"/>
                </a:cubicBezTo>
                <a:cubicBezTo>
                  <a:pt x="64294" y="138976"/>
                  <a:pt x="64651" y="137339"/>
                  <a:pt x="65306" y="135850"/>
                </a:cubicBezTo>
                <a:lnTo>
                  <a:pt x="74295" y="115550"/>
                </a:lnTo>
                <a:close/>
                <a:moveTo>
                  <a:pt x="110550" y="135850"/>
                </a:moveTo>
                <a:lnTo>
                  <a:pt x="119539" y="115550"/>
                </a:lnTo>
                <a:cubicBezTo>
                  <a:pt x="119866" y="114806"/>
                  <a:pt x="120610" y="114300"/>
                  <a:pt x="121444" y="114300"/>
                </a:cubicBezTo>
                <a:cubicBezTo>
                  <a:pt x="122277" y="114300"/>
                  <a:pt x="123021" y="114776"/>
                  <a:pt x="123349" y="115550"/>
                </a:cubicBezTo>
                <a:lnTo>
                  <a:pt x="132338" y="135850"/>
                </a:lnTo>
                <a:cubicBezTo>
                  <a:pt x="132993" y="137368"/>
                  <a:pt x="133350" y="138976"/>
                  <a:pt x="133350" y="140613"/>
                </a:cubicBezTo>
                <a:cubicBezTo>
                  <a:pt x="133350" y="147131"/>
                  <a:pt x="127962" y="152400"/>
                  <a:pt x="121444" y="152400"/>
                </a:cubicBezTo>
                <a:cubicBezTo>
                  <a:pt x="114925" y="152400"/>
                  <a:pt x="109537" y="147131"/>
                  <a:pt x="109537" y="140613"/>
                </a:cubicBezTo>
                <a:cubicBezTo>
                  <a:pt x="109537" y="138976"/>
                  <a:pt x="109895" y="137339"/>
                  <a:pt x="110550" y="13585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8" name="Text 25"/>
          <p:cNvSpPr/>
          <p:nvPr/>
        </p:nvSpPr>
        <p:spPr>
          <a:xfrm>
            <a:off x="8991452" y="4475927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天气影响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724801" y="4780606"/>
            <a:ext cx="2847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"下雨会不会更严重？"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486384" y="5199641"/>
            <a:ext cx="3009900" cy="723900"/>
          </a:xfrm>
          <a:custGeom>
            <a:avLst/>
            <a:gdLst/>
            <a:ahLst/>
            <a:cxnLst/>
            <a:rect l="l" t="t" r="r" b="b"/>
            <a:pathLst>
              <a:path w="3009900" h="723900">
                <a:moveTo>
                  <a:pt x="76198" y="0"/>
                </a:moveTo>
                <a:lnTo>
                  <a:pt x="2933702" y="0"/>
                </a:lnTo>
                <a:cubicBezTo>
                  <a:pt x="2975757" y="0"/>
                  <a:pt x="3009900" y="34143"/>
                  <a:pt x="3009900" y="76198"/>
                </a:cubicBezTo>
                <a:lnTo>
                  <a:pt x="3009900" y="647702"/>
                </a:lnTo>
                <a:cubicBezTo>
                  <a:pt x="3009900" y="689757"/>
                  <a:pt x="2975757" y="723900"/>
                  <a:pt x="29337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</p:spPr>
      </p:sp>
      <p:sp>
        <p:nvSpPr>
          <p:cNvPr id="31" name="Shape 28"/>
          <p:cNvSpPr/>
          <p:nvPr/>
        </p:nvSpPr>
        <p:spPr>
          <a:xfrm>
            <a:off x="5619701" y="535194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8543" y="19050"/>
                  <a:pt x="0" y="27593"/>
                  <a:pt x="0" y="38100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23813" y="133350"/>
                </a:lnTo>
                <a:lnTo>
                  <a:pt x="23813" y="19050"/>
                </a:lnTo>
                <a:lnTo>
                  <a:pt x="19050" y="19050"/>
                </a:lnTo>
                <a:close/>
                <a:moveTo>
                  <a:pt x="38100" y="19050"/>
                </a:moveTo>
                <a:lnTo>
                  <a:pt x="38100" y="133350"/>
                </a:lnTo>
                <a:lnTo>
                  <a:pt x="114300" y="133350"/>
                </a:lnTo>
                <a:lnTo>
                  <a:pt x="114300" y="19050"/>
                </a:lnTo>
                <a:lnTo>
                  <a:pt x="38100" y="19050"/>
                </a:lnTo>
                <a:close/>
                <a:moveTo>
                  <a:pt x="133350" y="133350"/>
                </a:moveTo>
                <a:cubicBezTo>
                  <a:pt x="143857" y="133350"/>
                  <a:pt x="152400" y="124807"/>
                  <a:pt x="152400" y="114300"/>
                </a:cubicBezTo>
                <a:lnTo>
                  <a:pt x="152400" y="38100"/>
                </a:lnTo>
                <a:cubicBezTo>
                  <a:pt x="152400" y="27593"/>
                  <a:pt x="143857" y="19050"/>
                  <a:pt x="133350" y="19050"/>
                </a:cubicBezTo>
                <a:lnTo>
                  <a:pt x="128588" y="19050"/>
                </a:lnTo>
                <a:lnTo>
                  <a:pt x="128588" y="133350"/>
                </a:lnTo>
                <a:lnTo>
                  <a:pt x="133350" y="133350"/>
                </a:lnTo>
                <a:close/>
                <a:moveTo>
                  <a:pt x="66675" y="54769"/>
                </a:moveTo>
                <a:cubicBezTo>
                  <a:pt x="66675" y="52149"/>
                  <a:pt x="68818" y="50006"/>
                  <a:pt x="71438" y="50006"/>
                </a:cubicBezTo>
                <a:lnTo>
                  <a:pt x="80962" y="50006"/>
                </a:lnTo>
                <a:cubicBezTo>
                  <a:pt x="83582" y="50006"/>
                  <a:pt x="85725" y="52149"/>
                  <a:pt x="85725" y="54769"/>
                </a:cubicBezTo>
                <a:lnTo>
                  <a:pt x="85725" y="66675"/>
                </a:lnTo>
                <a:lnTo>
                  <a:pt x="97631" y="66675"/>
                </a:lnTo>
                <a:cubicBezTo>
                  <a:pt x="100251" y="66675"/>
                  <a:pt x="102394" y="68818"/>
                  <a:pt x="102394" y="71438"/>
                </a:cubicBezTo>
                <a:lnTo>
                  <a:pt x="102394" y="80962"/>
                </a:lnTo>
                <a:cubicBezTo>
                  <a:pt x="102394" y="83582"/>
                  <a:pt x="100251" y="85725"/>
                  <a:pt x="97631" y="85725"/>
                </a:cubicBezTo>
                <a:lnTo>
                  <a:pt x="85725" y="85725"/>
                </a:lnTo>
                <a:lnTo>
                  <a:pt x="85725" y="97631"/>
                </a:lnTo>
                <a:cubicBezTo>
                  <a:pt x="85725" y="100251"/>
                  <a:pt x="83582" y="102394"/>
                  <a:pt x="80962" y="102394"/>
                </a:cubicBezTo>
                <a:lnTo>
                  <a:pt x="71438" y="102394"/>
                </a:lnTo>
                <a:cubicBezTo>
                  <a:pt x="68818" y="102394"/>
                  <a:pt x="66675" y="100251"/>
                  <a:pt x="66675" y="97631"/>
                </a:cubicBezTo>
                <a:lnTo>
                  <a:pt x="66675" y="85725"/>
                </a:lnTo>
                <a:lnTo>
                  <a:pt x="54769" y="85725"/>
                </a:lnTo>
                <a:cubicBezTo>
                  <a:pt x="52149" y="85725"/>
                  <a:pt x="50006" y="83582"/>
                  <a:pt x="50006" y="80962"/>
                </a:cubicBezTo>
                <a:lnTo>
                  <a:pt x="50006" y="71438"/>
                </a:lnTo>
                <a:cubicBezTo>
                  <a:pt x="50006" y="68818"/>
                  <a:pt x="52149" y="66675"/>
                  <a:pt x="54769" y="66675"/>
                </a:cubicBezTo>
                <a:lnTo>
                  <a:pt x="66675" y="66675"/>
                </a:lnTo>
                <a:lnTo>
                  <a:pt x="66675" y="54769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32" name="Text 29"/>
          <p:cNvSpPr/>
          <p:nvPr/>
        </p:nvSpPr>
        <p:spPr>
          <a:xfrm>
            <a:off x="5867301" y="5313913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处理优先级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600651" y="5618592"/>
            <a:ext cx="2847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"需要马上处理吗？"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610534" y="5199641"/>
            <a:ext cx="3009900" cy="723900"/>
          </a:xfrm>
          <a:custGeom>
            <a:avLst/>
            <a:gdLst/>
            <a:ahLst/>
            <a:cxnLst/>
            <a:rect l="l" t="t" r="r" b="b"/>
            <a:pathLst>
              <a:path w="3009900" h="723900">
                <a:moveTo>
                  <a:pt x="76198" y="0"/>
                </a:moveTo>
                <a:lnTo>
                  <a:pt x="2933702" y="0"/>
                </a:lnTo>
                <a:cubicBezTo>
                  <a:pt x="2975757" y="0"/>
                  <a:pt x="3009900" y="34143"/>
                  <a:pt x="3009900" y="76198"/>
                </a:cubicBezTo>
                <a:lnTo>
                  <a:pt x="3009900" y="647702"/>
                </a:lnTo>
                <a:cubicBezTo>
                  <a:pt x="3009900" y="689757"/>
                  <a:pt x="2975757" y="723900"/>
                  <a:pt x="29337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</p:spPr>
      </p:sp>
      <p:sp>
        <p:nvSpPr>
          <p:cNvPr id="35" name="Shape 32"/>
          <p:cNvSpPr/>
          <p:nvPr/>
        </p:nvSpPr>
        <p:spPr>
          <a:xfrm>
            <a:off x="8734326" y="535194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36" name="Text 33"/>
          <p:cNvSpPr/>
          <p:nvPr/>
        </p:nvSpPr>
        <p:spPr>
          <a:xfrm>
            <a:off x="8991452" y="5313913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观察重点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724801" y="5618592"/>
            <a:ext cx="2847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"还要继续观察什么？"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486384" y="6078391"/>
            <a:ext cx="6134100" cy="5292"/>
          </a:xfrm>
          <a:custGeom>
            <a:avLst/>
            <a:gdLst/>
            <a:ahLst/>
            <a:cxnLst/>
            <a:rect l="l" t="t" r="r" b="b"/>
            <a:pathLst>
              <a:path w="6134100" h="5292">
                <a:moveTo>
                  <a:pt x="0" y="0"/>
                </a:moveTo>
                <a:lnTo>
                  <a:pt x="6134100" y="0"/>
                </a:lnTo>
                <a:lnTo>
                  <a:pt x="6134100" y="5292"/>
                </a:lnTo>
                <a:lnTo>
                  <a:pt x="0" y="5292"/>
                </a:lnTo>
                <a:lnTo>
                  <a:pt x="0" y="0"/>
                </a:lnTo>
                <a:close/>
              </a:path>
            </a:pathLst>
          </a:custGeom>
          <a:solidFill>
            <a:srgbClr val="F4F7F6">
              <a:alpha val="20000"/>
            </a:srgbClr>
          </a:solidFill>
        </p:spPr>
      </p:sp>
      <p:sp>
        <p:nvSpPr>
          <p:cNvPr id="39" name="Shape 36"/>
          <p:cNvSpPr/>
          <p:nvPr/>
        </p:nvSpPr>
        <p:spPr>
          <a:xfrm>
            <a:off x="5517340" y="6261948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40" name="Text 37"/>
          <p:cNvSpPr/>
          <p:nvPr/>
        </p:nvSpPr>
        <p:spPr>
          <a:xfrm>
            <a:off x="5729139" y="6233420"/>
            <a:ext cx="24574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支持自定义问题输入，AI智能理解并回答</a:t>
            </a:r>
            <a:endParaRPr lang="en-US" sz="1600" dirty="0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35" y="1075055"/>
            <a:ext cx="4393565" cy="54533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系统核心能力总结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07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4" name="Shape 2"/>
          <p:cNvSpPr/>
          <p:nvPr/>
        </p:nvSpPr>
        <p:spPr>
          <a:xfrm>
            <a:off x="381000" y="1028486"/>
            <a:ext cx="2743200" cy="2400300"/>
          </a:xfrm>
          <a:custGeom>
            <a:avLst/>
            <a:gdLst/>
            <a:ahLst/>
            <a:cxnLst/>
            <a:rect l="l" t="t" r="r" b="b"/>
            <a:pathLst>
              <a:path w="2743200" h="2400300">
                <a:moveTo>
                  <a:pt x="114302" y="0"/>
                </a:moveTo>
                <a:lnTo>
                  <a:pt x="2628898" y="0"/>
                </a:lnTo>
                <a:cubicBezTo>
                  <a:pt x="2691983" y="0"/>
                  <a:pt x="2743200" y="51217"/>
                  <a:pt x="2743200" y="114302"/>
                </a:cubicBezTo>
                <a:lnTo>
                  <a:pt x="2743200" y="2285998"/>
                </a:lnTo>
                <a:cubicBezTo>
                  <a:pt x="2743200" y="2349083"/>
                  <a:pt x="2691983" y="2400300"/>
                  <a:pt x="2628898" y="2400300"/>
                </a:cubicBezTo>
                <a:lnTo>
                  <a:pt x="114302" y="2400300"/>
                </a:lnTo>
                <a:cubicBezTo>
                  <a:pt x="51217" y="2400300"/>
                  <a:pt x="0" y="2349083"/>
                  <a:pt x="0" y="22859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7767" y="12189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6" name="Shape 4"/>
          <p:cNvSpPr/>
          <p:nvPr/>
        </p:nvSpPr>
        <p:spPr>
          <a:xfrm>
            <a:off x="1638234" y="140940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F4F7F6"/>
          </a:solidFill>
        </p:spPr>
      </p:sp>
      <p:sp>
        <p:nvSpPr>
          <p:cNvPr id="7" name="Text 5"/>
          <p:cNvSpPr/>
          <p:nvPr/>
        </p:nvSpPr>
        <p:spPr>
          <a:xfrm>
            <a:off x="523875" y="1942784"/>
            <a:ext cx="2457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精准识别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400" y="2285581"/>
            <a:ext cx="24384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AI模型准确率≥95%，支持三类叶片识别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0063" y="2894949"/>
            <a:ext cx="25050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≥95%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76534" y="1028486"/>
            <a:ext cx="2743200" cy="2400300"/>
          </a:xfrm>
          <a:custGeom>
            <a:avLst/>
            <a:gdLst/>
            <a:ahLst/>
            <a:cxnLst/>
            <a:rect l="l" t="t" r="r" b="b"/>
            <a:pathLst>
              <a:path w="2743200" h="2400300">
                <a:moveTo>
                  <a:pt x="114302" y="0"/>
                </a:moveTo>
                <a:lnTo>
                  <a:pt x="2628898" y="0"/>
                </a:lnTo>
                <a:cubicBezTo>
                  <a:pt x="2691983" y="0"/>
                  <a:pt x="2743200" y="51217"/>
                  <a:pt x="2743200" y="114302"/>
                </a:cubicBezTo>
                <a:lnTo>
                  <a:pt x="2743200" y="2285998"/>
                </a:lnTo>
                <a:cubicBezTo>
                  <a:pt x="2743200" y="2349083"/>
                  <a:pt x="2691983" y="2400300"/>
                  <a:pt x="2628898" y="2400300"/>
                </a:cubicBezTo>
                <a:lnTo>
                  <a:pt x="114302" y="2400300"/>
                </a:lnTo>
                <a:cubicBezTo>
                  <a:pt x="51217" y="2400300"/>
                  <a:pt x="0" y="2349083"/>
                  <a:pt x="0" y="22859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384" y="12189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12" name="Shape 10"/>
          <p:cNvSpPr/>
          <p:nvPr/>
        </p:nvSpPr>
        <p:spPr>
          <a:xfrm>
            <a:off x="4533851" y="140940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4F7F6"/>
          </a:solidFill>
        </p:spPr>
      </p:sp>
      <p:sp>
        <p:nvSpPr>
          <p:cNvPr id="13" name="Text 11"/>
          <p:cNvSpPr/>
          <p:nvPr/>
        </p:nvSpPr>
        <p:spPr>
          <a:xfrm>
            <a:off x="3419409" y="1942784"/>
            <a:ext cx="2457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智能分析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8934" y="2285581"/>
            <a:ext cx="2438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结合图像+环境数据生成综合报告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95597" y="2647401"/>
            <a:ext cx="25050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AA39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多维分析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151" y="1028486"/>
            <a:ext cx="2743200" cy="2400300"/>
          </a:xfrm>
          <a:custGeom>
            <a:avLst/>
            <a:gdLst/>
            <a:ahLst/>
            <a:cxnLst/>
            <a:rect l="l" t="t" r="r" b="b"/>
            <a:pathLst>
              <a:path w="2743200" h="2400300">
                <a:moveTo>
                  <a:pt x="114302" y="0"/>
                </a:moveTo>
                <a:lnTo>
                  <a:pt x="2628898" y="0"/>
                </a:lnTo>
                <a:cubicBezTo>
                  <a:pt x="2691983" y="0"/>
                  <a:pt x="2743200" y="51217"/>
                  <a:pt x="2743200" y="114302"/>
                </a:cubicBezTo>
                <a:lnTo>
                  <a:pt x="2743200" y="2285998"/>
                </a:lnTo>
                <a:cubicBezTo>
                  <a:pt x="2743200" y="2349083"/>
                  <a:pt x="2691983" y="2400300"/>
                  <a:pt x="2628898" y="2400300"/>
                </a:cubicBezTo>
                <a:lnTo>
                  <a:pt x="114302" y="2400300"/>
                </a:lnTo>
                <a:cubicBezTo>
                  <a:pt x="51217" y="2400300"/>
                  <a:pt x="0" y="2349083"/>
                  <a:pt x="0" y="22859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39001" y="12189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18" name="Shape 16"/>
          <p:cNvSpPr/>
          <p:nvPr/>
        </p:nvSpPr>
        <p:spPr>
          <a:xfrm>
            <a:off x="7443755" y="140940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3572"/>
                </a:move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lose/>
                <a:moveTo>
                  <a:pt x="126802" y="143232"/>
                </a:moveTo>
                <a:cubicBezTo>
                  <a:pt x="124391" y="143009"/>
                  <a:pt x="121890" y="142875"/>
                  <a:pt x="119390" y="142875"/>
                </a:cubicBezTo>
                <a:lnTo>
                  <a:pt x="80590" y="142875"/>
                </a:lnTo>
                <a:cubicBezTo>
                  <a:pt x="78090" y="142875"/>
                  <a:pt x="75634" y="143009"/>
                  <a:pt x="73179" y="143232"/>
                </a:cubicBezTo>
                <a:lnTo>
                  <a:pt x="73179" y="173370"/>
                </a:lnTo>
                <a:cubicBezTo>
                  <a:pt x="80546" y="176763"/>
                  <a:pt x="85680" y="184219"/>
                  <a:pt x="85680" y="192837"/>
                </a:cubicBezTo>
                <a:cubicBezTo>
                  <a:pt x="85680" y="204668"/>
                  <a:pt x="76081" y="214268"/>
                  <a:pt x="64249" y="214268"/>
                </a:cubicBezTo>
                <a:cubicBezTo>
                  <a:pt x="52417" y="214268"/>
                  <a:pt x="42818" y="204668"/>
                  <a:pt x="42818" y="192837"/>
                </a:cubicBezTo>
                <a:cubicBezTo>
                  <a:pt x="42818" y="184175"/>
                  <a:pt x="47952" y="176719"/>
                  <a:pt x="55319" y="173370"/>
                </a:cubicBezTo>
                <a:lnTo>
                  <a:pt x="55319" y="147295"/>
                </a:lnTo>
                <a:cubicBezTo>
                  <a:pt x="27236" y="157609"/>
                  <a:pt x="7144" y="184666"/>
                  <a:pt x="7144" y="216366"/>
                </a:cubicBezTo>
                <a:cubicBezTo>
                  <a:pt x="7144" y="223108"/>
                  <a:pt x="12636" y="228600"/>
                  <a:pt x="19377" y="228600"/>
                </a:cubicBezTo>
                <a:lnTo>
                  <a:pt x="180603" y="228600"/>
                </a:lnTo>
                <a:cubicBezTo>
                  <a:pt x="187345" y="228600"/>
                  <a:pt x="192837" y="223108"/>
                  <a:pt x="192837" y="216366"/>
                </a:cubicBezTo>
                <a:cubicBezTo>
                  <a:pt x="192837" y="184666"/>
                  <a:pt x="172745" y="157654"/>
                  <a:pt x="144616" y="147340"/>
                </a:cubicBezTo>
                <a:lnTo>
                  <a:pt x="144616" y="164038"/>
                </a:lnTo>
                <a:cubicBezTo>
                  <a:pt x="155019" y="167700"/>
                  <a:pt x="162476" y="177656"/>
                  <a:pt x="162476" y="189309"/>
                </a:cubicBezTo>
                <a:lnTo>
                  <a:pt x="162476" y="203597"/>
                </a:lnTo>
                <a:cubicBezTo>
                  <a:pt x="162476" y="208508"/>
                  <a:pt x="158457" y="212527"/>
                  <a:pt x="153546" y="212527"/>
                </a:cubicBezTo>
                <a:cubicBezTo>
                  <a:pt x="148635" y="212527"/>
                  <a:pt x="144616" y="208508"/>
                  <a:pt x="144616" y="203597"/>
                </a:cubicBezTo>
                <a:lnTo>
                  <a:pt x="144616" y="189309"/>
                </a:lnTo>
                <a:cubicBezTo>
                  <a:pt x="144616" y="184398"/>
                  <a:pt x="140598" y="180380"/>
                  <a:pt x="135687" y="180380"/>
                </a:cubicBezTo>
                <a:cubicBezTo>
                  <a:pt x="130775" y="180380"/>
                  <a:pt x="126757" y="184398"/>
                  <a:pt x="126757" y="189309"/>
                </a:cubicBezTo>
                <a:lnTo>
                  <a:pt x="126757" y="203597"/>
                </a:lnTo>
                <a:cubicBezTo>
                  <a:pt x="126757" y="208508"/>
                  <a:pt x="122739" y="212527"/>
                  <a:pt x="117827" y="212527"/>
                </a:cubicBezTo>
                <a:cubicBezTo>
                  <a:pt x="112916" y="212527"/>
                  <a:pt x="108898" y="208508"/>
                  <a:pt x="108898" y="203597"/>
                </a:cubicBezTo>
                <a:lnTo>
                  <a:pt x="108898" y="189309"/>
                </a:lnTo>
                <a:cubicBezTo>
                  <a:pt x="108898" y="177656"/>
                  <a:pt x="116354" y="167744"/>
                  <a:pt x="126757" y="164038"/>
                </a:cubicBezTo>
                <a:lnTo>
                  <a:pt x="126757" y="143232"/>
                </a:lnTo>
                <a:close/>
              </a:path>
            </a:pathLst>
          </a:custGeom>
          <a:solidFill>
            <a:srgbClr val="1E2D2B"/>
          </a:solidFill>
        </p:spPr>
      </p:sp>
      <p:sp>
        <p:nvSpPr>
          <p:cNvPr id="19" name="Text 17"/>
          <p:cNvSpPr/>
          <p:nvPr/>
        </p:nvSpPr>
        <p:spPr>
          <a:xfrm>
            <a:off x="6315026" y="1942784"/>
            <a:ext cx="2457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个性建议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24551" y="2285581"/>
            <a:ext cx="24384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基于位置和天气推送针对性防控方案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91213" y="2894949"/>
            <a:ext cx="25050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05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精准推送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67767" y="1028486"/>
            <a:ext cx="2743200" cy="2400300"/>
          </a:xfrm>
          <a:custGeom>
            <a:avLst/>
            <a:gdLst/>
            <a:ahLst/>
            <a:cxnLst/>
            <a:rect l="l" t="t" r="r" b="b"/>
            <a:pathLst>
              <a:path w="2743200" h="2400300">
                <a:moveTo>
                  <a:pt x="114302" y="0"/>
                </a:moveTo>
                <a:lnTo>
                  <a:pt x="2628898" y="0"/>
                </a:lnTo>
                <a:cubicBezTo>
                  <a:pt x="2691983" y="0"/>
                  <a:pt x="2743200" y="51217"/>
                  <a:pt x="2743200" y="114302"/>
                </a:cubicBezTo>
                <a:lnTo>
                  <a:pt x="2743200" y="2285998"/>
                </a:lnTo>
                <a:cubicBezTo>
                  <a:pt x="2743200" y="2349083"/>
                  <a:pt x="2691983" y="2400300"/>
                  <a:pt x="2628898" y="2400300"/>
                </a:cubicBezTo>
                <a:lnTo>
                  <a:pt x="114302" y="2400300"/>
                </a:lnTo>
                <a:cubicBezTo>
                  <a:pt x="51217" y="2400300"/>
                  <a:pt x="0" y="2349083"/>
                  <a:pt x="0" y="22859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34617" y="12189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24" name="Shape 22"/>
          <p:cNvSpPr/>
          <p:nvPr/>
        </p:nvSpPr>
        <p:spPr>
          <a:xfrm>
            <a:off x="10353659" y="140940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144" y="28575"/>
                </a:moveTo>
                <a:cubicBezTo>
                  <a:pt x="7144" y="12814"/>
                  <a:pt x="19958" y="0"/>
                  <a:pt x="35719" y="0"/>
                </a:cubicBezTo>
                <a:lnTo>
                  <a:pt x="135731" y="0"/>
                </a:lnTo>
                <a:cubicBezTo>
                  <a:pt x="151492" y="0"/>
                  <a:pt x="164306" y="12814"/>
                  <a:pt x="164306" y="28575"/>
                </a:cubicBezTo>
                <a:lnTo>
                  <a:pt x="164306" y="200025"/>
                </a:lnTo>
                <a:cubicBezTo>
                  <a:pt x="164306" y="215786"/>
                  <a:pt x="151492" y="228600"/>
                  <a:pt x="135731" y="228600"/>
                </a:cubicBezTo>
                <a:lnTo>
                  <a:pt x="35719" y="228600"/>
                </a:lnTo>
                <a:cubicBezTo>
                  <a:pt x="19958" y="228600"/>
                  <a:pt x="7144" y="215786"/>
                  <a:pt x="7144" y="200025"/>
                </a:cubicBezTo>
                <a:lnTo>
                  <a:pt x="7144" y="28575"/>
                </a:lnTo>
                <a:close/>
                <a:moveTo>
                  <a:pt x="35719" y="28575"/>
                </a:moveTo>
                <a:lnTo>
                  <a:pt x="35719" y="164306"/>
                </a:lnTo>
                <a:lnTo>
                  <a:pt x="135731" y="164306"/>
                </a:lnTo>
                <a:lnTo>
                  <a:pt x="135731" y="28575"/>
                </a:lnTo>
                <a:lnTo>
                  <a:pt x="35719" y="28575"/>
                </a:lnTo>
                <a:close/>
                <a:moveTo>
                  <a:pt x="85725" y="210741"/>
                </a:moveTo>
                <a:cubicBezTo>
                  <a:pt x="93628" y="210741"/>
                  <a:pt x="100013" y="204356"/>
                  <a:pt x="100013" y="196453"/>
                </a:cubicBezTo>
                <a:cubicBezTo>
                  <a:pt x="100013" y="188550"/>
                  <a:pt x="93628" y="182166"/>
                  <a:pt x="85725" y="182166"/>
                </a:cubicBezTo>
                <a:cubicBezTo>
                  <a:pt x="77822" y="182166"/>
                  <a:pt x="71438" y="188550"/>
                  <a:pt x="71438" y="196453"/>
                </a:cubicBezTo>
                <a:cubicBezTo>
                  <a:pt x="71438" y="204356"/>
                  <a:pt x="77822" y="210741"/>
                  <a:pt x="85725" y="210741"/>
                </a:cubicBezTo>
                <a:close/>
              </a:path>
            </a:pathLst>
          </a:custGeom>
          <a:solidFill>
            <a:srgbClr val="F4F7F6"/>
          </a:solidFill>
        </p:spPr>
      </p:sp>
      <p:sp>
        <p:nvSpPr>
          <p:cNvPr id="25" name="Text 23"/>
          <p:cNvSpPr/>
          <p:nvPr/>
        </p:nvSpPr>
        <p:spPr>
          <a:xfrm>
            <a:off x="9210642" y="1942784"/>
            <a:ext cx="2457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便捷交互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20167" y="2285581"/>
            <a:ext cx="24384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拍照即识别，问答式服务，零门槛使用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86830" y="2894949"/>
            <a:ext cx="25050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零门槛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3580721"/>
            <a:ext cx="11430000" cy="3105150"/>
          </a:xfrm>
          <a:custGeom>
            <a:avLst/>
            <a:gdLst/>
            <a:ahLst/>
            <a:cxnLst/>
            <a:rect l="l" t="t" r="r" b="b"/>
            <a:pathLst>
              <a:path w="11430000" h="3105150">
                <a:moveTo>
                  <a:pt x="114301" y="0"/>
                </a:moveTo>
                <a:lnTo>
                  <a:pt x="11315699" y="0"/>
                </a:lnTo>
                <a:cubicBezTo>
                  <a:pt x="11378826" y="0"/>
                  <a:pt x="11430000" y="51174"/>
                  <a:pt x="11430000" y="114301"/>
                </a:cubicBezTo>
                <a:lnTo>
                  <a:pt x="11430000" y="2990849"/>
                </a:lnTo>
                <a:cubicBezTo>
                  <a:pt x="11430000" y="3053976"/>
                  <a:pt x="11378826" y="3105150"/>
                  <a:pt x="11315699" y="3105150"/>
                </a:cubicBezTo>
                <a:lnTo>
                  <a:pt x="114301" y="3105150"/>
                </a:lnTo>
                <a:cubicBezTo>
                  <a:pt x="51174" y="3105150"/>
                  <a:pt x="0" y="3053976"/>
                  <a:pt x="0" y="299084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29" name="Shape 27"/>
          <p:cNvSpPr/>
          <p:nvPr/>
        </p:nvSpPr>
        <p:spPr>
          <a:xfrm>
            <a:off x="600075" y="38092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30" name="Text 28"/>
          <p:cNvSpPr/>
          <p:nvPr/>
        </p:nvSpPr>
        <p:spPr>
          <a:xfrm>
            <a:off x="971434" y="3771221"/>
            <a:ext cx="27908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"识别-分析-建议"完整闭环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795446" y="4236312"/>
            <a:ext cx="749300" cy="749300"/>
          </a:xfrm>
          <a:custGeom>
            <a:avLst/>
            <a:gdLst/>
            <a:ahLst/>
            <a:cxnLst/>
            <a:rect l="l" t="t" r="r" b="b"/>
            <a:pathLst>
              <a:path w="749300" h="749300">
                <a:moveTo>
                  <a:pt x="374650" y="0"/>
                </a:moveTo>
                <a:lnTo>
                  <a:pt x="374650" y="0"/>
                </a:lnTo>
                <a:cubicBezTo>
                  <a:pt x="581425" y="0"/>
                  <a:pt x="749300" y="167875"/>
                  <a:pt x="749300" y="374650"/>
                </a:cubicBezTo>
                <a:lnTo>
                  <a:pt x="749300" y="374650"/>
                </a:lnTo>
                <a:cubicBezTo>
                  <a:pt x="749300" y="581425"/>
                  <a:pt x="581425" y="749300"/>
                  <a:pt x="374650" y="749300"/>
                </a:cubicBezTo>
                <a:lnTo>
                  <a:pt x="374650" y="749300"/>
                </a:lnTo>
                <a:cubicBezTo>
                  <a:pt x="167875" y="749300"/>
                  <a:pt x="0" y="581425"/>
                  <a:pt x="0" y="374650"/>
                </a:cubicBezTo>
                <a:lnTo>
                  <a:pt x="0" y="374650"/>
                </a:lnTo>
                <a:cubicBezTo>
                  <a:pt x="0" y="167875"/>
                  <a:pt x="167875" y="0"/>
                  <a:pt x="374650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  <a:ln w="21167">
            <a:solidFill>
              <a:srgbClr val="D4A05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28015" y="446649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3214" y="36165"/>
                </a:moveTo>
                <a:lnTo>
                  <a:pt x="77409" y="53578"/>
                </a:lnTo>
                <a:lnTo>
                  <a:pt x="35719" y="53578"/>
                </a:lnTo>
                <a:cubicBezTo>
                  <a:pt x="16018" y="53578"/>
                  <a:pt x="0" y="69596"/>
                  <a:pt x="0" y="89297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50031" y="267891"/>
                </a:lnTo>
                <a:cubicBezTo>
                  <a:pt x="269732" y="267891"/>
                  <a:pt x="285750" y="251873"/>
                  <a:pt x="285750" y="232172"/>
                </a:cubicBezTo>
                <a:lnTo>
                  <a:pt x="285750" y="89297"/>
                </a:lnTo>
                <a:cubicBezTo>
                  <a:pt x="285750" y="69596"/>
                  <a:pt x="269732" y="53578"/>
                  <a:pt x="250031" y="53578"/>
                </a:cubicBezTo>
                <a:lnTo>
                  <a:pt x="208341" y="53578"/>
                </a:lnTo>
                <a:lnTo>
                  <a:pt x="202536" y="36165"/>
                </a:lnTo>
                <a:cubicBezTo>
                  <a:pt x="198909" y="25226"/>
                  <a:pt x="188695" y="17859"/>
                  <a:pt x="177143" y="17859"/>
                </a:cubicBezTo>
                <a:lnTo>
                  <a:pt x="108607" y="17859"/>
                </a:lnTo>
                <a:cubicBezTo>
                  <a:pt x="97055" y="17859"/>
                  <a:pt x="86841" y="25226"/>
                  <a:pt x="83214" y="36165"/>
                </a:cubicBezTo>
                <a:close/>
                <a:moveTo>
                  <a:pt x="142875" y="107156"/>
                </a:moveTo>
                <a:cubicBezTo>
                  <a:pt x="172446" y="107156"/>
                  <a:pt x="196453" y="131164"/>
                  <a:pt x="196453" y="160734"/>
                </a:cubicBezTo>
                <a:cubicBezTo>
                  <a:pt x="196453" y="190305"/>
                  <a:pt x="172446" y="214313"/>
                  <a:pt x="142875" y="214313"/>
                </a:cubicBezTo>
                <a:cubicBezTo>
                  <a:pt x="113304" y="214313"/>
                  <a:pt x="89297" y="190305"/>
                  <a:pt x="89297" y="160734"/>
                </a:cubicBezTo>
                <a:cubicBezTo>
                  <a:pt x="89297" y="131164"/>
                  <a:pt x="113304" y="107156"/>
                  <a:pt x="142875" y="107156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33" name="Text 31"/>
          <p:cNvSpPr/>
          <p:nvPr/>
        </p:nvSpPr>
        <p:spPr>
          <a:xfrm>
            <a:off x="523875" y="5104637"/>
            <a:ext cx="3286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识别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3400" y="5447435"/>
            <a:ext cx="32670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拍照上传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AI智能识别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960846" y="489181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36605" y="186586"/>
                </a:moveTo>
                <a:cubicBezTo>
                  <a:pt x="344976" y="178214"/>
                  <a:pt x="344976" y="164619"/>
                  <a:pt x="336605" y="156247"/>
                </a:cubicBezTo>
                <a:lnTo>
                  <a:pt x="229448" y="49091"/>
                </a:lnTo>
                <a:cubicBezTo>
                  <a:pt x="221077" y="40719"/>
                  <a:pt x="207481" y="40719"/>
                  <a:pt x="199110" y="49091"/>
                </a:cubicBezTo>
                <a:cubicBezTo>
                  <a:pt x="190738" y="57463"/>
                  <a:pt x="190738" y="71058"/>
                  <a:pt x="199110" y="79430"/>
                </a:cubicBezTo>
                <a:lnTo>
                  <a:pt x="269699" y="150019"/>
                </a:lnTo>
                <a:lnTo>
                  <a:pt x="21431" y="150019"/>
                </a:lnTo>
                <a:cubicBezTo>
                  <a:pt x="9577" y="150019"/>
                  <a:pt x="0" y="159596"/>
                  <a:pt x="0" y="171450"/>
                </a:cubicBezTo>
                <a:cubicBezTo>
                  <a:pt x="0" y="183304"/>
                  <a:pt x="9577" y="192881"/>
                  <a:pt x="21431" y="192881"/>
                </a:cubicBezTo>
                <a:lnTo>
                  <a:pt x="269699" y="192881"/>
                </a:lnTo>
                <a:lnTo>
                  <a:pt x="199110" y="263470"/>
                </a:lnTo>
                <a:cubicBezTo>
                  <a:pt x="190738" y="271842"/>
                  <a:pt x="190738" y="285437"/>
                  <a:pt x="199110" y="293809"/>
                </a:cubicBezTo>
                <a:cubicBezTo>
                  <a:pt x="207481" y="302181"/>
                  <a:pt x="221077" y="302181"/>
                  <a:pt x="229448" y="293809"/>
                </a:cubicBezTo>
                <a:lnTo>
                  <a:pt x="336605" y="186653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36" name="Shape 34"/>
          <p:cNvSpPr/>
          <p:nvPr/>
        </p:nvSpPr>
        <p:spPr>
          <a:xfrm>
            <a:off x="5722855" y="4236312"/>
            <a:ext cx="749300" cy="749300"/>
          </a:xfrm>
          <a:custGeom>
            <a:avLst/>
            <a:gdLst/>
            <a:ahLst/>
            <a:cxnLst/>
            <a:rect l="l" t="t" r="r" b="b"/>
            <a:pathLst>
              <a:path w="749300" h="749300">
                <a:moveTo>
                  <a:pt x="374650" y="0"/>
                </a:moveTo>
                <a:lnTo>
                  <a:pt x="374650" y="0"/>
                </a:lnTo>
                <a:cubicBezTo>
                  <a:pt x="581425" y="0"/>
                  <a:pt x="749300" y="167875"/>
                  <a:pt x="749300" y="374650"/>
                </a:cubicBezTo>
                <a:lnTo>
                  <a:pt x="749300" y="374650"/>
                </a:lnTo>
                <a:cubicBezTo>
                  <a:pt x="749300" y="581425"/>
                  <a:pt x="581425" y="749300"/>
                  <a:pt x="374650" y="749300"/>
                </a:cubicBezTo>
                <a:lnTo>
                  <a:pt x="374650" y="749300"/>
                </a:lnTo>
                <a:cubicBezTo>
                  <a:pt x="167875" y="749300"/>
                  <a:pt x="0" y="581425"/>
                  <a:pt x="0" y="374650"/>
                </a:cubicBezTo>
                <a:lnTo>
                  <a:pt x="0" y="374650"/>
                </a:lnTo>
                <a:cubicBezTo>
                  <a:pt x="0" y="167875"/>
                  <a:pt x="167875" y="0"/>
                  <a:pt x="374650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  <a:ln w="21167">
            <a:solidFill>
              <a:srgbClr val="D4A05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55424" y="446649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38" name="Text 36"/>
          <p:cNvSpPr/>
          <p:nvPr/>
        </p:nvSpPr>
        <p:spPr>
          <a:xfrm>
            <a:off x="4451284" y="5104637"/>
            <a:ext cx="3286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分析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60809" y="5447435"/>
            <a:ext cx="32670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图像+环境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综合分析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888255" y="489181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36605" y="186586"/>
                </a:moveTo>
                <a:cubicBezTo>
                  <a:pt x="344976" y="178214"/>
                  <a:pt x="344976" y="164619"/>
                  <a:pt x="336605" y="156247"/>
                </a:cubicBezTo>
                <a:lnTo>
                  <a:pt x="229448" y="49091"/>
                </a:lnTo>
                <a:cubicBezTo>
                  <a:pt x="221077" y="40719"/>
                  <a:pt x="207481" y="40719"/>
                  <a:pt x="199110" y="49091"/>
                </a:cubicBezTo>
                <a:cubicBezTo>
                  <a:pt x="190738" y="57463"/>
                  <a:pt x="190738" y="71058"/>
                  <a:pt x="199110" y="79430"/>
                </a:cubicBezTo>
                <a:lnTo>
                  <a:pt x="269699" y="150019"/>
                </a:lnTo>
                <a:lnTo>
                  <a:pt x="21431" y="150019"/>
                </a:lnTo>
                <a:cubicBezTo>
                  <a:pt x="9577" y="150019"/>
                  <a:pt x="0" y="159596"/>
                  <a:pt x="0" y="171450"/>
                </a:cubicBezTo>
                <a:cubicBezTo>
                  <a:pt x="0" y="183304"/>
                  <a:pt x="9577" y="192881"/>
                  <a:pt x="21431" y="192881"/>
                </a:cubicBezTo>
                <a:lnTo>
                  <a:pt x="269699" y="192881"/>
                </a:lnTo>
                <a:lnTo>
                  <a:pt x="199110" y="263470"/>
                </a:lnTo>
                <a:cubicBezTo>
                  <a:pt x="190738" y="271842"/>
                  <a:pt x="190738" y="285437"/>
                  <a:pt x="199110" y="293809"/>
                </a:cubicBezTo>
                <a:cubicBezTo>
                  <a:pt x="207481" y="302181"/>
                  <a:pt x="221077" y="302181"/>
                  <a:pt x="229448" y="293809"/>
                </a:cubicBezTo>
                <a:lnTo>
                  <a:pt x="336605" y="186653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41" name="Shape 39"/>
          <p:cNvSpPr/>
          <p:nvPr/>
        </p:nvSpPr>
        <p:spPr>
          <a:xfrm>
            <a:off x="9650264" y="4236312"/>
            <a:ext cx="749300" cy="749300"/>
          </a:xfrm>
          <a:custGeom>
            <a:avLst/>
            <a:gdLst/>
            <a:ahLst/>
            <a:cxnLst/>
            <a:rect l="l" t="t" r="r" b="b"/>
            <a:pathLst>
              <a:path w="749300" h="749300">
                <a:moveTo>
                  <a:pt x="374650" y="0"/>
                </a:moveTo>
                <a:lnTo>
                  <a:pt x="374650" y="0"/>
                </a:lnTo>
                <a:cubicBezTo>
                  <a:pt x="581425" y="0"/>
                  <a:pt x="749300" y="167875"/>
                  <a:pt x="749300" y="374650"/>
                </a:cubicBezTo>
                <a:lnTo>
                  <a:pt x="749300" y="374650"/>
                </a:lnTo>
                <a:cubicBezTo>
                  <a:pt x="749300" y="581425"/>
                  <a:pt x="581425" y="749300"/>
                  <a:pt x="374650" y="749300"/>
                </a:cubicBezTo>
                <a:lnTo>
                  <a:pt x="374650" y="749300"/>
                </a:lnTo>
                <a:cubicBezTo>
                  <a:pt x="167875" y="749300"/>
                  <a:pt x="0" y="581425"/>
                  <a:pt x="0" y="374650"/>
                </a:cubicBezTo>
                <a:lnTo>
                  <a:pt x="0" y="374650"/>
                </a:lnTo>
                <a:cubicBezTo>
                  <a:pt x="0" y="167875"/>
                  <a:pt x="167875" y="0"/>
                  <a:pt x="374650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  <a:ln w="21167">
            <a:solidFill>
              <a:srgbClr val="D4A05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18552" y="4466499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73794" y="17859"/>
                </a:moveTo>
                <a:lnTo>
                  <a:pt x="178594" y="17859"/>
                </a:lnTo>
                <a:cubicBezTo>
                  <a:pt x="198295" y="17859"/>
                  <a:pt x="214313" y="33877"/>
                  <a:pt x="214313" y="53578"/>
                </a:cubicBezTo>
                <a:lnTo>
                  <a:pt x="214313" y="250031"/>
                </a:lnTo>
                <a:cubicBezTo>
                  <a:pt x="214313" y="269732"/>
                  <a:pt x="198295" y="285750"/>
                  <a:pt x="178594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53578"/>
                </a:lnTo>
                <a:cubicBezTo>
                  <a:pt x="0" y="33877"/>
                  <a:pt x="16018" y="17859"/>
                  <a:pt x="35719" y="17859"/>
                </a:cubicBezTo>
                <a:lnTo>
                  <a:pt x="40518" y="17859"/>
                </a:lnTo>
                <a:cubicBezTo>
                  <a:pt x="46658" y="7200"/>
                  <a:pt x="58210" y="0"/>
                  <a:pt x="71438" y="0"/>
                </a:cubicBezTo>
                <a:lnTo>
                  <a:pt x="142875" y="0"/>
                </a:lnTo>
                <a:cubicBezTo>
                  <a:pt x="156102" y="0"/>
                  <a:pt x="167655" y="7200"/>
                  <a:pt x="173794" y="17859"/>
                </a:cubicBezTo>
                <a:close/>
                <a:moveTo>
                  <a:pt x="138410" y="62508"/>
                </a:moveTo>
                <a:cubicBezTo>
                  <a:pt x="145833" y="62508"/>
                  <a:pt x="151805" y="56536"/>
                  <a:pt x="151805" y="49113"/>
                </a:cubicBezTo>
                <a:cubicBezTo>
                  <a:pt x="151805" y="41690"/>
                  <a:pt x="145833" y="35719"/>
                  <a:pt x="138410" y="35719"/>
                </a:cubicBezTo>
                <a:lnTo>
                  <a:pt x="75902" y="35719"/>
                </a:lnTo>
                <a:cubicBezTo>
                  <a:pt x="68480" y="35719"/>
                  <a:pt x="62508" y="41690"/>
                  <a:pt x="62508" y="49113"/>
                </a:cubicBezTo>
                <a:cubicBezTo>
                  <a:pt x="62508" y="56536"/>
                  <a:pt x="68480" y="62508"/>
                  <a:pt x="75902" y="62508"/>
                </a:cubicBezTo>
                <a:lnTo>
                  <a:pt x="138410" y="62508"/>
                </a:lnTo>
                <a:close/>
                <a:moveTo>
                  <a:pt x="71438" y="142875"/>
                </a:moveTo>
                <a:cubicBezTo>
                  <a:pt x="71438" y="133018"/>
                  <a:pt x="63435" y="125016"/>
                  <a:pt x="53578" y="125016"/>
                </a:cubicBezTo>
                <a:cubicBezTo>
                  <a:pt x="43721" y="125016"/>
                  <a:pt x="35719" y="133018"/>
                  <a:pt x="35719" y="142875"/>
                </a:cubicBezTo>
                <a:cubicBezTo>
                  <a:pt x="35719" y="152732"/>
                  <a:pt x="43721" y="160734"/>
                  <a:pt x="53578" y="160734"/>
                </a:cubicBezTo>
                <a:cubicBezTo>
                  <a:pt x="63435" y="160734"/>
                  <a:pt x="71438" y="152732"/>
                  <a:pt x="71438" y="142875"/>
                </a:cubicBezTo>
                <a:close/>
                <a:moveTo>
                  <a:pt x="89297" y="142875"/>
                </a:moveTo>
                <a:cubicBezTo>
                  <a:pt x="89297" y="150298"/>
                  <a:pt x="95269" y="156270"/>
                  <a:pt x="102691" y="156270"/>
                </a:cubicBezTo>
                <a:lnTo>
                  <a:pt x="165199" y="156270"/>
                </a:lnTo>
                <a:cubicBezTo>
                  <a:pt x="172622" y="156270"/>
                  <a:pt x="178594" y="150298"/>
                  <a:pt x="178594" y="142875"/>
                </a:cubicBezTo>
                <a:cubicBezTo>
                  <a:pt x="178594" y="135452"/>
                  <a:pt x="172622" y="129480"/>
                  <a:pt x="165199" y="129480"/>
                </a:cubicBezTo>
                <a:lnTo>
                  <a:pt x="102691" y="129480"/>
                </a:lnTo>
                <a:cubicBezTo>
                  <a:pt x="95269" y="129480"/>
                  <a:pt x="89297" y="135452"/>
                  <a:pt x="89297" y="142875"/>
                </a:cubicBezTo>
                <a:close/>
                <a:moveTo>
                  <a:pt x="89297" y="214313"/>
                </a:moveTo>
                <a:cubicBezTo>
                  <a:pt x="89297" y="221735"/>
                  <a:pt x="95269" y="227707"/>
                  <a:pt x="102691" y="227707"/>
                </a:cubicBezTo>
                <a:lnTo>
                  <a:pt x="165199" y="227707"/>
                </a:lnTo>
                <a:cubicBezTo>
                  <a:pt x="172622" y="227707"/>
                  <a:pt x="178594" y="221735"/>
                  <a:pt x="178594" y="214313"/>
                </a:cubicBezTo>
                <a:cubicBezTo>
                  <a:pt x="178594" y="206890"/>
                  <a:pt x="172622" y="200918"/>
                  <a:pt x="165199" y="200918"/>
                </a:cubicBezTo>
                <a:lnTo>
                  <a:pt x="102691" y="200918"/>
                </a:lnTo>
                <a:cubicBezTo>
                  <a:pt x="95269" y="200918"/>
                  <a:pt x="89297" y="206890"/>
                  <a:pt x="89297" y="214313"/>
                </a:cubicBezTo>
                <a:close/>
                <a:moveTo>
                  <a:pt x="53578" y="232172"/>
                </a:moveTo>
                <a:cubicBezTo>
                  <a:pt x="63435" y="232172"/>
                  <a:pt x="71438" y="224169"/>
                  <a:pt x="71438" y="214313"/>
                </a:cubicBezTo>
                <a:cubicBezTo>
                  <a:pt x="71438" y="204456"/>
                  <a:pt x="63435" y="196453"/>
                  <a:pt x="53578" y="196453"/>
                </a:cubicBezTo>
                <a:cubicBezTo>
                  <a:pt x="43721" y="196453"/>
                  <a:pt x="35719" y="204456"/>
                  <a:pt x="35719" y="214313"/>
                </a:cubicBezTo>
                <a:cubicBezTo>
                  <a:pt x="35719" y="224169"/>
                  <a:pt x="43721" y="232172"/>
                  <a:pt x="53578" y="232172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43" name="Text 41"/>
          <p:cNvSpPr/>
          <p:nvPr/>
        </p:nvSpPr>
        <p:spPr>
          <a:xfrm>
            <a:off x="8378693" y="5104637"/>
            <a:ext cx="3286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建议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88218" y="5447435"/>
            <a:ext cx="32670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个性化防控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方案推送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71500" y="6059532"/>
            <a:ext cx="11049000" cy="5292"/>
          </a:xfrm>
          <a:custGeom>
            <a:avLst/>
            <a:gdLst/>
            <a:ahLst/>
            <a:cxnLst/>
            <a:rect l="l" t="t" r="r" b="b"/>
            <a:pathLst>
              <a:path w="11049000" h="5292">
                <a:moveTo>
                  <a:pt x="0" y="0"/>
                </a:moveTo>
                <a:lnTo>
                  <a:pt x="11049000" y="0"/>
                </a:lnTo>
                <a:lnTo>
                  <a:pt x="11049000" y="5292"/>
                </a:lnTo>
                <a:lnTo>
                  <a:pt x="0" y="5292"/>
                </a:lnTo>
                <a:lnTo>
                  <a:pt x="0" y="0"/>
                </a:lnTo>
                <a:close/>
              </a:path>
            </a:pathLst>
          </a:custGeom>
          <a:solidFill>
            <a:srgbClr val="F4F7F6">
              <a:alpha val="20000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528638" y="6214560"/>
            <a:ext cx="1113472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F4F7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系统实现了从"识别-分析-建议"的完整闭环，为种植户提供</a:t>
            </a:r>
            <a:r>
              <a:rPr lang="en-US" sz="1350" b="1" dirty="0">
                <a:solidFill>
                  <a:srgbClr val="D4A05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一站式病害防控解决方案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A0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accache.com/46f18596d892963429bd3ffa6c36133969bbb88e.png"/>
          <p:cNvPicPr>
            <a:picLocks noChangeAspect="1"/>
          </p:cNvPicPr>
          <p:nvPr/>
        </p:nvPicPr>
        <p:blipFill>
          <a:blip r:embed="rId1">
            <a:alphaModFix amt="30000"/>
          </a:blip>
          <a:srcRect l="18323" r="18323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4A056">
                  <a:alpha val="95000"/>
                </a:srgbClr>
              </a:gs>
              <a:gs pos="50000">
                <a:srgbClr val="D4A056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1000" y="1878955"/>
            <a:ext cx="1123950" cy="419100"/>
          </a:xfrm>
          <a:custGeom>
            <a:avLst/>
            <a:gdLst/>
            <a:ahLst/>
            <a:cxnLst/>
            <a:rect l="l" t="t" r="r" b="b"/>
            <a:pathLst>
              <a:path w="1123950" h="419100">
                <a:moveTo>
                  <a:pt x="0" y="0"/>
                </a:moveTo>
                <a:lnTo>
                  <a:pt x="1123950" y="0"/>
                </a:lnTo>
                <a:lnTo>
                  <a:pt x="11239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2A574A"/>
          </a:solidFill>
        </p:spPr>
      </p:sp>
      <p:sp>
        <p:nvSpPr>
          <p:cNvPr id="5" name="Text 2"/>
          <p:cNvSpPr/>
          <p:nvPr/>
        </p:nvSpPr>
        <p:spPr>
          <a:xfrm>
            <a:off x="381000" y="1878955"/>
            <a:ext cx="1209675" cy="419100"/>
          </a:xfrm>
          <a:prstGeom prst="rect">
            <a:avLst/>
          </a:prstGeom>
          <a:noFill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F4F7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PART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602753"/>
            <a:ext cx="11772900" cy="857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技术架构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688454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2A574A"/>
          </a:solidFill>
        </p:spPr>
      </p:sp>
      <p:sp>
        <p:nvSpPr>
          <p:cNvPr id="8" name="Text 5"/>
          <p:cNvSpPr/>
          <p:nvPr/>
        </p:nvSpPr>
        <p:spPr>
          <a:xfrm>
            <a:off x="381000" y="4050357"/>
            <a:ext cx="6543675" cy="933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4F7F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前端、后端、AI模型与数据对接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4F7F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四大技术层级构建完整闭环体系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技术架构与核心创新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07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4" name="Shape 2"/>
          <p:cNvSpPr/>
          <p:nvPr/>
        </p:nvSpPr>
        <p:spPr>
          <a:xfrm>
            <a:off x="381000" y="1047007"/>
            <a:ext cx="2743200" cy="1847321"/>
          </a:xfrm>
          <a:custGeom>
            <a:avLst/>
            <a:gdLst/>
            <a:ahLst/>
            <a:cxnLst/>
            <a:rect l="l" t="t" r="r" b="b"/>
            <a:pathLst>
              <a:path w="2743200" h="1847321">
                <a:moveTo>
                  <a:pt x="37042" y="0"/>
                </a:moveTo>
                <a:lnTo>
                  <a:pt x="2706158" y="0"/>
                </a:lnTo>
                <a:cubicBezTo>
                  <a:pt x="2726616" y="0"/>
                  <a:pt x="2743200" y="16584"/>
                  <a:pt x="2743200" y="37042"/>
                </a:cubicBezTo>
                <a:lnTo>
                  <a:pt x="2743200" y="1733027"/>
                </a:lnTo>
                <a:cubicBezTo>
                  <a:pt x="2743200" y="1796150"/>
                  <a:pt x="2692029" y="1847321"/>
                  <a:pt x="2628906" y="1847321"/>
                </a:cubicBezTo>
                <a:lnTo>
                  <a:pt x="114294" y="1847321"/>
                </a:lnTo>
                <a:cubicBezTo>
                  <a:pt x="51213" y="1847321"/>
                  <a:pt x="0" y="1796108"/>
                  <a:pt x="0" y="1733027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1000" y="1047007"/>
            <a:ext cx="2743200" cy="37042"/>
          </a:xfrm>
          <a:custGeom>
            <a:avLst/>
            <a:gdLst/>
            <a:ahLst/>
            <a:cxnLst/>
            <a:rect l="l" t="t" r="r" b="b"/>
            <a:pathLst>
              <a:path w="2743200" h="37042">
                <a:moveTo>
                  <a:pt x="37042" y="0"/>
                </a:moveTo>
                <a:lnTo>
                  <a:pt x="2706158" y="0"/>
                </a:lnTo>
                <a:cubicBezTo>
                  <a:pt x="2726616" y="0"/>
                  <a:pt x="2743200" y="16584"/>
                  <a:pt x="2743200" y="37042"/>
                </a:cubicBezTo>
                <a:lnTo>
                  <a:pt x="2743200" y="37042"/>
                </a:lnTo>
                <a:lnTo>
                  <a:pt x="0" y="37042"/>
                </a:ln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6" name="Shape 4"/>
          <p:cNvSpPr/>
          <p:nvPr/>
        </p:nvSpPr>
        <p:spPr>
          <a:xfrm>
            <a:off x="533384" y="121790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7" name="Shape 5"/>
          <p:cNvSpPr/>
          <p:nvPr/>
        </p:nvSpPr>
        <p:spPr>
          <a:xfrm>
            <a:off x="635777" y="132266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17872"/>
                </a:lnTo>
                <a:cubicBezTo>
                  <a:pt x="0" y="129693"/>
                  <a:pt x="9611" y="139303"/>
                  <a:pt x="21431" y="139303"/>
                </a:cubicBezTo>
                <a:lnTo>
                  <a:pt x="69652" y="139303"/>
                </a:lnTo>
                <a:lnTo>
                  <a:pt x="64294" y="155377"/>
                </a:lnTo>
                <a:lnTo>
                  <a:pt x="40184" y="155377"/>
                </a:lnTo>
                <a:cubicBezTo>
                  <a:pt x="35730" y="155377"/>
                  <a:pt x="32147" y="158960"/>
                  <a:pt x="32147" y="163413"/>
                </a:cubicBezTo>
                <a:cubicBezTo>
                  <a:pt x="32147" y="167867"/>
                  <a:pt x="35730" y="171450"/>
                  <a:pt x="40184" y="171450"/>
                </a:cubicBezTo>
                <a:lnTo>
                  <a:pt x="131266" y="171450"/>
                </a:lnTo>
                <a:cubicBezTo>
                  <a:pt x="135720" y="171450"/>
                  <a:pt x="139303" y="167867"/>
                  <a:pt x="139303" y="163413"/>
                </a:cubicBezTo>
                <a:cubicBezTo>
                  <a:pt x="139303" y="158960"/>
                  <a:pt x="135720" y="155377"/>
                  <a:pt x="131266" y="155377"/>
                </a:cubicBezTo>
                <a:lnTo>
                  <a:pt x="107156" y="155377"/>
                </a:lnTo>
                <a:lnTo>
                  <a:pt x="101798" y="139303"/>
                </a:lnTo>
                <a:lnTo>
                  <a:pt x="150019" y="139303"/>
                </a:lnTo>
                <a:cubicBezTo>
                  <a:pt x="161839" y="139303"/>
                  <a:pt x="171450" y="129693"/>
                  <a:pt x="171450" y="117872"/>
                </a:cubicBezTo>
                <a:lnTo>
                  <a:pt x="171450" y="32147"/>
                </a:lnTo>
                <a:cubicBezTo>
                  <a:pt x="171450" y="20326"/>
                  <a:pt x="161839" y="10716"/>
                  <a:pt x="150019" y="10716"/>
                </a:cubicBezTo>
                <a:lnTo>
                  <a:pt x="21431" y="10716"/>
                </a:lnTo>
                <a:close/>
                <a:moveTo>
                  <a:pt x="32147" y="32147"/>
                </a:move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lnTo>
                  <a:pt x="150019" y="96441"/>
                </a:lnTo>
                <a:cubicBezTo>
                  <a:pt x="150019" y="102368"/>
                  <a:pt x="145230" y="107156"/>
                  <a:pt x="139303" y="107156"/>
                </a:cubicBezTo>
                <a:lnTo>
                  <a:pt x="32147" y="107156"/>
                </a:lnTo>
                <a:cubicBezTo>
                  <a:pt x="26220" y="107156"/>
                  <a:pt x="21431" y="102368"/>
                  <a:pt x="21431" y="96441"/>
                </a:cubicBezTo>
                <a:lnTo>
                  <a:pt x="21431" y="42863"/>
                </a:lnTo>
                <a:cubicBezTo>
                  <a:pt x="21431" y="36935"/>
                  <a:pt x="26220" y="32147"/>
                  <a:pt x="32147" y="32147"/>
                </a:cubicBezTo>
                <a:close/>
              </a:path>
            </a:pathLst>
          </a:custGeom>
          <a:solidFill>
            <a:srgbClr val="F4F7F6"/>
          </a:solidFill>
        </p:spPr>
      </p:sp>
      <p:sp>
        <p:nvSpPr>
          <p:cNvPr id="8" name="Text 6"/>
          <p:cNvSpPr/>
          <p:nvPr/>
        </p:nvSpPr>
        <p:spPr>
          <a:xfrm>
            <a:off x="990534" y="1275038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前端交互层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3384" y="1713179"/>
            <a:ext cx="2505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HTML+CSS+JavaScript+Flask模板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6005" y="204647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11" name="Text 9"/>
          <p:cNvSpPr/>
          <p:nvPr/>
        </p:nvSpPr>
        <p:spPr>
          <a:xfrm>
            <a:off x="776139" y="2017942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图片上传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6005" y="231311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13" name="Text 11"/>
          <p:cNvSpPr/>
          <p:nvPr/>
        </p:nvSpPr>
        <p:spPr>
          <a:xfrm>
            <a:off x="776139" y="228459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结果展示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6005" y="257976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15" name="Text 13"/>
          <p:cNvSpPr/>
          <p:nvPr/>
        </p:nvSpPr>
        <p:spPr>
          <a:xfrm>
            <a:off x="776139" y="255124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智能问答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76534" y="1047007"/>
            <a:ext cx="2743200" cy="1847321"/>
          </a:xfrm>
          <a:custGeom>
            <a:avLst/>
            <a:gdLst/>
            <a:ahLst/>
            <a:cxnLst/>
            <a:rect l="l" t="t" r="r" b="b"/>
            <a:pathLst>
              <a:path w="2743200" h="1847321">
                <a:moveTo>
                  <a:pt x="37042" y="0"/>
                </a:moveTo>
                <a:lnTo>
                  <a:pt x="2706158" y="0"/>
                </a:lnTo>
                <a:cubicBezTo>
                  <a:pt x="2726616" y="0"/>
                  <a:pt x="2743200" y="16584"/>
                  <a:pt x="2743200" y="37042"/>
                </a:cubicBezTo>
                <a:lnTo>
                  <a:pt x="2743200" y="1733027"/>
                </a:lnTo>
                <a:cubicBezTo>
                  <a:pt x="2743200" y="1796150"/>
                  <a:pt x="2692029" y="1847321"/>
                  <a:pt x="2628906" y="1847321"/>
                </a:cubicBezTo>
                <a:lnTo>
                  <a:pt x="114294" y="1847321"/>
                </a:lnTo>
                <a:cubicBezTo>
                  <a:pt x="51213" y="1847321"/>
                  <a:pt x="0" y="1796108"/>
                  <a:pt x="0" y="1733027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76534" y="1047007"/>
            <a:ext cx="2743200" cy="37042"/>
          </a:xfrm>
          <a:custGeom>
            <a:avLst/>
            <a:gdLst/>
            <a:ahLst/>
            <a:cxnLst/>
            <a:rect l="l" t="t" r="r" b="b"/>
            <a:pathLst>
              <a:path w="2743200" h="37042">
                <a:moveTo>
                  <a:pt x="37042" y="0"/>
                </a:moveTo>
                <a:lnTo>
                  <a:pt x="2706158" y="0"/>
                </a:lnTo>
                <a:cubicBezTo>
                  <a:pt x="2726616" y="0"/>
                  <a:pt x="2743200" y="16584"/>
                  <a:pt x="2743200" y="37042"/>
                </a:cubicBezTo>
                <a:lnTo>
                  <a:pt x="2743200" y="37042"/>
                </a:lnTo>
                <a:lnTo>
                  <a:pt x="0" y="37042"/>
                </a:ln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18" name="Shape 16"/>
          <p:cNvSpPr/>
          <p:nvPr/>
        </p:nvSpPr>
        <p:spPr>
          <a:xfrm>
            <a:off x="3428917" y="121790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19" name="Shape 17"/>
          <p:cNvSpPr/>
          <p:nvPr/>
        </p:nvSpPr>
        <p:spPr>
          <a:xfrm>
            <a:off x="3542027" y="1322663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F4F7F6"/>
          </a:solidFill>
        </p:spPr>
      </p:sp>
      <p:sp>
        <p:nvSpPr>
          <p:cNvPr id="20" name="Text 18"/>
          <p:cNvSpPr/>
          <p:nvPr/>
        </p:nvSpPr>
        <p:spPr>
          <a:xfrm>
            <a:off x="3886068" y="1275038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后端服务层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28917" y="1713179"/>
            <a:ext cx="2505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Python+Flask+SQLite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51539" y="204647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23" name="Text 21"/>
          <p:cNvSpPr/>
          <p:nvPr/>
        </p:nvSpPr>
        <p:spPr>
          <a:xfrm>
            <a:off x="3671673" y="2017942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业务逻辑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51539" y="231311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25" name="Text 23"/>
          <p:cNvSpPr/>
          <p:nvPr/>
        </p:nvSpPr>
        <p:spPr>
          <a:xfrm>
            <a:off x="3671673" y="228459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数据存储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51539" y="257976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27" name="Text 25"/>
          <p:cNvSpPr/>
          <p:nvPr/>
        </p:nvSpPr>
        <p:spPr>
          <a:xfrm>
            <a:off x="3671673" y="255124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接口管理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2151" y="1047007"/>
            <a:ext cx="2743200" cy="1847321"/>
          </a:xfrm>
          <a:custGeom>
            <a:avLst/>
            <a:gdLst/>
            <a:ahLst/>
            <a:cxnLst/>
            <a:rect l="l" t="t" r="r" b="b"/>
            <a:pathLst>
              <a:path w="2743200" h="1847321">
                <a:moveTo>
                  <a:pt x="37042" y="0"/>
                </a:moveTo>
                <a:lnTo>
                  <a:pt x="2706158" y="0"/>
                </a:lnTo>
                <a:cubicBezTo>
                  <a:pt x="2726616" y="0"/>
                  <a:pt x="2743200" y="16584"/>
                  <a:pt x="2743200" y="37042"/>
                </a:cubicBezTo>
                <a:lnTo>
                  <a:pt x="2743200" y="1733027"/>
                </a:lnTo>
                <a:cubicBezTo>
                  <a:pt x="2743200" y="1796150"/>
                  <a:pt x="2692029" y="1847321"/>
                  <a:pt x="2628906" y="1847321"/>
                </a:cubicBezTo>
                <a:lnTo>
                  <a:pt x="114294" y="1847321"/>
                </a:lnTo>
                <a:cubicBezTo>
                  <a:pt x="51213" y="1847321"/>
                  <a:pt x="0" y="1796108"/>
                  <a:pt x="0" y="1733027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151" y="1047007"/>
            <a:ext cx="2743200" cy="37042"/>
          </a:xfrm>
          <a:custGeom>
            <a:avLst/>
            <a:gdLst/>
            <a:ahLst/>
            <a:cxnLst/>
            <a:rect l="l" t="t" r="r" b="b"/>
            <a:pathLst>
              <a:path w="2743200" h="37042">
                <a:moveTo>
                  <a:pt x="37042" y="0"/>
                </a:moveTo>
                <a:lnTo>
                  <a:pt x="2706158" y="0"/>
                </a:lnTo>
                <a:cubicBezTo>
                  <a:pt x="2726616" y="0"/>
                  <a:pt x="2743200" y="16584"/>
                  <a:pt x="2743200" y="37042"/>
                </a:cubicBezTo>
                <a:lnTo>
                  <a:pt x="2743200" y="37042"/>
                </a:lnTo>
                <a:lnTo>
                  <a:pt x="0" y="37042"/>
                </a:ln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30" name="Shape 28"/>
          <p:cNvSpPr/>
          <p:nvPr/>
        </p:nvSpPr>
        <p:spPr>
          <a:xfrm>
            <a:off x="6324534" y="121790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31" name="Shape 29"/>
          <p:cNvSpPr/>
          <p:nvPr/>
        </p:nvSpPr>
        <p:spPr>
          <a:xfrm>
            <a:off x="6426928" y="132266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1E2D2B"/>
          </a:solidFill>
        </p:spPr>
      </p:sp>
      <p:sp>
        <p:nvSpPr>
          <p:cNvPr id="32" name="Text 30"/>
          <p:cNvSpPr/>
          <p:nvPr/>
        </p:nvSpPr>
        <p:spPr>
          <a:xfrm>
            <a:off x="6781684" y="1275038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AI模型层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24534" y="1713179"/>
            <a:ext cx="2505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kimi K2.5+CNN+机器学习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47156" y="204647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35" name="Text 33"/>
          <p:cNvSpPr/>
          <p:nvPr/>
        </p:nvSpPr>
        <p:spPr>
          <a:xfrm>
            <a:off x="6567289" y="2017942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病害识别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47156" y="231311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37" name="Text 35"/>
          <p:cNvSpPr/>
          <p:nvPr/>
        </p:nvSpPr>
        <p:spPr>
          <a:xfrm>
            <a:off x="6567289" y="228459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程度评估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47156" y="257976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39" name="Text 37"/>
          <p:cNvSpPr/>
          <p:nvPr/>
        </p:nvSpPr>
        <p:spPr>
          <a:xfrm>
            <a:off x="6567289" y="255124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智能问答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67767" y="1047007"/>
            <a:ext cx="2743200" cy="1847321"/>
          </a:xfrm>
          <a:custGeom>
            <a:avLst/>
            <a:gdLst/>
            <a:ahLst/>
            <a:cxnLst/>
            <a:rect l="l" t="t" r="r" b="b"/>
            <a:pathLst>
              <a:path w="2743200" h="1847321">
                <a:moveTo>
                  <a:pt x="37042" y="0"/>
                </a:moveTo>
                <a:lnTo>
                  <a:pt x="2706158" y="0"/>
                </a:lnTo>
                <a:cubicBezTo>
                  <a:pt x="2726616" y="0"/>
                  <a:pt x="2743200" y="16584"/>
                  <a:pt x="2743200" y="37042"/>
                </a:cubicBezTo>
                <a:lnTo>
                  <a:pt x="2743200" y="1733027"/>
                </a:lnTo>
                <a:cubicBezTo>
                  <a:pt x="2743200" y="1796150"/>
                  <a:pt x="2692029" y="1847321"/>
                  <a:pt x="2628906" y="1847321"/>
                </a:cubicBezTo>
                <a:lnTo>
                  <a:pt x="114294" y="1847321"/>
                </a:lnTo>
                <a:cubicBezTo>
                  <a:pt x="51213" y="1847321"/>
                  <a:pt x="0" y="1796108"/>
                  <a:pt x="0" y="1733027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067767" y="1047007"/>
            <a:ext cx="2743200" cy="37042"/>
          </a:xfrm>
          <a:custGeom>
            <a:avLst/>
            <a:gdLst/>
            <a:ahLst/>
            <a:cxnLst/>
            <a:rect l="l" t="t" r="r" b="b"/>
            <a:pathLst>
              <a:path w="2743200" h="37042">
                <a:moveTo>
                  <a:pt x="37042" y="0"/>
                </a:moveTo>
                <a:lnTo>
                  <a:pt x="2706158" y="0"/>
                </a:lnTo>
                <a:cubicBezTo>
                  <a:pt x="2726616" y="0"/>
                  <a:pt x="2743200" y="16584"/>
                  <a:pt x="2743200" y="37042"/>
                </a:cubicBezTo>
                <a:lnTo>
                  <a:pt x="2743200" y="37042"/>
                </a:lnTo>
                <a:lnTo>
                  <a:pt x="0" y="37042"/>
                </a:ln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42" name="Shape 40"/>
          <p:cNvSpPr/>
          <p:nvPr/>
        </p:nvSpPr>
        <p:spPr>
          <a:xfrm>
            <a:off x="9220151" y="121790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43" name="Shape 41"/>
          <p:cNvSpPr/>
          <p:nvPr/>
        </p:nvSpPr>
        <p:spPr>
          <a:xfrm>
            <a:off x="9311829" y="1322663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112514"/>
                </a:moveTo>
                <a:cubicBezTo>
                  <a:pt x="0" y="139136"/>
                  <a:pt x="21599" y="160734"/>
                  <a:pt x="48220" y="160734"/>
                </a:cubicBezTo>
                <a:lnTo>
                  <a:pt x="150019" y="160734"/>
                </a:lnTo>
                <a:cubicBezTo>
                  <a:pt x="173694" y="160734"/>
                  <a:pt x="192881" y="141547"/>
                  <a:pt x="192881" y="117872"/>
                </a:cubicBezTo>
                <a:cubicBezTo>
                  <a:pt x="192881" y="100593"/>
                  <a:pt x="182668" y="85692"/>
                  <a:pt x="167934" y="78927"/>
                </a:cubicBezTo>
                <a:cubicBezTo>
                  <a:pt x="170178" y="74541"/>
                  <a:pt x="171450" y="69551"/>
                  <a:pt x="171450" y="64294"/>
                </a:cubicBezTo>
                <a:cubicBezTo>
                  <a:pt x="171450" y="46546"/>
                  <a:pt x="157051" y="32147"/>
                  <a:pt x="139303" y="32147"/>
                </a:cubicBezTo>
                <a:cubicBezTo>
                  <a:pt x="133376" y="32147"/>
                  <a:pt x="127851" y="33754"/>
                  <a:pt x="123096" y="36534"/>
                </a:cubicBezTo>
                <a:cubicBezTo>
                  <a:pt x="115026" y="21197"/>
                  <a:pt x="98919" y="10716"/>
                  <a:pt x="80367" y="10716"/>
                </a:cubicBezTo>
                <a:cubicBezTo>
                  <a:pt x="53746" y="10716"/>
                  <a:pt x="32147" y="32314"/>
                  <a:pt x="32147" y="58936"/>
                </a:cubicBezTo>
                <a:cubicBezTo>
                  <a:pt x="32147" y="61615"/>
                  <a:pt x="32381" y="64260"/>
                  <a:pt x="32783" y="66805"/>
                </a:cubicBezTo>
                <a:cubicBezTo>
                  <a:pt x="13729" y="73235"/>
                  <a:pt x="0" y="91284"/>
                  <a:pt x="0" y="112514"/>
                </a:cubicBezTo>
                <a:close/>
              </a:path>
            </a:pathLst>
          </a:custGeom>
          <a:solidFill>
            <a:srgbClr val="F4F7F6"/>
          </a:solidFill>
        </p:spPr>
      </p:sp>
      <p:sp>
        <p:nvSpPr>
          <p:cNvPr id="44" name="Text 42"/>
          <p:cNvSpPr/>
          <p:nvPr/>
        </p:nvSpPr>
        <p:spPr>
          <a:xfrm>
            <a:off x="9677301" y="1275038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数据对接层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220151" y="1713179"/>
            <a:ext cx="2505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天气API+位置API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242772" y="204647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47" name="Text 45"/>
          <p:cNvSpPr/>
          <p:nvPr/>
        </p:nvSpPr>
        <p:spPr>
          <a:xfrm>
            <a:off x="9462906" y="2017942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天气数据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242772" y="231311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49" name="Text 47"/>
          <p:cNvSpPr/>
          <p:nvPr/>
        </p:nvSpPr>
        <p:spPr>
          <a:xfrm>
            <a:off x="9462906" y="228459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位置信息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242772" y="257976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51" name="Text 49"/>
          <p:cNvSpPr/>
          <p:nvPr/>
        </p:nvSpPr>
        <p:spPr>
          <a:xfrm>
            <a:off x="9462906" y="255124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数据互通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81000" y="3046512"/>
            <a:ext cx="3705225" cy="3429000"/>
          </a:xfrm>
          <a:custGeom>
            <a:avLst/>
            <a:gdLst/>
            <a:ahLst/>
            <a:cxnLst/>
            <a:rect l="l" t="t" r="r" b="b"/>
            <a:pathLst>
              <a:path w="3705225" h="3429000">
                <a:moveTo>
                  <a:pt x="114289" y="0"/>
                </a:moveTo>
                <a:lnTo>
                  <a:pt x="3590936" y="0"/>
                </a:lnTo>
                <a:cubicBezTo>
                  <a:pt x="3654014" y="0"/>
                  <a:pt x="3705225" y="51211"/>
                  <a:pt x="3705225" y="114289"/>
                </a:cubicBezTo>
                <a:lnTo>
                  <a:pt x="3705225" y="3314711"/>
                </a:lnTo>
                <a:cubicBezTo>
                  <a:pt x="3705225" y="3377831"/>
                  <a:pt x="3654056" y="3429000"/>
                  <a:pt x="3590936" y="3429000"/>
                </a:cubicBezTo>
                <a:lnTo>
                  <a:pt x="114289" y="3429000"/>
                </a:lnTo>
                <a:cubicBezTo>
                  <a:pt x="51211" y="3429000"/>
                  <a:pt x="0" y="3377789"/>
                  <a:pt x="0" y="33147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53" name="Shape 51"/>
          <p:cNvSpPr/>
          <p:nvPr/>
        </p:nvSpPr>
        <p:spPr>
          <a:xfrm>
            <a:off x="571500" y="323701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680971" y="3370297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55" name="Text 53"/>
          <p:cNvSpPr/>
          <p:nvPr/>
        </p:nvSpPr>
        <p:spPr>
          <a:xfrm>
            <a:off x="1142917" y="331316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技术创新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90550" y="388458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57" name="Text 55"/>
          <p:cNvSpPr/>
          <p:nvPr/>
        </p:nvSpPr>
        <p:spPr>
          <a:xfrm>
            <a:off x="838150" y="3846547"/>
            <a:ext cx="167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前后端程序无缝衔接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38150" y="4113116"/>
            <a:ext cx="1666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响应速度快，用户体验流畅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90550" y="44559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60" name="Text 58"/>
          <p:cNvSpPr/>
          <p:nvPr/>
        </p:nvSpPr>
        <p:spPr>
          <a:xfrm>
            <a:off x="838150" y="4417879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多接口深度融合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38150" y="4684449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构建完整数据闭环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90550" y="50272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63" name="Text 61"/>
          <p:cNvSpPr/>
          <p:nvPr/>
        </p:nvSpPr>
        <p:spPr>
          <a:xfrm>
            <a:off x="838150" y="498921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数据加密存储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8150" y="5255782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保障用户隐私安全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241767" y="3046512"/>
            <a:ext cx="3705225" cy="3429000"/>
          </a:xfrm>
          <a:custGeom>
            <a:avLst/>
            <a:gdLst/>
            <a:ahLst/>
            <a:cxnLst/>
            <a:rect l="l" t="t" r="r" b="b"/>
            <a:pathLst>
              <a:path w="3705225" h="3429000">
                <a:moveTo>
                  <a:pt x="114289" y="0"/>
                </a:moveTo>
                <a:lnTo>
                  <a:pt x="3590936" y="0"/>
                </a:lnTo>
                <a:cubicBezTo>
                  <a:pt x="3654014" y="0"/>
                  <a:pt x="3705225" y="51211"/>
                  <a:pt x="3705225" y="114289"/>
                </a:cubicBezTo>
                <a:lnTo>
                  <a:pt x="3705225" y="3314711"/>
                </a:lnTo>
                <a:cubicBezTo>
                  <a:pt x="3705225" y="3377831"/>
                  <a:pt x="3654056" y="3429000"/>
                  <a:pt x="3590936" y="3429000"/>
                </a:cubicBezTo>
                <a:lnTo>
                  <a:pt x="114289" y="3429000"/>
                </a:lnTo>
                <a:cubicBezTo>
                  <a:pt x="51211" y="3429000"/>
                  <a:pt x="0" y="3377789"/>
                  <a:pt x="0" y="33147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66" name="Shape 64"/>
          <p:cNvSpPr/>
          <p:nvPr/>
        </p:nvSpPr>
        <p:spPr>
          <a:xfrm>
            <a:off x="4432267" y="323701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</p:spPr>
      </p:sp>
      <p:sp>
        <p:nvSpPr>
          <p:cNvPr id="67" name="Shape 65"/>
          <p:cNvSpPr/>
          <p:nvPr/>
        </p:nvSpPr>
        <p:spPr>
          <a:xfrm>
            <a:off x="4589363" y="337029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68" name="Text 66"/>
          <p:cNvSpPr/>
          <p:nvPr/>
        </p:nvSpPr>
        <p:spPr>
          <a:xfrm>
            <a:off x="5003685" y="331316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模式创新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451317" y="388458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70" name="Text 68"/>
          <p:cNvSpPr/>
          <p:nvPr/>
        </p:nvSpPr>
        <p:spPr>
          <a:xfrm>
            <a:off x="4698918" y="3846547"/>
            <a:ext cx="21240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"基础功能免费+增值服务付费"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4698918" y="4113116"/>
            <a:ext cx="2114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降低用户使用门槛，扩大覆盖面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4451317" y="44559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73" name="Text 71"/>
          <p:cNvSpPr/>
          <p:nvPr/>
        </p:nvSpPr>
        <p:spPr>
          <a:xfrm>
            <a:off x="4698918" y="4417879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政企合作拓展推广渠道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4698918" y="4684449"/>
            <a:ext cx="1590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与农业管理部门深度合作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4451317" y="50272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76" name="Text 74"/>
          <p:cNvSpPr/>
          <p:nvPr/>
        </p:nvSpPr>
        <p:spPr>
          <a:xfrm>
            <a:off x="4698918" y="4989212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界面简洁贴合基层习惯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4698918" y="5255782"/>
            <a:ext cx="1590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降低学习成本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8102535" y="3046512"/>
            <a:ext cx="3705225" cy="3429000"/>
          </a:xfrm>
          <a:custGeom>
            <a:avLst/>
            <a:gdLst/>
            <a:ahLst/>
            <a:cxnLst/>
            <a:rect l="l" t="t" r="r" b="b"/>
            <a:pathLst>
              <a:path w="3705225" h="3429000">
                <a:moveTo>
                  <a:pt x="114289" y="0"/>
                </a:moveTo>
                <a:lnTo>
                  <a:pt x="3590936" y="0"/>
                </a:lnTo>
                <a:cubicBezTo>
                  <a:pt x="3654014" y="0"/>
                  <a:pt x="3705225" y="51211"/>
                  <a:pt x="3705225" y="114289"/>
                </a:cubicBezTo>
                <a:lnTo>
                  <a:pt x="3705225" y="3314711"/>
                </a:lnTo>
                <a:cubicBezTo>
                  <a:pt x="3705225" y="3377831"/>
                  <a:pt x="3654056" y="3429000"/>
                  <a:pt x="3590936" y="3429000"/>
                </a:cubicBezTo>
                <a:lnTo>
                  <a:pt x="114289" y="3429000"/>
                </a:lnTo>
                <a:cubicBezTo>
                  <a:pt x="51211" y="3429000"/>
                  <a:pt x="0" y="3377789"/>
                  <a:pt x="0" y="33147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79" name="Shape 77"/>
          <p:cNvSpPr/>
          <p:nvPr/>
        </p:nvSpPr>
        <p:spPr>
          <a:xfrm>
            <a:off x="8293035" y="323701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A574A">
              <a:alpha val="10196"/>
            </a:srgbClr>
          </a:solidFill>
        </p:spPr>
      </p:sp>
      <p:sp>
        <p:nvSpPr>
          <p:cNvPr id="80" name="Shape 78"/>
          <p:cNvSpPr/>
          <p:nvPr/>
        </p:nvSpPr>
        <p:spPr>
          <a:xfrm>
            <a:off x="8450131" y="337029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81" name="Text 79"/>
          <p:cNvSpPr/>
          <p:nvPr/>
        </p:nvSpPr>
        <p:spPr>
          <a:xfrm>
            <a:off x="8864451" y="331316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D2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适配创新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312085" y="388458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83" name="Text 81"/>
          <p:cNvSpPr/>
          <p:nvPr/>
        </p:nvSpPr>
        <p:spPr>
          <a:xfrm>
            <a:off x="8559685" y="3846547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D2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跨终端适配技术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8559685" y="4113116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多设备无缝切换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8312085" y="44559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86" name="Text 84"/>
          <p:cNvSpPr/>
          <p:nvPr/>
        </p:nvSpPr>
        <p:spPr>
          <a:xfrm>
            <a:off x="8559685" y="4417879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D2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数据实时同步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8559685" y="4684449"/>
            <a:ext cx="981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无需额外开发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8312085" y="50272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89" name="Text 87"/>
          <p:cNvSpPr/>
          <p:nvPr/>
        </p:nvSpPr>
        <p:spPr>
          <a:xfrm>
            <a:off x="8559685" y="498921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2D2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统一代码库维护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8559685" y="5255782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降低开发成本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57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os.com/58b82d4d2be51fb50e26b35790d17a75d8b9da0e.webp"/>
          <p:cNvPicPr>
            <a:picLocks noChangeAspect="1"/>
          </p:cNvPicPr>
          <p:nvPr/>
        </p:nvPicPr>
        <p:blipFill>
          <a:blip r:embed="rId1">
            <a:alphaModFix amt="30000"/>
          </a:blip>
          <a:srcRect l="5556" r="5556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A574A">
                  <a:alpha val="95000"/>
                </a:srgbClr>
              </a:gs>
              <a:gs pos="50000">
                <a:srgbClr val="2A574A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1000" y="1878955"/>
            <a:ext cx="1123950" cy="419100"/>
          </a:xfrm>
          <a:custGeom>
            <a:avLst/>
            <a:gdLst/>
            <a:ahLst/>
            <a:cxnLst/>
            <a:rect l="l" t="t" r="r" b="b"/>
            <a:pathLst>
              <a:path w="1123950" h="419100">
                <a:moveTo>
                  <a:pt x="0" y="0"/>
                </a:moveTo>
                <a:lnTo>
                  <a:pt x="1123950" y="0"/>
                </a:lnTo>
                <a:lnTo>
                  <a:pt x="11239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5" name="Text 2"/>
          <p:cNvSpPr/>
          <p:nvPr/>
        </p:nvSpPr>
        <p:spPr>
          <a:xfrm>
            <a:off x="381000" y="1878955"/>
            <a:ext cx="1209675" cy="419100"/>
          </a:xfrm>
          <a:prstGeom prst="rect">
            <a:avLst/>
          </a:prstGeom>
          <a:noFill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1E2D2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PART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602753"/>
            <a:ext cx="11772900" cy="857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团队与规划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688454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8" name="Text 5"/>
          <p:cNvSpPr/>
          <p:nvPr/>
        </p:nvSpPr>
        <p:spPr>
          <a:xfrm>
            <a:off x="381000" y="4050357"/>
            <a:ext cx="6543675" cy="933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4F7F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团队优势、商业模式与发展规划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4F7F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构建可持续的农业科技创新生态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4650" y="379056"/>
            <a:ext cx="68930" cy="275720"/>
          </a:xfrm>
          <a:custGeom>
            <a:avLst/>
            <a:gdLst/>
            <a:ahLst/>
            <a:cxnLst/>
            <a:rect l="l" t="t" r="r" b="b"/>
            <a:pathLst>
              <a:path w="68930" h="275720">
                <a:moveTo>
                  <a:pt x="34465" y="0"/>
                </a:moveTo>
                <a:lnTo>
                  <a:pt x="34465" y="0"/>
                </a:lnTo>
                <a:cubicBezTo>
                  <a:pt x="53487" y="0"/>
                  <a:pt x="68930" y="15443"/>
                  <a:pt x="68930" y="34465"/>
                </a:cubicBezTo>
                <a:lnTo>
                  <a:pt x="68930" y="241255"/>
                </a:lnTo>
                <a:cubicBezTo>
                  <a:pt x="68930" y="260290"/>
                  <a:pt x="53500" y="275720"/>
                  <a:pt x="34465" y="275720"/>
                </a:cubicBezTo>
                <a:lnTo>
                  <a:pt x="34465" y="275720"/>
                </a:lnTo>
                <a:cubicBezTo>
                  <a:pt x="15431" y="275720"/>
                  <a:pt x="0" y="260290"/>
                  <a:pt x="0" y="241255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3" name="Text 1"/>
          <p:cNvSpPr/>
          <p:nvPr/>
        </p:nvSpPr>
        <p:spPr>
          <a:xfrm>
            <a:off x="516900" y="344650"/>
            <a:ext cx="2946759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0" b="1" dirty="0">
                <a:solidFill>
                  <a:srgbClr val="21252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团队优势与商业模式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4650" y="981589"/>
            <a:ext cx="7677083" cy="2532700"/>
          </a:xfrm>
          <a:custGeom>
            <a:avLst/>
            <a:gdLst/>
            <a:ahLst/>
            <a:cxnLst/>
            <a:rect l="l" t="t" r="r" b="b"/>
            <a:pathLst>
              <a:path w="7677083" h="2532700">
                <a:moveTo>
                  <a:pt x="33508" y="0"/>
                </a:moveTo>
                <a:lnTo>
                  <a:pt x="7643575" y="0"/>
                </a:lnTo>
                <a:cubicBezTo>
                  <a:pt x="7662081" y="0"/>
                  <a:pt x="7677083" y="15002"/>
                  <a:pt x="7677083" y="33508"/>
                </a:cubicBezTo>
                <a:lnTo>
                  <a:pt x="7677083" y="2429315"/>
                </a:lnTo>
                <a:cubicBezTo>
                  <a:pt x="7677083" y="2486413"/>
                  <a:pt x="7630796" y="2532700"/>
                  <a:pt x="7573698" y="2532700"/>
                </a:cubicBezTo>
                <a:lnTo>
                  <a:pt x="103385" y="2532700"/>
                </a:lnTo>
                <a:cubicBezTo>
                  <a:pt x="46287" y="2532700"/>
                  <a:pt x="0" y="2486413"/>
                  <a:pt x="0" y="2429315"/>
                </a:cubicBezTo>
                <a:lnTo>
                  <a:pt x="0" y="33508"/>
                </a:lnTo>
                <a:cubicBezTo>
                  <a:pt x="0" y="15002"/>
                  <a:pt x="15002" y="0"/>
                  <a:pt x="3350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1698" dist="3446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4650" y="981589"/>
            <a:ext cx="7677083" cy="33508"/>
          </a:xfrm>
          <a:custGeom>
            <a:avLst/>
            <a:gdLst/>
            <a:ahLst/>
            <a:cxnLst/>
            <a:rect l="l" t="t" r="r" b="b"/>
            <a:pathLst>
              <a:path w="7677083" h="33508">
                <a:moveTo>
                  <a:pt x="33508" y="0"/>
                </a:moveTo>
                <a:lnTo>
                  <a:pt x="7643575" y="0"/>
                </a:lnTo>
                <a:cubicBezTo>
                  <a:pt x="7662081" y="0"/>
                  <a:pt x="7677083" y="15002"/>
                  <a:pt x="7677083" y="33508"/>
                </a:cubicBezTo>
                <a:lnTo>
                  <a:pt x="7677083" y="33508"/>
                </a:lnTo>
                <a:lnTo>
                  <a:pt x="0" y="33508"/>
                </a:lnTo>
                <a:lnTo>
                  <a:pt x="0" y="33508"/>
                </a:lnTo>
                <a:cubicBezTo>
                  <a:pt x="0" y="15002"/>
                  <a:pt x="15002" y="0"/>
                  <a:pt x="33508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6" name="Shape 4"/>
          <p:cNvSpPr/>
          <p:nvPr/>
        </p:nvSpPr>
        <p:spPr>
          <a:xfrm>
            <a:off x="551380" y="1205081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2E7D32">
              <a:alpha val="10196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28942" y="1308442"/>
            <a:ext cx="258488" cy="206790"/>
          </a:xfrm>
          <a:custGeom>
            <a:avLst/>
            <a:gdLst/>
            <a:ahLst/>
            <a:cxnLst/>
            <a:rect l="l" t="t" r="r" b="b"/>
            <a:pathLst>
              <a:path w="258488" h="206790">
                <a:moveTo>
                  <a:pt x="129244" y="6462"/>
                </a:moveTo>
                <a:cubicBezTo>
                  <a:pt x="152427" y="6462"/>
                  <a:pt x="171248" y="25284"/>
                  <a:pt x="171248" y="48466"/>
                </a:cubicBezTo>
                <a:cubicBezTo>
                  <a:pt x="171248" y="71649"/>
                  <a:pt x="152427" y="90471"/>
                  <a:pt x="129244" y="90471"/>
                </a:cubicBezTo>
                <a:cubicBezTo>
                  <a:pt x="106061" y="90471"/>
                  <a:pt x="87240" y="71649"/>
                  <a:pt x="87240" y="48466"/>
                </a:cubicBezTo>
                <a:cubicBezTo>
                  <a:pt x="87240" y="25284"/>
                  <a:pt x="106061" y="6462"/>
                  <a:pt x="129244" y="6462"/>
                </a:cubicBezTo>
                <a:close/>
                <a:moveTo>
                  <a:pt x="38773" y="35542"/>
                </a:moveTo>
                <a:cubicBezTo>
                  <a:pt x="54823" y="35542"/>
                  <a:pt x="67853" y="48572"/>
                  <a:pt x="67853" y="64622"/>
                </a:cubicBezTo>
                <a:cubicBezTo>
                  <a:pt x="67853" y="80672"/>
                  <a:pt x="54823" y="93702"/>
                  <a:pt x="38773" y="93702"/>
                </a:cubicBezTo>
                <a:cubicBezTo>
                  <a:pt x="22724" y="93702"/>
                  <a:pt x="9693" y="80672"/>
                  <a:pt x="9693" y="64622"/>
                </a:cubicBezTo>
                <a:cubicBezTo>
                  <a:pt x="9693" y="48572"/>
                  <a:pt x="22724" y="35542"/>
                  <a:pt x="38773" y="35542"/>
                </a:cubicBezTo>
                <a:close/>
                <a:moveTo>
                  <a:pt x="0" y="168017"/>
                </a:moveTo>
                <a:cubicBezTo>
                  <a:pt x="0" y="139462"/>
                  <a:pt x="23143" y="116319"/>
                  <a:pt x="51698" y="116319"/>
                </a:cubicBezTo>
                <a:cubicBezTo>
                  <a:pt x="56867" y="116319"/>
                  <a:pt x="61875" y="117087"/>
                  <a:pt x="66601" y="118500"/>
                </a:cubicBezTo>
                <a:cubicBezTo>
                  <a:pt x="53313" y="133363"/>
                  <a:pt x="45235" y="152992"/>
                  <a:pt x="45235" y="174479"/>
                </a:cubicBezTo>
                <a:lnTo>
                  <a:pt x="45235" y="180941"/>
                </a:lnTo>
                <a:cubicBezTo>
                  <a:pt x="45235" y="185546"/>
                  <a:pt x="46205" y="189908"/>
                  <a:pt x="47941" y="193866"/>
                </a:cubicBezTo>
                <a:lnTo>
                  <a:pt x="12924" y="193866"/>
                </a:lnTo>
                <a:cubicBezTo>
                  <a:pt x="5776" y="193866"/>
                  <a:pt x="0" y="188090"/>
                  <a:pt x="0" y="180941"/>
                </a:cubicBezTo>
                <a:lnTo>
                  <a:pt x="0" y="168017"/>
                </a:lnTo>
                <a:close/>
                <a:moveTo>
                  <a:pt x="210546" y="193866"/>
                </a:moveTo>
                <a:cubicBezTo>
                  <a:pt x="212283" y="189908"/>
                  <a:pt x="213252" y="185546"/>
                  <a:pt x="213252" y="180941"/>
                </a:cubicBezTo>
                <a:lnTo>
                  <a:pt x="213252" y="174479"/>
                </a:lnTo>
                <a:cubicBezTo>
                  <a:pt x="213252" y="152992"/>
                  <a:pt x="205175" y="133363"/>
                  <a:pt x="191887" y="118500"/>
                </a:cubicBezTo>
                <a:cubicBezTo>
                  <a:pt x="196612" y="117087"/>
                  <a:pt x="201620" y="116319"/>
                  <a:pt x="206790" y="116319"/>
                </a:cubicBezTo>
                <a:cubicBezTo>
                  <a:pt x="235345" y="116319"/>
                  <a:pt x="258488" y="139462"/>
                  <a:pt x="258488" y="168017"/>
                </a:cubicBezTo>
                <a:lnTo>
                  <a:pt x="258488" y="180941"/>
                </a:lnTo>
                <a:cubicBezTo>
                  <a:pt x="258488" y="188090"/>
                  <a:pt x="252712" y="193866"/>
                  <a:pt x="245563" y="193866"/>
                </a:cubicBezTo>
                <a:lnTo>
                  <a:pt x="210546" y="193866"/>
                </a:lnTo>
                <a:close/>
                <a:moveTo>
                  <a:pt x="190635" y="64622"/>
                </a:moveTo>
                <a:cubicBezTo>
                  <a:pt x="190635" y="48572"/>
                  <a:pt x="203665" y="35542"/>
                  <a:pt x="219714" y="35542"/>
                </a:cubicBezTo>
                <a:cubicBezTo>
                  <a:pt x="235764" y="35542"/>
                  <a:pt x="248794" y="48572"/>
                  <a:pt x="248794" y="64622"/>
                </a:cubicBezTo>
                <a:cubicBezTo>
                  <a:pt x="248794" y="80672"/>
                  <a:pt x="235764" y="93702"/>
                  <a:pt x="219714" y="93702"/>
                </a:cubicBezTo>
                <a:cubicBezTo>
                  <a:pt x="203665" y="93702"/>
                  <a:pt x="190635" y="80672"/>
                  <a:pt x="190635" y="64622"/>
                </a:cubicBezTo>
                <a:close/>
                <a:moveTo>
                  <a:pt x="64622" y="174479"/>
                </a:moveTo>
                <a:cubicBezTo>
                  <a:pt x="64622" y="138776"/>
                  <a:pt x="93540" y="109857"/>
                  <a:pt x="129244" y="109857"/>
                </a:cubicBezTo>
                <a:cubicBezTo>
                  <a:pt x="164947" y="109857"/>
                  <a:pt x="193866" y="138776"/>
                  <a:pt x="193866" y="174479"/>
                </a:cubicBezTo>
                <a:lnTo>
                  <a:pt x="193866" y="180941"/>
                </a:lnTo>
                <a:cubicBezTo>
                  <a:pt x="193866" y="188090"/>
                  <a:pt x="188090" y="193866"/>
                  <a:pt x="180941" y="193866"/>
                </a:cubicBezTo>
                <a:lnTo>
                  <a:pt x="77546" y="193866"/>
                </a:lnTo>
                <a:cubicBezTo>
                  <a:pt x="70397" y="193866"/>
                  <a:pt x="64622" y="188090"/>
                  <a:pt x="64622" y="180941"/>
                </a:cubicBezTo>
                <a:lnTo>
                  <a:pt x="64622" y="174479"/>
                </a:lnTo>
                <a:close/>
              </a:path>
            </a:pathLst>
          </a:custGeom>
          <a:solidFill>
            <a:srgbClr val="2E7D32"/>
          </a:solidFill>
        </p:spPr>
      </p:sp>
      <p:sp>
        <p:nvSpPr>
          <p:cNvPr id="8" name="Text 6"/>
          <p:cNvSpPr/>
          <p:nvPr/>
        </p:nvSpPr>
        <p:spPr>
          <a:xfrm>
            <a:off x="1068281" y="1273960"/>
            <a:ext cx="930555" cy="275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2E7D32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核心团队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1380" y="1756454"/>
            <a:ext cx="1369984" cy="1033951"/>
          </a:xfrm>
          <a:custGeom>
            <a:avLst/>
            <a:gdLst/>
            <a:ahLst/>
            <a:cxnLst/>
            <a:rect l="l" t="t" r="r" b="b"/>
            <a:pathLst>
              <a:path w="1369984" h="1033951">
                <a:moveTo>
                  <a:pt x="68933" y="0"/>
                </a:moveTo>
                <a:lnTo>
                  <a:pt x="1301051" y="0"/>
                </a:lnTo>
                <a:cubicBezTo>
                  <a:pt x="1339122" y="0"/>
                  <a:pt x="1369984" y="30863"/>
                  <a:pt x="1369984" y="68933"/>
                </a:cubicBezTo>
                <a:lnTo>
                  <a:pt x="1369984" y="965017"/>
                </a:lnTo>
                <a:cubicBezTo>
                  <a:pt x="1369984" y="1003088"/>
                  <a:pt x="1339122" y="1033951"/>
                  <a:pt x="1301051" y="1033951"/>
                </a:cubicBezTo>
                <a:lnTo>
                  <a:pt x="68933" y="1033951"/>
                </a:lnTo>
                <a:cubicBezTo>
                  <a:pt x="30863" y="1033951"/>
                  <a:pt x="0" y="1003088"/>
                  <a:pt x="0" y="965017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2E7D32">
              <a:alpha val="5098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1029687" y="185982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206790" y="0"/>
                </a:moveTo>
                <a:lnTo>
                  <a:pt x="206790" y="0"/>
                </a:lnTo>
                <a:cubicBezTo>
                  <a:pt x="320921" y="0"/>
                  <a:pt x="413580" y="92660"/>
                  <a:pt x="413580" y="206790"/>
                </a:cubicBezTo>
                <a:lnTo>
                  <a:pt x="413580" y="206790"/>
                </a:lnTo>
                <a:cubicBezTo>
                  <a:pt x="413580" y="320921"/>
                  <a:pt x="320921" y="413580"/>
                  <a:pt x="206790" y="413580"/>
                </a:cubicBezTo>
                <a:lnTo>
                  <a:pt x="206790" y="413580"/>
                </a:lnTo>
                <a:cubicBezTo>
                  <a:pt x="92660" y="413580"/>
                  <a:pt x="0" y="320921"/>
                  <a:pt x="0" y="206790"/>
                </a:cubicBezTo>
                <a:lnTo>
                  <a:pt x="0" y="206790"/>
                </a:lnTo>
                <a:cubicBezTo>
                  <a:pt x="0" y="92660"/>
                  <a:pt x="92660" y="0"/>
                  <a:pt x="206790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11" name="Text 9"/>
          <p:cNvSpPr/>
          <p:nvPr/>
        </p:nvSpPr>
        <p:spPr>
          <a:xfrm>
            <a:off x="995222" y="1859824"/>
            <a:ext cx="482510" cy="413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4589" y="2342241"/>
            <a:ext cx="1223508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王鹏飞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8897" y="2548972"/>
            <a:ext cx="1214892" cy="137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项目负责人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24970" y="1756454"/>
            <a:ext cx="1369984" cy="1033951"/>
          </a:xfrm>
          <a:custGeom>
            <a:avLst/>
            <a:gdLst/>
            <a:ahLst/>
            <a:cxnLst/>
            <a:rect l="l" t="t" r="r" b="b"/>
            <a:pathLst>
              <a:path w="1369984" h="1033951">
                <a:moveTo>
                  <a:pt x="68933" y="0"/>
                </a:moveTo>
                <a:lnTo>
                  <a:pt x="1301051" y="0"/>
                </a:lnTo>
                <a:cubicBezTo>
                  <a:pt x="1339122" y="0"/>
                  <a:pt x="1369984" y="30863"/>
                  <a:pt x="1369984" y="68933"/>
                </a:cubicBezTo>
                <a:lnTo>
                  <a:pt x="1369984" y="965017"/>
                </a:lnTo>
                <a:cubicBezTo>
                  <a:pt x="1369984" y="1003088"/>
                  <a:pt x="1339122" y="1033951"/>
                  <a:pt x="1301051" y="1033951"/>
                </a:cubicBezTo>
                <a:lnTo>
                  <a:pt x="68933" y="1033951"/>
                </a:lnTo>
                <a:cubicBezTo>
                  <a:pt x="30863" y="1033951"/>
                  <a:pt x="0" y="1003088"/>
                  <a:pt x="0" y="965017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5C6BC0">
              <a:alpha val="5098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2503276" y="185982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206790" y="0"/>
                </a:moveTo>
                <a:lnTo>
                  <a:pt x="206790" y="0"/>
                </a:lnTo>
                <a:cubicBezTo>
                  <a:pt x="320921" y="0"/>
                  <a:pt x="413580" y="92660"/>
                  <a:pt x="413580" y="206790"/>
                </a:cubicBezTo>
                <a:lnTo>
                  <a:pt x="413580" y="206790"/>
                </a:lnTo>
                <a:cubicBezTo>
                  <a:pt x="413580" y="320921"/>
                  <a:pt x="320921" y="413580"/>
                  <a:pt x="206790" y="413580"/>
                </a:cubicBezTo>
                <a:lnTo>
                  <a:pt x="206790" y="413580"/>
                </a:lnTo>
                <a:cubicBezTo>
                  <a:pt x="92660" y="413580"/>
                  <a:pt x="0" y="320921"/>
                  <a:pt x="0" y="206790"/>
                </a:cubicBezTo>
                <a:lnTo>
                  <a:pt x="0" y="206790"/>
                </a:lnTo>
                <a:cubicBezTo>
                  <a:pt x="0" y="92660"/>
                  <a:pt x="92660" y="0"/>
                  <a:pt x="206790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16" name="Text 14"/>
          <p:cNvSpPr/>
          <p:nvPr/>
        </p:nvSpPr>
        <p:spPr>
          <a:xfrm>
            <a:off x="2468811" y="1859824"/>
            <a:ext cx="482510" cy="413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98178" y="2342241"/>
            <a:ext cx="1223508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鲍蕴航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02486" y="2548972"/>
            <a:ext cx="1214892" cy="137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前端开发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98558" y="1756454"/>
            <a:ext cx="1369984" cy="1033951"/>
          </a:xfrm>
          <a:custGeom>
            <a:avLst/>
            <a:gdLst/>
            <a:ahLst/>
            <a:cxnLst/>
            <a:rect l="l" t="t" r="r" b="b"/>
            <a:pathLst>
              <a:path w="1369984" h="1033951">
                <a:moveTo>
                  <a:pt x="68933" y="0"/>
                </a:moveTo>
                <a:lnTo>
                  <a:pt x="1301051" y="0"/>
                </a:lnTo>
                <a:cubicBezTo>
                  <a:pt x="1339122" y="0"/>
                  <a:pt x="1369984" y="30863"/>
                  <a:pt x="1369984" y="68933"/>
                </a:cubicBezTo>
                <a:lnTo>
                  <a:pt x="1369984" y="965017"/>
                </a:lnTo>
                <a:cubicBezTo>
                  <a:pt x="1369984" y="1003088"/>
                  <a:pt x="1339122" y="1033951"/>
                  <a:pt x="1301051" y="1033951"/>
                </a:cubicBezTo>
                <a:lnTo>
                  <a:pt x="68933" y="1033951"/>
                </a:lnTo>
                <a:cubicBezTo>
                  <a:pt x="30863" y="1033951"/>
                  <a:pt x="0" y="1003088"/>
                  <a:pt x="0" y="965017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FFA726">
              <a:alpha val="5098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3976865" y="185982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206790" y="0"/>
                </a:moveTo>
                <a:lnTo>
                  <a:pt x="206790" y="0"/>
                </a:lnTo>
                <a:cubicBezTo>
                  <a:pt x="320921" y="0"/>
                  <a:pt x="413580" y="92660"/>
                  <a:pt x="413580" y="206790"/>
                </a:cubicBezTo>
                <a:lnTo>
                  <a:pt x="413580" y="206790"/>
                </a:lnTo>
                <a:cubicBezTo>
                  <a:pt x="413580" y="320921"/>
                  <a:pt x="320921" y="413580"/>
                  <a:pt x="206790" y="413580"/>
                </a:cubicBezTo>
                <a:lnTo>
                  <a:pt x="206790" y="413580"/>
                </a:lnTo>
                <a:cubicBezTo>
                  <a:pt x="92660" y="413580"/>
                  <a:pt x="0" y="320921"/>
                  <a:pt x="0" y="206790"/>
                </a:cubicBezTo>
                <a:lnTo>
                  <a:pt x="0" y="206790"/>
                </a:lnTo>
                <a:cubicBezTo>
                  <a:pt x="0" y="92660"/>
                  <a:pt x="92660" y="0"/>
                  <a:pt x="206790" y="0"/>
                </a:cubicBezTo>
                <a:close/>
              </a:path>
            </a:pathLst>
          </a:custGeom>
          <a:solidFill>
            <a:srgbClr val="FFA726"/>
          </a:solidFill>
        </p:spPr>
      </p:sp>
      <p:sp>
        <p:nvSpPr>
          <p:cNvPr id="21" name="Text 19"/>
          <p:cNvSpPr/>
          <p:nvPr/>
        </p:nvSpPr>
        <p:spPr>
          <a:xfrm>
            <a:off x="3942400" y="1859824"/>
            <a:ext cx="482510" cy="413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71767" y="2342241"/>
            <a:ext cx="1223508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谢毅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76075" y="2548972"/>
            <a:ext cx="1214892" cy="137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后端开发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72147" y="1756454"/>
            <a:ext cx="1369984" cy="1033951"/>
          </a:xfrm>
          <a:custGeom>
            <a:avLst/>
            <a:gdLst/>
            <a:ahLst/>
            <a:cxnLst/>
            <a:rect l="l" t="t" r="r" b="b"/>
            <a:pathLst>
              <a:path w="1369984" h="1033951">
                <a:moveTo>
                  <a:pt x="68933" y="0"/>
                </a:moveTo>
                <a:lnTo>
                  <a:pt x="1301051" y="0"/>
                </a:lnTo>
                <a:cubicBezTo>
                  <a:pt x="1339122" y="0"/>
                  <a:pt x="1369984" y="30863"/>
                  <a:pt x="1369984" y="68933"/>
                </a:cubicBezTo>
                <a:lnTo>
                  <a:pt x="1369984" y="965017"/>
                </a:lnTo>
                <a:cubicBezTo>
                  <a:pt x="1369984" y="1003088"/>
                  <a:pt x="1339122" y="1033951"/>
                  <a:pt x="1301051" y="1033951"/>
                </a:cubicBezTo>
                <a:lnTo>
                  <a:pt x="68933" y="1033951"/>
                </a:lnTo>
                <a:cubicBezTo>
                  <a:pt x="30863" y="1033951"/>
                  <a:pt x="0" y="1003088"/>
                  <a:pt x="0" y="965017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2E7D32">
              <a:alpha val="5098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5450454" y="185982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206790" y="0"/>
                </a:moveTo>
                <a:lnTo>
                  <a:pt x="206790" y="0"/>
                </a:lnTo>
                <a:cubicBezTo>
                  <a:pt x="320921" y="0"/>
                  <a:pt x="413580" y="92660"/>
                  <a:pt x="413580" y="206790"/>
                </a:cubicBezTo>
                <a:lnTo>
                  <a:pt x="413580" y="206790"/>
                </a:lnTo>
                <a:cubicBezTo>
                  <a:pt x="413580" y="320921"/>
                  <a:pt x="320921" y="413580"/>
                  <a:pt x="206790" y="413580"/>
                </a:cubicBezTo>
                <a:lnTo>
                  <a:pt x="206790" y="413580"/>
                </a:lnTo>
                <a:cubicBezTo>
                  <a:pt x="92660" y="413580"/>
                  <a:pt x="0" y="320921"/>
                  <a:pt x="0" y="206790"/>
                </a:cubicBezTo>
                <a:lnTo>
                  <a:pt x="0" y="206790"/>
                </a:lnTo>
                <a:cubicBezTo>
                  <a:pt x="0" y="92660"/>
                  <a:pt x="92660" y="0"/>
                  <a:pt x="206790" y="0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26" name="Text 24"/>
          <p:cNvSpPr/>
          <p:nvPr/>
        </p:nvSpPr>
        <p:spPr>
          <a:xfrm>
            <a:off x="5415989" y="1859824"/>
            <a:ext cx="482510" cy="413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45355" y="2342241"/>
            <a:ext cx="1223508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王希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49664" y="2548972"/>
            <a:ext cx="1214892" cy="137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AI模型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5737" y="1756454"/>
            <a:ext cx="1369984" cy="1033951"/>
          </a:xfrm>
          <a:custGeom>
            <a:avLst/>
            <a:gdLst/>
            <a:ahLst/>
            <a:cxnLst/>
            <a:rect l="l" t="t" r="r" b="b"/>
            <a:pathLst>
              <a:path w="1369984" h="1033951">
                <a:moveTo>
                  <a:pt x="68933" y="0"/>
                </a:moveTo>
                <a:lnTo>
                  <a:pt x="1301051" y="0"/>
                </a:lnTo>
                <a:cubicBezTo>
                  <a:pt x="1339122" y="0"/>
                  <a:pt x="1369984" y="30863"/>
                  <a:pt x="1369984" y="68933"/>
                </a:cubicBezTo>
                <a:lnTo>
                  <a:pt x="1369984" y="965017"/>
                </a:lnTo>
                <a:cubicBezTo>
                  <a:pt x="1369984" y="1003088"/>
                  <a:pt x="1339122" y="1033951"/>
                  <a:pt x="1301051" y="1033951"/>
                </a:cubicBezTo>
                <a:lnTo>
                  <a:pt x="68933" y="1033951"/>
                </a:lnTo>
                <a:cubicBezTo>
                  <a:pt x="30863" y="1033951"/>
                  <a:pt x="0" y="1003088"/>
                  <a:pt x="0" y="965017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5C6BC0">
              <a:alpha val="5098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6924043" y="185982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206790" y="0"/>
                </a:moveTo>
                <a:lnTo>
                  <a:pt x="206790" y="0"/>
                </a:lnTo>
                <a:cubicBezTo>
                  <a:pt x="320921" y="0"/>
                  <a:pt x="413580" y="92660"/>
                  <a:pt x="413580" y="206790"/>
                </a:cubicBezTo>
                <a:lnTo>
                  <a:pt x="413580" y="206790"/>
                </a:lnTo>
                <a:cubicBezTo>
                  <a:pt x="413580" y="320921"/>
                  <a:pt x="320921" y="413580"/>
                  <a:pt x="206790" y="413580"/>
                </a:cubicBezTo>
                <a:lnTo>
                  <a:pt x="206790" y="413580"/>
                </a:lnTo>
                <a:cubicBezTo>
                  <a:pt x="92660" y="413580"/>
                  <a:pt x="0" y="320921"/>
                  <a:pt x="0" y="206790"/>
                </a:cubicBezTo>
                <a:lnTo>
                  <a:pt x="0" y="206790"/>
                </a:lnTo>
                <a:cubicBezTo>
                  <a:pt x="0" y="92660"/>
                  <a:pt x="92660" y="0"/>
                  <a:pt x="206790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31" name="Text 29"/>
          <p:cNvSpPr/>
          <p:nvPr/>
        </p:nvSpPr>
        <p:spPr>
          <a:xfrm>
            <a:off x="6889578" y="1859824"/>
            <a:ext cx="482510" cy="413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果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18945" y="2342241"/>
            <a:ext cx="1223508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果家弘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23253" y="2548972"/>
            <a:ext cx="1214892" cy="137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测试运维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51380" y="2927953"/>
            <a:ext cx="7263502" cy="379115"/>
          </a:xfrm>
          <a:custGeom>
            <a:avLst/>
            <a:gdLst/>
            <a:ahLst/>
            <a:cxnLst/>
            <a:rect l="l" t="t" r="r" b="b"/>
            <a:pathLst>
              <a:path w="7263502" h="379115">
                <a:moveTo>
                  <a:pt x="68931" y="0"/>
                </a:moveTo>
                <a:lnTo>
                  <a:pt x="7194572" y="0"/>
                </a:lnTo>
                <a:cubicBezTo>
                  <a:pt x="7232641" y="0"/>
                  <a:pt x="7263502" y="30861"/>
                  <a:pt x="7263502" y="68931"/>
                </a:cubicBezTo>
                <a:lnTo>
                  <a:pt x="7263502" y="310184"/>
                </a:lnTo>
                <a:cubicBezTo>
                  <a:pt x="7263502" y="348254"/>
                  <a:pt x="7232641" y="379115"/>
                  <a:pt x="7194572" y="379115"/>
                </a:cubicBezTo>
                <a:lnTo>
                  <a:pt x="68931" y="379115"/>
                </a:lnTo>
                <a:cubicBezTo>
                  <a:pt x="30861" y="379115"/>
                  <a:pt x="0" y="348254"/>
                  <a:pt x="0" y="310184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2E7D32">
              <a:alpha val="5098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1896848" y="3055253"/>
            <a:ext cx="135706" cy="120628"/>
          </a:xfrm>
          <a:custGeom>
            <a:avLst/>
            <a:gdLst/>
            <a:ahLst/>
            <a:cxnLst/>
            <a:rect l="l" t="t" r="r" b="b"/>
            <a:pathLst>
              <a:path w="135706" h="120628">
                <a:moveTo>
                  <a:pt x="11309" y="46131"/>
                </a:moveTo>
                <a:lnTo>
                  <a:pt x="60597" y="66416"/>
                </a:lnTo>
                <a:cubicBezTo>
                  <a:pt x="62905" y="67358"/>
                  <a:pt x="65356" y="67853"/>
                  <a:pt x="67853" y="67853"/>
                </a:cubicBezTo>
                <a:cubicBezTo>
                  <a:pt x="70350" y="67853"/>
                  <a:pt x="72801" y="67358"/>
                  <a:pt x="75110" y="66416"/>
                </a:cubicBezTo>
                <a:lnTo>
                  <a:pt x="132219" y="42903"/>
                </a:lnTo>
                <a:cubicBezTo>
                  <a:pt x="134340" y="42031"/>
                  <a:pt x="135706" y="39981"/>
                  <a:pt x="135706" y="37696"/>
                </a:cubicBezTo>
                <a:cubicBezTo>
                  <a:pt x="135706" y="35411"/>
                  <a:pt x="134340" y="33361"/>
                  <a:pt x="132219" y="32489"/>
                </a:cubicBezTo>
                <a:lnTo>
                  <a:pt x="75110" y="8976"/>
                </a:lnTo>
                <a:cubicBezTo>
                  <a:pt x="72801" y="8034"/>
                  <a:pt x="70350" y="7539"/>
                  <a:pt x="67853" y="7539"/>
                </a:cubicBezTo>
                <a:cubicBezTo>
                  <a:pt x="65356" y="7539"/>
                  <a:pt x="62905" y="8034"/>
                  <a:pt x="60597" y="8976"/>
                </a:cubicBezTo>
                <a:lnTo>
                  <a:pt x="3487" y="32489"/>
                </a:lnTo>
                <a:cubicBezTo>
                  <a:pt x="1366" y="33361"/>
                  <a:pt x="0" y="35411"/>
                  <a:pt x="0" y="37696"/>
                </a:cubicBezTo>
                <a:lnTo>
                  <a:pt x="0" y="107434"/>
                </a:lnTo>
                <a:cubicBezTo>
                  <a:pt x="0" y="110567"/>
                  <a:pt x="2521" y="113088"/>
                  <a:pt x="5654" y="113088"/>
                </a:cubicBezTo>
                <a:cubicBezTo>
                  <a:pt x="8788" y="113088"/>
                  <a:pt x="11309" y="110567"/>
                  <a:pt x="11309" y="107434"/>
                </a:cubicBezTo>
                <a:lnTo>
                  <a:pt x="11309" y="46131"/>
                </a:lnTo>
                <a:close/>
                <a:moveTo>
                  <a:pt x="22618" y="63023"/>
                </a:moveTo>
                <a:lnTo>
                  <a:pt x="22618" y="90471"/>
                </a:lnTo>
                <a:cubicBezTo>
                  <a:pt x="22618" y="102958"/>
                  <a:pt x="42879" y="113088"/>
                  <a:pt x="67853" y="113088"/>
                </a:cubicBezTo>
                <a:cubicBezTo>
                  <a:pt x="92827" y="113088"/>
                  <a:pt x="113088" y="102958"/>
                  <a:pt x="113088" y="90471"/>
                </a:cubicBezTo>
                <a:lnTo>
                  <a:pt x="113088" y="63000"/>
                </a:lnTo>
                <a:lnTo>
                  <a:pt x="79421" y="76877"/>
                </a:lnTo>
                <a:cubicBezTo>
                  <a:pt x="75746" y="78384"/>
                  <a:pt x="71835" y="79162"/>
                  <a:pt x="67853" y="79162"/>
                </a:cubicBezTo>
                <a:cubicBezTo>
                  <a:pt x="63871" y="79162"/>
                  <a:pt x="59960" y="78384"/>
                  <a:pt x="56285" y="76877"/>
                </a:cubicBezTo>
                <a:lnTo>
                  <a:pt x="22618" y="63000"/>
                </a:lnTo>
                <a:close/>
              </a:path>
            </a:pathLst>
          </a:custGeom>
          <a:solidFill>
            <a:srgbClr val="2E7D32"/>
          </a:solidFill>
        </p:spPr>
      </p:sp>
      <p:sp>
        <p:nvSpPr>
          <p:cNvPr id="36" name="Text 34"/>
          <p:cNvSpPr/>
          <p:nvPr/>
        </p:nvSpPr>
        <p:spPr>
          <a:xfrm>
            <a:off x="817830" y="3031323"/>
            <a:ext cx="6923785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5名核心成员均为23届、24届物联网工程专业，专业背景与项目技术需求高度契合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44805" y="3702685"/>
            <a:ext cx="7677150" cy="1706880"/>
          </a:xfrm>
          <a:custGeom>
            <a:avLst/>
            <a:gdLst/>
            <a:ahLst/>
            <a:cxnLst/>
            <a:rect l="l" t="t" r="r" b="b"/>
            <a:pathLst>
              <a:path w="7677083" h="1395355">
                <a:moveTo>
                  <a:pt x="33508" y="0"/>
                </a:moveTo>
                <a:lnTo>
                  <a:pt x="7643575" y="0"/>
                </a:lnTo>
                <a:cubicBezTo>
                  <a:pt x="7662081" y="0"/>
                  <a:pt x="7677083" y="15002"/>
                  <a:pt x="7677083" y="33508"/>
                </a:cubicBezTo>
                <a:lnTo>
                  <a:pt x="7677083" y="1291959"/>
                </a:lnTo>
                <a:cubicBezTo>
                  <a:pt x="7677083" y="1349063"/>
                  <a:pt x="7630791" y="1395355"/>
                  <a:pt x="7573687" y="1395355"/>
                </a:cubicBezTo>
                <a:lnTo>
                  <a:pt x="103396" y="1395355"/>
                </a:lnTo>
                <a:cubicBezTo>
                  <a:pt x="46292" y="1395355"/>
                  <a:pt x="0" y="1349063"/>
                  <a:pt x="0" y="1291959"/>
                </a:cubicBezTo>
                <a:lnTo>
                  <a:pt x="0" y="33508"/>
                </a:lnTo>
                <a:cubicBezTo>
                  <a:pt x="0" y="15002"/>
                  <a:pt x="15002" y="0"/>
                  <a:pt x="3350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1698" dist="3446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44650" y="3702819"/>
            <a:ext cx="7677083" cy="33508"/>
          </a:xfrm>
          <a:custGeom>
            <a:avLst/>
            <a:gdLst/>
            <a:ahLst/>
            <a:cxnLst/>
            <a:rect l="l" t="t" r="r" b="b"/>
            <a:pathLst>
              <a:path w="7677083" h="33508">
                <a:moveTo>
                  <a:pt x="33508" y="0"/>
                </a:moveTo>
                <a:lnTo>
                  <a:pt x="7643575" y="0"/>
                </a:lnTo>
                <a:cubicBezTo>
                  <a:pt x="7662081" y="0"/>
                  <a:pt x="7677083" y="15002"/>
                  <a:pt x="7677083" y="33508"/>
                </a:cubicBezTo>
                <a:lnTo>
                  <a:pt x="7677083" y="33508"/>
                </a:lnTo>
                <a:lnTo>
                  <a:pt x="0" y="33508"/>
                </a:lnTo>
                <a:lnTo>
                  <a:pt x="0" y="33508"/>
                </a:lnTo>
                <a:cubicBezTo>
                  <a:pt x="0" y="15002"/>
                  <a:pt x="15002" y="0"/>
                  <a:pt x="33508" y="0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39" name="Shape 37"/>
          <p:cNvSpPr/>
          <p:nvPr/>
        </p:nvSpPr>
        <p:spPr>
          <a:xfrm>
            <a:off x="551380" y="3926303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5C6BC0">
              <a:alpha val="10196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667715" y="4029664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99316" y="-10461"/>
                </a:moveTo>
                <a:cubicBezTo>
                  <a:pt x="93904" y="-13773"/>
                  <a:pt x="87078" y="-13773"/>
                  <a:pt x="81666" y="-10461"/>
                </a:cubicBezTo>
                <a:cubicBezTo>
                  <a:pt x="71811" y="-4443"/>
                  <a:pt x="65712" y="-2827"/>
                  <a:pt x="54161" y="-3070"/>
                </a:cubicBezTo>
                <a:cubicBezTo>
                  <a:pt x="47820" y="-3231"/>
                  <a:pt x="41923" y="202"/>
                  <a:pt x="38854" y="5776"/>
                </a:cubicBezTo>
                <a:cubicBezTo>
                  <a:pt x="33321" y="15913"/>
                  <a:pt x="28838" y="20396"/>
                  <a:pt x="18700" y="25930"/>
                </a:cubicBezTo>
                <a:cubicBezTo>
                  <a:pt x="13126" y="28959"/>
                  <a:pt x="9734" y="34896"/>
                  <a:pt x="9855" y="41237"/>
                </a:cubicBezTo>
                <a:cubicBezTo>
                  <a:pt x="10138" y="52788"/>
                  <a:pt x="8482" y="58887"/>
                  <a:pt x="2464" y="68742"/>
                </a:cubicBezTo>
                <a:cubicBezTo>
                  <a:pt x="-848" y="74154"/>
                  <a:pt x="-848" y="80979"/>
                  <a:pt x="2464" y="86391"/>
                </a:cubicBezTo>
                <a:cubicBezTo>
                  <a:pt x="8482" y="96246"/>
                  <a:pt x="10097" y="102345"/>
                  <a:pt x="9855" y="113896"/>
                </a:cubicBezTo>
                <a:cubicBezTo>
                  <a:pt x="9693" y="120237"/>
                  <a:pt x="13126" y="126134"/>
                  <a:pt x="18700" y="129203"/>
                </a:cubicBezTo>
                <a:cubicBezTo>
                  <a:pt x="27626" y="134090"/>
                  <a:pt x="32149" y="138129"/>
                  <a:pt x="36915" y="145965"/>
                </a:cubicBezTo>
                <a:lnTo>
                  <a:pt x="17246" y="185182"/>
                </a:lnTo>
                <a:cubicBezTo>
                  <a:pt x="14863" y="189988"/>
                  <a:pt x="16802" y="195804"/>
                  <a:pt x="21568" y="198187"/>
                </a:cubicBezTo>
                <a:lnTo>
                  <a:pt x="56302" y="215554"/>
                </a:lnTo>
                <a:cubicBezTo>
                  <a:pt x="60947" y="217857"/>
                  <a:pt x="66601" y="216120"/>
                  <a:pt x="69105" y="211596"/>
                </a:cubicBezTo>
                <a:lnTo>
                  <a:pt x="90430" y="173187"/>
                </a:lnTo>
                <a:lnTo>
                  <a:pt x="111756" y="211596"/>
                </a:lnTo>
                <a:cubicBezTo>
                  <a:pt x="114260" y="216120"/>
                  <a:pt x="119914" y="217897"/>
                  <a:pt x="124559" y="215554"/>
                </a:cubicBezTo>
                <a:lnTo>
                  <a:pt x="159293" y="198187"/>
                </a:lnTo>
                <a:cubicBezTo>
                  <a:pt x="164099" y="195804"/>
                  <a:pt x="166038" y="189988"/>
                  <a:pt x="163615" y="185182"/>
                </a:cubicBezTo>
                <a:lnTo>
                  <a:pt x="143986" y="145924"/>
                </a:lnTo>
                <a:cubicBezTo>
                  <a:pt x="148711" y="138089"/>
                  <a:pt x="153275" y="134050"/>
                  <a:pt x="162201" y="129163"/>
                </a:cubicBezTo>
                <a:cubicBezTo>
                  <a:pt x="167775" y="126134"/>
                  <a:pt x="171167" y="120197"/>
                  <a:pt x="171046" y="113856"/>
                </a:cubicBezTo>
                <a:cubicBezTo>
                  <a:pt x="170763" y="102305"/>
                  <a:pt x="172419" y="96206"/>
                  <a:pt x="178437" y="86351"/>
                </a:cubicBezTo>
                <a:cubicBezTo>
                  <a:pt x="181749" y="80939"/>
                  <a:pt x="181749" y="74113"/>
                  <a:pt x="178437" y="68701"/>
                </a:cubicBezTo>
                <a:cubicBezTo>
                  <a:pt x="172419" y="58846"/>
                  <a:pt x="170804" y="52748"/>
                  <a:pt x="171046" y="41196"/>
                </a:cubicBezTo>
                <a:cubicBezTo>
                  <a:pt x="171208" y="34855"/>
                  <a:pt x="167775" y="28959"/>
                  <a:pt x="162201" y="25889"/>
                </a:cubicBezTo>
                <a:cubicBezTo>
                  <a:pt x="152063" y="20356"/>
                  <a:pt x="147580" y="15873"/>
                  <a:pt x="142047" y="5735"/>
                </a:cubicBezTo>
                <a:cubicBezTo>
                  <a:pt x="139018" y="162"/>
                  <a:pt x="133081" y="-3231"/>
                  <a:pt x="126740" y="-3110"/>
                </a:cubicBezTo>
                <a:cubicBezTo>
                  <a:pt x="115189" y="-2827"/>
                  <a:pt x="109090" y="-4483"/>
                  <a:pt x="99235" y="-10501"/>
                </a:cubicBezTo>
                <a:close/>
                <a:moveTo>
                  <a:pt x="90471" y="38773"/>
                </a:moveTo>
                <a:cubicBezTo>
                  <a:pt x="111870" y="38773"/>
                  <a:pt x="129244" y="56147"/>
                  <a:pt x="129244" y="77546"/>
                </a:cubicBezTo>
                <a:cubicBezTo>
                  <a:pt x="129244" y="98946"/>
                  <a:pt x="111870" y="116319"/>
                  <a:pt x="90471" y="116319"/>
                </a:cubicBezTo>
                <a:cubicBezTo>
                  <a:pt x="69071" y="116319"/>
                  <a:pt x="51698" y="98946"/>
                  <a:pt x="51698" y="77546"/>
                </a:cubicBezTo>
                <a:cubicBezTo>
                  <a:pt x="51698" y="56147"/>
                  <a:pt x="69071" y="38773"/>
                  <a:pt x="90471" y="38773"/>
                </a:cubicBezTo>
                <a:close/>
              </a:path>
            </a:pathLst>
          </a:custGeom>
          <a:solidFill>
            <a:srgbClr val="5C6BC0"/>
          </a:solidFill>
        </p:spPr>
      </p:sp>
      <p:sp>
        <p:nvSpPr>
          <p:cNvPr id="41" name="Text 39"/>
          <p:cNvSpPr/>
          <p:nvPr/>
        </p:nvSpPr>
        <p:spPr>
          <a:xfrm>
            <a:off x="1068281" y="3995191"/>
            <a:ext cx="930555" cy="275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5C6BC0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团队优势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68613" y="4512090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43" name="Text 41"/>
          <p:cNvSpPr/>
          <p:nvPr/>
        </p:nvSpPr>
        <p:spPr>
          <a:xfrm>
            <a:off x="792591" y="4477684"/>
            <a:ext cx="1757716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专业背景强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92591" y="4718821"/>
            <a:ext cx="174910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物联网工程专业，技术基础扎实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036063" y="4512090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46" name="Text 44"/>
          <p:cNvSpPr/>
          <p:nvPr/>
        </p:nvSpPr>
        <p:spPr>
          <a:xfrm>
            <a:off x="3260041" y="4477684"/>
            <a:ext cx="1637088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分工明确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260041" y="4718821"/>
            <a:ext cx="1628472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五大岗位协同配合，体系完整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503513" y="4512090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68930" y="137860"/>
                </a:moveTo>
                <a:cubicBezTo>
                  <a:pt x="106974" y="137860"/>
                  <a:pt x="137860" y="106974"/>
                  <a:pt x="137860" y="68930"/>
                </a:cubicBezTo>
                <a:cubicBezTo>
                  <a:pt x="137860" y="30887"/>
                  <a:pt x="106974" y="0"/>
                  <a:pt x="68930" y="0"/>
                </a:cubicBezTo>
                <a:cubicBezTo>
                  <a:pt x="30887" y="0"/>
                  <a:pt x="0" y="30887"/>
                  <a:pt x="0" y="68930"/>
                </a:cubicBezTo>
                <a:cubicBezTo>
                  <a:pt x="0" y="106974"/>
                  <a:pt x="30887" y="137860"/>
                  <a:pt x="68930" y="137860"/>
                </a:cubicBezTo>
                <a:close/>
                <a:moveTo>
                  <a:pt x="91655" y="57271"/>
                </a:moveTo>
                <a:lnTo>
                  <a:pt x="70115" y="91736"/>
                </a:lnTo>
                <a:cubicBezTo>
                  <a:pt x="68984" y="93540"/>
                  <a:pt x="67045" y="94671"/>
                  <a:pt x="64918" y="94779"/>
                </a:cubicBezTo>
                <a:cubicBezTo>
                  <a:pt x="62791" y="94887"/>
                  <a:pt x="60745" y="93917"/>
                  <a:pt x="59479" y="92194"/>
                </a:cubicBezTo>
                <a:lnTo>
                  <a:pt x="46555" y="74961"/>
                </a:lnTo>
                <a:cubicBezTo>
                  <a:pt x="44401" y="72107"/>
                  <a:pt x="44993" y="68068"/>
                  <a:pt x="47847" y="65914"/>
                </a:cubicBezTo>
                <a:cubicBezTo>
                  <a:pt x="50701" y="63760"/>
                  <a:pt x="54740" y="64353"/>
                  <a:pt x="56894" y="67207"/>
                </a:cubicBezTo>
                <a:lnTo>
                  <a:pt x="64164" y="76900"/>
                </a:lnTo>
                <a:lnTo>
                  <a:pt x="80697" y="50432"/>
                </a:lnTo>
                <a:cubicBezTo>
                  <a:pt x="82581" y="47416"/>
                  <a:pt x="86566" y="46474"/>
                  <a:pt x="89609" y="48386"/>
                </a:cubicBezTo>
                <a:cubicBezTo>
                  <a:pt x="92652" y="50297"/>
                  <a:pt x="93567" y="54255"/>
                  <a:pt x="91655" y="57298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49" name="Text 47"/>
          <p:cNvSpPr/>
          <p:nvPr/>
        </p:nvSpPr>
        <p:spPr>
          <a:xfrm>
            <a:off x="5727491" y="4477684"/>
            <a:ext cx="1637088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21252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经验丰富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727491" y="4718821"/>
            <a:ext cx="1628472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212529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具备对应技术开发与实操经验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29421" y="964835"/>
            <a:ext cx="3618827" cy="3687757"/>
          </a:xfrm>
          <a:custGeom>
            <a:avLst/>
            <a:gdLst/>
            <a:ahLst/>
            <a:cxnLst/>
            <a:rect l="l" t="t" r="r" b="b"/>
            <a:pathLst>
              <a:path w="3618827" h="3687757">
                <a:moveTo>
                  <a:pt x="103390" y="0"/>
                </a:moveTo>
                <a:lnTo>
                  <a:pt x="3515437" y="0"/>
                </a:lnTo>
                <a:cubicBezTo>
                  <a:pt x="3572538" y="0"/>
                  <a:pt x="3618827" y="46289"/>
                  <a:pt x="3618827" y="103390"/>
                </a:cubicBezTo>
                <a:lnTo>
                  <a:pt x="3618827" y="3584367"/>
                </a:lnTo>
                <a:cubicBezTo>
                  <a:pt x="3618827" y="3641468"/>
                  <a:pt x="3572538" y="3687757"/>
                  <a:pt x="3515437" y="3687757"/>
                </a:cubicBezTo>
                <a:lnTo>
                  <a:pt x="103390" y="3687757"/>
                </a:lnTo>
                <a:cubicBezTo>
                  <a:pt x="46289" y="3687757"/>
                  <a:pt x="0" y="3641468"/>
                  <a:pt x="0" y="3584367"/>
                </a:cubicBezTo>
                <a:lnTo>
                  <a:pt x="0" y="103390"/>
                </a:lnTo>
                <a:cubicBezTo>
                  <a:pt x="0" y="46289"/>
                  <a:pt x="46289" y="0"/>
                  <a:pt x="10339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A726"/>
              </a:gs>
              <a:gs pos="100000">
                <a:srgbClr val="F57C00"/>
              </a:gs>
            </a:gsLst>
            <a:lin ang="2700000" scaled="1"/>
          </a:gradFill>
          <a:effectLst>
            <a:outerShdw blurRad="129244" dist="8616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457692" y="1205973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43081" y="32311"/>
                </a:moveTo>
                <a:lnTo>
                  <a:pt x="43081" y="26926"/>
                </a:lnTo>
                <a:cubicBezTo>
                  <a:pt x="43081" y="12049"/>
                  <a:pt x="72027" y="0"/>
                  <a:pt x="107703" y="0"/>
                </a:cubicBezTo>
                <a:cubicBezTo>
                  <a:pt x="143380" y="0"/>
                  <a:pt x="172325" y="12049"/>
                  <a:pt x="172325" y="26926"/>
                </a:cubicBezTo>
                <a:lnTo>
                  <a:pt x="172325" y="32311"/>
                </a:lnTo>
                <a:cubicBezTo>
                  <a:pt x="172325" y="42610"/>
                  <a:pt x="158425" y="51563"/>
                  <a:pt x="137995" y="56107"/>
                </a:cubicBezTo>
                <a:cubicBezTo>
                  <a:pt x="137187" y="55164"/>
                  <a:pt x="136345" y="54255"/>
                  <a:pt x="135504" y="53414"/>
                </a:cubicBezTo>
                <a:cubicBezTo>
                  <a:pt x="130287" y="48264"/>
                  <a:pt x="123556" y="44360"/>
                  <a:pt x="116521" y="41466"/>
                </a:cubicBezTo>
                <a:cubicBezTo>
                  <a:pt x="102419" y="35576"/>
                  <a:pt x="84042" y="32345"/>
                  <a:pt x="64622" y="32345"/>
                </a:cubicBezTo>
                <a:cubicBezTo>
                  <a:pt x="57251" y="32345"/>
                  <a:pt x="50048" y="32816"/>
                  <a:pt x="43149" y="33725"/>
                </a:cubicBezTo>
                <a:cubicBezTo>
                  <a:pt x="43081" y="33287"/>
                  <a:pt x="43081" y="32816"/>
                  <a:pt x="43081" y="32345"/>
                </a:cubicBezTo>
                <a:close/>
                <a:moveTo>
                  <a:pt x="145399" y="118810"/>
                </a:moveTo>
                <a:lnTo>
                  <a:pt x="145399" y="103260"/>
                </a:lnTo>
                <a:cubicBezTo>
                  <a:pt x="150482" y="101948"/>
                  <a:pt x="155261" y="100400"/>
                  <a:pt x="159603" y="98582"/>
                </a:cubicBezTo>
                <a:cubicBezTo>
                  <a:pt x="164045" y="96731"/>
                  <a:pt x="168387" y="94476"/>
                  <a:pt x="172325" y="91750"/>
                </a:cubicBezTo>
                <a:lnTo>
                  <a:pt x="172325" y="96933"/>
                </a:lnTo>
                <a:cubicBezTo>
                  <a:pt x="172325" y="105953"/>
                  <a:pt x="161723" y="113930"/>
                  <a:pt x="145399" y="118810"/>
                </a:cubicBezTo>
                <a:close/>
                <a:moveTo>
                  <a:pt x="145399" y="86499"/>
                </a:moveTo>
                <a:lnTo>
                  <a:pt x="145399" y="75392"/>
                </a:lnTo>
                <a:cubicBezTo>
                  <a:pt x="145399" y="73878"/>
                  <a:pt x="145265" y="72430"/>
                  <a:pt x="145063" y="71017"/>
                </a:cubicBezTo>
                <a:cubicBezTo>
                  <a:pt x="150280" y="69704"/>
                  <a:pt x="155160" y="68122"/>
                  <a:pt x="159603" y="66237"/>
                </a:cubicBezTo>
                <a:cubicBezTo>
                  <a:pt x="164045" y="64353"/>
                  <a:pt x="168387" y="62131"/>
                  <a:pt x="172325" y="59405"/>
                </a:cubicBezTo>
                <a:lnTo>
                  <a:pt x="172325" y="64588"/>
                </a:lnTo>
                <a:cubicBezTo>
                  <a:pt x="172325" y="73608"/>
                  <a:pt x="161723" y="81585"/>
                  <a:pt x="145399" y="86465"/>
                </a:cubicBezTo>
                <a:close/>
                <a:moveTo>
                  <a:pt x="0" y="80777"/>
                </a:moveTo>
                <a:lnTo>
                  <a:pt x="0" y="75392"/>
                </a:lnTo>
                <a:cubicBezTo>
                  <a:pt x="0" y="60516"/>
                  <a:pt x="28945" y="48466"/>
                  <a:pt x="64622" y="48466"/>
                </a:cubicBezTo>
                <a:cubicBezTo>
                  <a:pt x="100299" y="48466"/>
                  <a:pt x="129244" y="60516"/>
                  <a:pt x="129244" y="75392"/>
                </a:cubicBezTo>
                <a:lnTo>
                  <a:pt x="129244" y="80777"/>
                </a:lnTo>
                <a:cubicBezTo>
                  <a:pt x="129244" y="95654"/>
                  <a:pt x="100299" y="107703"/>
                  <a:pt x="64622" y="107703"/>
                </a:cubicBezTo>
                <a:cubicBezTo>
                  <a:pt x="28945" y="107703"/>
                  <a:pt x="0" y="95654"/>
                  <a:pt x="0" y="80777"/>
                </a:cubicBezTo>
                <a:close/>
                <a:moveTo>
                  <a:pt x="129244" y="113088"/>
                </a:moveTo>
                <a:cubicBezTo>
                  <a:pt x="129244" y="127965"/>
                  <a:pt x="100299" y="140014"/>
                  <a:pt x="64622" y="140014"/>
                </a:cubicBezTo>
                <a:cubicBezTo>
                  <a:pt x="28945" y="140014"/>
                  <a:pt x="0" y="127965"/>
                  <a:pt x="0" y="113088"/>
                </a:cubicBezTo>
                <a:lnTo>
                  <a:pt x="0" y="107905"/>
                </a:lnTo>
                <a:cubicBezTo>
                  <a:pt x="3904" y="110631"/>
                  <a:pt x="8246" y="112853"/>
                  <a:pt x="12722" y="114738"/>
                </a:cubicBezTo>
                <a:cubicBezTo>
                  <a:pt x="26825" y="120628"/>
                  <a:pt x="45202" y="123859"/>
                  <a:pt x="64622" y="123859"/>
                </a:cubicBezTo>
                <a:cubicBezTo>
                  <a:pt x="84042" y="123859"/>
                  <a:pt x="102419" y="120594"/>
                  <a:pt x="116521" y="114738"/>
                </a:cubicBezTo>
                <a:cubicBezTo>
                  <a:pt x="120964" y="112886"/>
                  <a:pt x="125306" y="110631"/>
                  <a:pt x="129244" y="107905"/>
                </a:cubicBezTo>
                <a:lnTo>
                  <a:pt x="129244" y="113088"/>
                </a:lnTo>
                <a:close/>
                <a:moveTo>
                  <a:pt x="129244" y="140216"/>
                </a:moveTo>
                <a:lnTo>
                  <a:pt x="129244" y="145399"/>
                </a:lnTo>
                <a:cubicBezTo>
                  <a:pt x="129244" y="160276"/>
                  <a:pt x="100299" y="172325"/>
                  <a:pt x="64622" y="172325"/>
                </a:cubicBezTo>
                <a:cubicBezTo>
                  <a:pt x="28945" y="172325"/>
                  <a:pt x="0" y="160276"/>
                  <a:pt x="0" y="145399"/>
                </a:cubicBezTo>
                <a:lnTo>
                  <a:pt x="0" y="140216"/>
                </a:lnTo>
                <a:cubicBezTo>
                  <a:pt x="3904" y="142942"/>
                  <a:pt x="8246" y="145164"/>
                  <a:pt x="12722" y="147048"/>
                </a:cubicBezTo>
                <a:cubicBezTo>
                  <a:pt x="26825" y="152939"/>
                  <a:pt x="45202" y="156170"/>
                  <a:pt x="64622" y="156170"/>
                </a:cubicBezTo>
                <a:cubicBezTo>
                  <a:pt x="84042" y="156170"/>
                  <a:pt x="102419" y="152905"/>
                  <a:pt x="116521" y="147048"/>
                </a:cubicBezTo>
                <a:cubicBezTo>
                  <a:pt x="120964" y="145197"/>
                  <a:pt x="125306" y="142942"/>
                  <a:pt x="129244" y="14021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3" name="Text 51"/>
          <p:cNvSpPr/>
          <p:nvPr/>
        </p:nvSpPr>
        <p:spPr>
          <a:xfrm>
            <a:off x="8651558" y="1171567"/>
            <a:ext cx="3076003" cy="241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436151" y="1550623"/>
            <a:ext cx="3205247" cy="1378601"/>
          </a:xfrm>
          <a:custGeom>
            <a:avLst/>
            <a:gdLst/>
            <a:ahLst/>
            <a:cxnLst/>
            <a:rect l="l" t="t" r="r" b="b"/>
            <a:pathLst>
              <a:path w="3205247" h="1378601">
                <a:moveTo>
                  <a:pt x="68930" y="0"/>
                </a:moveTo>
                <a:lnTo>
                  <a:pt x="3136317" y="0"/>
                </a:lnTo>
                <a:cubicBezTo>
                  <a:pt x="3174386" y="0"/>
                  <a:pt x="3205247" y="30861"/>
                  <a:pt x="3205247" y="68930"/>
                </a:cubicBezTo>
                <a:lnTo>
                  <a:pt x="3205247" y="1309671"/>
                </a:lnTo>
                <a:cubicBezTo>
                  <a:pt x="3205247" y="1347740"/>
                  <a:pt x="3174386" y="1378601"/>
                  <a:pt x="3136317" y="1378601"/>
                </a:cubicBezTo>
                <a:lnTo>
                  <a:pt x="68930" y="1378601"/>
                </a:lnTo>
                <a:cubicBezTo>
                  <a:pt x="30861" y="1378601"/>
                  <a:pt x="0" y="1347740"/>
                  <a:pt x="0" y="1309671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55" name="Shape 53"/>
          <p:cNvSpPr/>
          <p:nvPr/>
        </p:nvSpPr>
        <p:spPr>
          <a:xfrm>
            <a:off x="8595537" y="1722948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108208" y="23156"/>
                </a:moveTo>
                <a:cubicBezTo>
                  <a:pt x="110766" y="18814"/>
                  <a:pt x="115411" y="16155"/>
                  <a:pt x="120426" y="16155"/>
                </a:cubicBezTo>
                <a:lnTo>
                  <a:pt x="121166" y="16155"/>
                </a:lnTo>
                <a:cubicBezTo>
                  <a:pt x="128604" y="16155"/>
                  <a:pt x="134629" y="22180"/>
                  <a:pt x="134629" y="29618"/>
                </a:cubicBezTo>
                <a:cubicBezTo>
                  <a:pt x="134629" y="37057"/>
                  <a:pt x="128604" y="43081"/>
                  <a:pt x="121166" y="43081"/>
                </a:cubicBezTo>
                <a:lnTo>
                  <a:pt x="96495" y="43081"/>
                </a:lnTo>
                <a:lnTo>
                  <a:pt x="108208" y="23156"/>
                </a:lnTo>
                <a:close/>
                <a:moveTo>
                  <a:pt x="64117" y="23156"/>
                </a:moveTo>
                <a:lnTo>
                  <a:pt x="75830" y="43081"/>
                </a:lnTo>
                <a:lnTo>
                  <a:pt x="51159" y="43081"/>
                </a:lnTo>
                <a:cubicBezTo>
                  <a:pt x="43721" y="43081"/>
                  <a:pt x="37696" y="37057"/>
                  <a:pt x="37696" y="29618"/>
                </a:cubicBezTo>
                <a:cubicBezTo>
                  <a:pt x="37696" y="22180"/>
                  <a:pt x="43721" y="16155"/>
                  <a:pt x="51159" y="16155"/>
                </a:cubicBezTo>
                <a:lnTo>
                  <a:pt x="51899" y="16155"/>
                </a:lnTo>
                <a:cubicBezTo>
                  <a:pt x="56914" y="16155"/>
                  <a:pt x="61593" y="18814"/>
                  <a:pt x="64117" y="23156"/>
                </a:cubicBezTo>
                <a:close/>
                <a:moveTo>
                  <a:pt x="94274" y="14977"/>
                </a:moveTo>
                <a:lnTo>
                  <a:pt x="86163" y="28777"/>
                </a:lnTo>
                <a:lnTo>
                  <a:pt x="78051" y="14977"/>
                </a:lnTo>
                <a:cubicBezTo>
                  <a:pt x="72599" y="5688"/>
                  <a:pt x="62636" y="0"/>
                  <a:pt x="51899" y="0"/>
                </a:cubicBezTo>
                <a:lnTo>
                  <a:pt x="51159" y="0"/>
                </a:lnTo>
                <a:cubicBezTo>
                  <a:pt x="34802" y="0"/>
                  <a:pt x="21541" y="13261"/>
                  <a:pt x="21541" y="29618"/>
                </a:cubicBezTo>
                <a:cubicBezTo>
                  <a:pt x="21541" y="34465"/>
                  <a:pt x="22719" y="39042"/>
                  <a:pt x="24772" y="43081"/>
                </a:cubicBezTo>
                <a:lnTo>
                  <a:pt x="10770" y="43081"/>
                </a:lnTo>
                <a:cubicBezTo>
                  <a:pt x="4813" y="43081"/>
                  <a:pt x="0" y="47894"/>
                  <a:pt x="0" y="53852"/>
                </a:cubicBezTo>
                <a:lnTo>
                  <a:pt x="0" y="64622"/>
                </a:lnTo>
                <a:cubicBezTo>
                  <a:pt x="0" y="70579"/>
                  <a:pt x="4813" y="75392"/>
                  <a:pt x="10770" y="75392"/>
                </a:cubicBezTo>
                <a:lnTo>
                  <a:pt x="161555" y="75392"/>
                </a:lnTo>
                <a:cubicBezTo>
                  <a:pt x="167512" y="75392"/>
                  <a:pt x="172325" y="70579"/>
                  <a:pt x="172325" y="64622"/>
                </a:cubicBezTo>
                <a:lnTo>
                  <a:pt x="172325" y="53852"/>
                </a:lnTo>
                <a:cubicBezTo>
                  <a:pt x="172325" y="47894"/>
                  <a:pt x="167512" y="43081"/>
                  <a:pt x="161555" y="43081"/>
                </a:cubicBezTo>
                <a:lnTo>
                  <a:pt x="147553" y="43081"/>
                </a:lnTo>
                <a:cubicBezTo>
                  <a:pt x="149606" y="39042"/>
                  <a:pt x="150784" y="34465"/>
                  <a:pt x="150784" y="29618"/>
                </a:cubicBezTo>
                <a:cubicBezTo>
                  <a:pt x="150784" y="13261"/>
                  <a:pt x="137523" y="0"/>
                  <a:pt x="121166" y="0"/>
                </a:cubicBezTo>
                <a:lnTo>
                  <a:pt x="120426" y="0"/>
                </a:lnTo>
                <a:cubicBezTo>
                  <a:pt x="109689" y="0"/>
                  <a:pt x="99726" y="5688"/>
                  <a:pt x="94274" y="14944"/>
                </a:cubicBezTo>
                <a:close/>
                <a:moveTo>
                  <a:pt x="161555" y="91548"/>
                </a:moveTo>
                <a:lnTo>
                  <a:pt x="94240" y="91548"/>
                </a:lnTo>
                <a:lnTo>
                  <a:pt x="94240" y="161555"/>
                </a:lnTo>
                <a:lnTo>
                  <a:pt x="140014" y="161555"/>
                </a:lnTo>
                <a:cubicBezTo>
                  <a:pt x="151895" y="161555"/>
                  <a:pt x="161555" y="151895"/>
                  <a:pt x="161555" y="140014"/>
                </a:cubicBezTo>
                <a:lnTo>
                  <a:pt x="161555" y="91548"/>
                </a:lnTo>
                <a:close/>
                <a:moveTo>
                  <a:pt x="78085" y="91548"/>
                </a:moveTo>
                <a:lnTo>
                  <a:pt x="10770" y="91548"/>
                </a:lnTo>
                <a:lnTo>
                  <a:pt x="10770" y="140014"/>
                </a:lnTo>
                <a:cubicBezTo>
                  <a:pt x="10770" y="151895"/>
                  <a:pt x="20430" y="161555"/>
                  <a:pt x="32311" y="161555"/>
                </a:cubicBezTo>
                <a:lnTo>
                  <a:pt x="78085" y="161555"/>
                </a:lnTo>
                <a:lnTo>
                  <a:pt x="78085" y="9154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6" name="Text 54"/>
          <p:cNvSpPr/>
          <p:nvPr/>
        </p:nvSpPr>
        <p:spPr>
          <a:xfrm>
            <a:off x="8858288" y="1688466"/>
            <a:ext cx="1008102" cy="241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基础功能免费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594460" y="2022573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8743855" y="1998643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病害识别（3类叶片）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594460" y="2229304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0" name="Text 58"/>
          <p:cNvSpPr/>
          <p:nvPr/>
        </p:nvSpPr>
        <p:spPr>
          <a:xfrm>
            <a:off x="8743855" y="2205374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基础防控建议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594460" y="2436036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2" name="Text 60"/>
          <p:cNvSpPr/>
          <p:nvPr/>
        </p:nvSpPr>
        <p:spPr>
          <a:xfrm>
            <a:off x="8743855" y="2412097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简单天气查询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594460" y="2642767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8743855" y="2618828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历史记录查询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436151" y="3066848"/>
            <a:ext cx="3205247" cy="1378601"/>
          </a:xfrm>
          <a:custGeom>
            <a:avLst/>
            <a:gdLst/>
            <a:ahLst/>
            <a:cxnLst/>
            <a:rect l="l" t="t" r="r" b="b"/>
            <a:pathLst>
              <a:path w="3205247" h="1378601">
                <a:moveTo>
                  <a:pt x="68930" y="0"/>
                </a:moveTo>
                <a:lnTo>
                  <a:pt x="3136317" y="0"/>
                </a:lnTo>
                <a:cubicBezTo>
                  <a:pt x="3174386" y="0"/>
                  <a:pt x="3205247" y="30861"/>
                  <a:pt x="3205247" y="68930"/>
                </a:cubicBezTo>
                <a:lnTo>
                  <a:pt x="3205247" y="1309671"/>
                </a:lnTo>
                <a:cubicBezTo>
                  <a:pt x="3205247" y="1347740"/>
                  <a:pt x="3174386" y="1378601"/>
                  <a:pt x="3136317" y="1378601"/>
                </a:cubicBezTo>
                <a:lnTo>
                  <a:pt x="68930" y="1378601"/>
                </a:lnTo>
                <a:cubicBezTo>
                  <a:pt x="30861" y="1378601"/>
                  <a:pt x="0" y="1347740"/>
                  <a:pt x="0" y="1309671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66" name="Shape 64"/>
          <p:cNvSpPr/>
          <p:nvPr/>
        </p:nvSpPr>
        <p:spPr>
          <a:xfrm>
            <a:off x="8584766" y="3239173"/>
            <a:ext cx="193866" cy="172325"/>
          </a:xfrm>
          <a:custGeom>
            <a:avLst/>
            <a:gdLst/>
            <a:ahLst/>
            <a:cxnLst/>
            <a:rect l="l" t="t" r="r" b="b"/>
            <a:pathLst>
              <a:path w="193866" h="172325">
                <a:moveTo>
                  <a:pt x="105347" y="29349"/>
                </a:moveTo>
                <a:cubicBezTo>
                  <a:pt x="108444" y="26892"/>
                  <a:pt x="110396" y="23089"/>
                  <a:pt x="110396" y="18848"/>
                </a:cubicBezTo>
                <a:cubicBezTo>
                  <a:pt x="110396" y="11410"/>
                  <a:pt x="104371" y="5385"/>
                  <a:pt x="96933" y="5385"/>
                </a:cubicBezTo>
                <a:cubicBezTo>
                  <a:pt x="89495" y="5385"/>
                  <a:pt x="83470" y="11410"/>
                  <a:pt x="83470" y="18848"/>
                </a:cubicBezTo>
                <a:cubicBezTo>
                  <a:pt x="83470" y="23089"/>
                  <a:pt x="85456" y="26892"/>
                  <a:pt x="88519" y="29349"/>
                </a:cubicBezTo>
                <a:lnTo>
                  <a:pt x="65497" y="65564"/>
                </a:lnTo>
                <a:cubicBezTo>
                  <a:pt x="62131" y="70848"/>
                  <a:pt x="54962" y="72161"/>
                  <a:pt x="49947" y="68392"/>
                </a:cubicBezTo>
                <a:lnTo>
                  <a:pt x="29921" y="53414"/>
                </a:lnTo>
                <a:cubicBezTo>
                  <a:pt x="31436" y="51260"/>
                  <a:pt x="32311" y="48601"/>
                  <a:pt x="32311" y="45774"/>
                </a:cubicBezTo>
                <a:cubicBezTo>
                  <a:pt x="32311" y="38336"/>
                  <a:pt x="26286" y="32311"/>
                  <a:pt x="18848" y="32311"/>
                </a:cubicBezTo>
                <a:cubicBezTo>
                  <a:pt x="11410" y="32311"/>
                  <a:pt x="5385" y="38336"/>
                  <a:pt x="5385" y="45774"/>
                </a:cubicBezTo>
                <a:cubicBezTo>
                  <a:pt x="5385" y="53111"/>
                  <a:pt x="11275" y="59102"/>
                  <a:pt x="18579" y="59237"/>
                </a:cubicBezTo>
                <a:lnTo>
                  <a:pt x="29551" y="132441"/>
                </a:lnTo>
                <a:cubicBezTo>
                  <a:pt x="31133" y="142976"/>
                  <a:pt x="40187" y="150784"/>
                  <a:pt x="50856" y="150784"/>
                </a:cubicBezTo>
                <a:lnTo>
                  <a:pt x="143010" y="150784"/>
                </a:lnTo>
                <a:cubicBezTo>
                  <a:pt x="153679" y="150784"/>
                  <a:pt x="162733" y="142976"/>
                  <a:pt x="164315" y="132441"/>
                </a:cubicBezTo>
                <a:lnTo>
                  <a:pt x="175287" y="59237"/>
                </a:lnTo>
                <a:cubicBezTo>
                  <a:pt x="182591" y="59102"/>
                  <a:pt x="188481" y="53111"/>
                  <a:pt x="188481" y="45774"/>
                </a:cubicBezTo>
                <a:cubicBezTo>
                  <a:pt x="188481" y="38336"/>
                  <a:pt x="182456" y="32311"/>
                  <a:pt x="175018" y="32311"/>
                </a:cubicBezTo>
                <a:cubicBezTo>
                  <a:pt x="167579" y="32311"/>
                  <a:pt x="161555" y="38336"/>
                  <a:pt x="161555" y="45774"/>
                </a:cubicBezTo>
                <a:cubicBezTo>
                  <a:pt x="161555" y="48601"/>
                  <a:pt x="162430" y="51260"/>
                  <a:pt x="163944" y="53414"/>
                </a:cubicBezTo>
                <a:lnTo>
                  <a:pt x="143952" y="68425"/>
                </a:lnTo>
                <a:cubicBezTo>
                  <a:pt x="138937" y="72195"/>
                  <a:pt x="131768" y="70882"/>
                  <a:pt x="128402" y="65598"/>
                </a:cubicBezTo>
                <a:lnTo>
                  <a:pt x="105347" y="29349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67" name="Text 65"/>
          <p:cNvSpPr/>
          <p:nvPr/>
        </p:nvSpPr>
        <p:spPr>
          <a:xfrm>
            <a:off x="8858288" y="3204691"/>
            <a:ext cx="1008102" cy="241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增值服务付费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594460" y="3538798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9" name="Text 67"/>
          <p:cNvSpPr/>
          <p:nvPr/>
        </p:nvSpPr>
        <p:spPr>
          <a:xfrm>
            <a:off x="8743855" y="3514860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批量数据导出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594460" y="3745530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1" name="Text 69"/>
          <p:cNvSpPr/>
          <p:nvPr/>
        </p:nvSpPr>
        <p:spPr>
          <a:xfrm>
            <a:off x="8743855" y="3721591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区域病害统计分析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594460" y="3952252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3" name="Text 71"/>
          <p:cNvSpPr/>
          <p:nvPr/>
        </p:nvSpPr>
        <p:spPr>
          <a:xfrm>
            <a:off x="8743855" y="3928322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定制化防控方案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594460" y="4158984"/>
            <a:ext cx="105549" cy="120628"/>
          </a:xfrm>
          <a:custGeom>
            <a:avLst/>
            <a:gdLst/>
            <a:ahLst/>
            <a:cxnLst/>
            <a:rect l="l" t="t" r="r" b="b"/>
            <a:pathLst>
              <a:path w="105549" h="120628">
                <a:moveTo>
                  <a:pt x="102439" y="16516"/>
                </a:moveTo>
                <a:cubicBezTo>
                  <a:pt x="105808" y="18966"/>
                  <a:pt x="106562" y="23678"/>
                  <a:pt x="104112" y="27047"/>
                </a:cubicBezTo>
                <a:lnTo>
                  <a:pt x="43798" y="109978"/>
                </a:lnTo>
                <a:cubicBezTo>
                  <a:pt x="42502" y="111769"/>
                  <a:pt x="40500" y="112876"/>
                  <a:pt x="38285" y="113065"/>
                </a:cubicBezTo>
                <a:cubicBezTo>
                  <a:pt x="36070" y="113253"/>
                  <a:pt x="33927" y="112429"/>
                  <a:pt x="32372" y="110874"/>
                </a:cubicBezTo>
                <a:lnTo>
                  <a:pt x="2215" y="80717"/>
                </a:lnTo>
                <a:cubicBezTo>
                  <a:pt x="-730" y="77772"/>
                  <a:pt x="-730" y="72989"/>
                  <a:pt x="2215" y="70044"/>
                </a:cubicBezTo>
                <a:cubicBezTo>
                  <a:pt x="5160" y="67099"/>
                  <a:pt x="9942" y="67099"/>
                  <a:pt x="12887" y="70044"/>
                </a:cubicBezTo>
                <a:lnTo>
                  <a:pt x="36801" y="93958"/>
                </a:lnTo>
                <a:lnTo>
                  <a:pt x="91931" y="18165"/>
                </a:lnTo>
                <a:cubicBezTo>
                  <a:pt x="94382" y="14796"/>
                  <a:pt x="99094" y="14042"/>
                  <a:pt x="102463" y="1649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5" name="Text 73"/>
          <p:cNvSpPr/>
          <p:nvPr/>
        </p:nvSpPr>
        <p:spPr>
          <a:xfrm>
            <a:off x="8743855" y="4135053"/>
            <a:ext cx="2819981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后端接口对接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229421" y="4824278"/>
            <a:ext cx="3618827" cy="2033436"/>
          </a:xfrm>
          <a:custGeom>
            <a:avLst/>
            <a:gdLst/>
            <a:ahLst/>
            <a:cxnLst/>
            <a:rect l="l" t="t" r="r" b="b"/>
            <a:pathLst>
              <a:path w="3618827" h="2033436">
                <a:moveTo>
                  <a:pt x="103400" y="0"/>
                </a:moveTo>
                <a:lnTo>
                  <a:pt x="3515427" y="0"/>
                </a:lnTo>
                <a:cubicBezTo>
                  <a:pt x="3572533" y="0"/>
                  <a:pt x="3618827" y="46294"/>
                  <a:pt x="3618827" y="103400"/>
                </a:cubicBezTo>
                <a:lnTo>
                  <a:pt x="3618827" y="1930036"/>
                </a:lnTo>
                <a:cubicBezTo>
                  <a:pt x="3618827" y="1987142"/>
                  <a:pt x="3572533" y="2033436"/>
                  <a:pt x="3515427" y="2033436"/>
                </a:cubicBezTo>
                <a:lnTo>
                  <a:pt x="103400" y="2033436"/>
                </a:lnTo>
                <a:cubicBezTo>
                  <a:pt x="46294" y="2033436"/>
                  <a:pt x="0" y="1987142"/>
                  <a:pt x="0" y="1930036"/>
                </a:cubicBezTo>
                <a:lnTo>
                  <a:pt x="0" y="103400"/>
                </a:lnTo>
                <a:cubicBezTo>
                  <a:pt x="0" y="46332"/>
                  <a:pt x="46332" y="0"/>
                  <a:pt x="1034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1698" dist="3446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8443691" y="5074090"/>
            <a:ext cx="174479" cy="155093"/>
          </a:xfrm>
          <a:custGeom>
            <a:avLst/>
            <a:gdLst/>
            <a:ahLst/>
            <a:cxnLst/>
            <a:rect l="l" t="t" r="r" b="b"/>
            <a:pathLst>
              <a:path w="174479" h="155093">
                <a:moveTo>
                  <a:pt x="81454" y="25808"/>
                </a:moveTo>
                <a:lnTo>
                  <a:pt x="46134" y="65066"/>
                </a:lnTo>
                <a:cubicBezTo>
                  <a:pt x="44741" y="66611"/>
                  <a:pt x="44801" y="69004"/>
                  <a:pt x="46285" y="70488"/>
                </a:cubicBezTo>
                <a:cubicBezTo>
                  <a:pt x="55524" y="79727"/>
                  <a:pt x="70519" y="79727"/>
                  <a:pt x="79758" y="70488"/>
                </a:cubicBezTo>
                <a:lnTo>
                  <a:pt x="89390" y="60856"/>
                </a:lnTo>
                <a:cubicBezTo>
                  <a:pt x="90663" y="59583"/>
                  <a:pt x="92268" y="58887"/>
                  <a:pt x="93904" y="58766"/>
                </a:cubicBezTo>
                <a:cubicBezTo>
                  <a:pt x="95964" y="58584"/>
                  <a:pt x="98084" y="59281"/>
                  <a:pt x="99659" y="60856"/>
                </a:cubicBezTo>
                <a:lnTo>
                  <a:pt x="153154" y="113896"/>
                </a:lnTo>
                <a:lnTo>
                  <a:pt x="174479" y="96933"/>
                </a:lnTo>
                <a:lnTo>
                  <a:pt x="174479" y="9693"/>
                </a:lnTo>
                <a:lnTo>
                  <a:pt x="140553" y="29080"/>
                </a:lnTo>
                <a:lnTo>
                  <a:pt x="133343" y="24264"/>
                </a:lnTo>
                <a:cubicBezTo>
                  <a:pt x="128557" y="21083"/>
                  <a:pt x="122953" y="19387"/>
                  <a:pt x="117198" y="19387"/>
                </a:cubicBezTo>
                <a:lnTo>
                  <a:pt x="95873" y="19387"/>
                </a:lnTo>
                <a:cubicBezTo>
                  <a:pt x="95539" y="19387"/>
                  <a:pt x="95176" y="19387"/>
                  <a:pt x="94843" y="19417"/>
                </a:cubicBezTo>
                <a:cubicBezTo>
                  <a:pt x="89723" y="19689"/>
                  <a:pt x="84907" y="21992"/>
                  <a:pt x="81454" y="25808"/>
                </a:cubicBezTo>
                <a:close/>
                <a:moveTo>
                  <a:pt x="35320" y="55343"/>
                </a:moveTo>
                <a:lnTo>
                  <a:pt x="67671" y="19387"/>
                </a:lnTo>
                <a:lnTo>
                  <a:pt x="55676" y="19387"/>
                </a:lnTo>
                <a:cubicBezTo>
                  <a:pt x="47951" y="19387"/>
                  <a:pt x="40560" y="22446"/>
                  <a:pt x="35108" y="27898"/>
                </a:cubicBezTo>
                <a:lnTo>
                  <a:pt x="33927" y="29080"/>
                </a:lnTo>
                <a:lnTo>
                  <a:pt x="0" y="9693"/>
                </a:lnTo>
                <a:lnTo>
                  <a:pt x="0" y="96933"/>
                </a:lnTo>
                <a:lnTo>
                  <a:pt x="47376" y="136403"/>
                </a:lnTo>
                <a:cubicBezTo>
                  <a:pt x="54343" y="142219"/>
                  <a:pt x="63128" y="145399"/>
                  <a:pt x="72185" y="145399"/>
                </a:cubicBezTo>
                <a:lnTo>
                  <a:pt x="76940" y="145399"/>
                </a:lnTo>
                <a:lnTo>
                  <a:pt x="74820" y="143279"/>
                </a:lnTo>
                <a:cubicBezTo>
                  <a:pt x="71973" y="140431"/>
                  <a:pt x="71973" y="135827"/>
                  <a:pt x="74820" y="133010"/>
                </a:cubicBezTo>
                <a:cubicBezTo>
                  <a:pt x="77667" y="130193"/>
                  <a:pt x="82272" y="130163"/>
                  <a:pt x="85089" y="133010"/>
                </a:cubicBezTo>
                <a:lnTo>
                  <a:pt x="97508" y="145430"/>
                </a:lnTo>
                <a:lnTo>
                  <a:pt x="100235" y="145430"/>
                </a:lnTo>
                <a:cubicBezTo>
                  <a:pt x="106020" y="145430"/>
                  <a:pt x="111685" y="144127"/>
                  <a:pt x="116834" y="141704"/>
                </a:cubicBezTo>
                <a:lnTo>
                  <a:pt x="108747" y="133586"/>
                </a:lnTo>
                <a:cubicBezTo>
                  <a:pt x="105899" y="130738"/>
                  <a:pt x="105899" y="126134"/>
                  <a:pt x="108747" y="123317"/>
                </a:cubicBezTo>
                <a:cubicBezTo>
                  <a:pt x="111594" y="120500"/>
                  <a:pt x="116198" y="120469"/>
                  <a:pt x="119015" y="123317"/>
                </a:cubicBezTo>
                <a:lnTo>
                  <a:pt x="128709" y="133010"/>
                </a:lnTo>
                <a:lnTo>
                  <a:pt x="134010" y="127709"/>
                </a:lnTo>
                <a:cubicBezTo>
                  <a:pt x="136706" y="125013"/>
                  <a:pt x="137493" y="121105"/>
                  <a:pt x="136312" y="117683"/>
                </a:cubicBezTo>
                <a:lnTo>
                  <a:pt x="94540" y="76244"/>
                </a:lnTo>
                <a:lnTo>
                  <a:pt x="90026" y="80757"/>
                </a:lnTo>
                <a:cubicBezTo>
                  <a:pt x="75093" y="95691"/>
                  <a:pt x="50920" y="95691"/>
                  <a:pt x="35986" y="80757"/>
                </a:cubicBezTo>
                <a:cubicBezTo>
                  <a:pt x="29019" y="73790"/>
                  <a:pt x="28747" y="62613"/>
                  <a:pt x="35320" y="55312"/>
                </a:cubicBezTo>
                <a:close/>
              </a:path>
            </a:pathLst>
          </a:custGeom>
          <a:solidFill>
            <a:srgbClr val="2E7D32"/>
          </a:solidFill>
        </p:spPr>
      </p:sp>
      <p:sp>
        <p:nvSpPr>
          <p:cNvPr id="78" name="Text 76"/>
          <p:cNvSpPr/>
          <p:nvPr/>
        </p:nvSpPr>
        <p:spPr>
          <a:xfrm>
            <a:off x="8625709" y="5031009"/>
            <a:ext cx="3093235" cy="241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0" b="1" dirty="0">
                <a:solidFill>
                  <a:srgbClr val="21252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政企合作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436151" y="5410141"/>
            <a:ext cx="3274177" cy="4480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5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与地方农业管理部门、农业技术推广中心合作，定制后端数据对接模块，实现区域病害数据互通。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453384" y="6013052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35329" y="75015"/>
                </a:moveTo>
                <a:cubicBezTo>
                  <a:pt x="138695" y="71650"/>
                  <a:pt x="138695" y="66184"/>
                  <a:pt x="135329" y="62818"/>
                </a:cubicBezTo>
                <a:lnTo>
                  <a:pt x="92248" y="19737"/>
                </a:lnTo>
                <a:cubicBezTo>
                  <a:pt x="88882" y="16371"/>
                  <a:pt x="83416" y="16371"/>
                  <a:pt x="80050" y="19737"/>
                </a:cubicBezTo>
                <a:cubicBezTo>
                  <a:pt x="76685" y="23102"/>
                  <a:pt x="76685" y="28568"/>
                  <a:pt x="80050" y="31934"/>
                </a:cubicBezTo>
                <a:lnTo>
                  <a:pt x="108430" y="60314"/>
                </a:lnTo>
                <a:lnTo>
                  <a:pt x="8616" y="60314"/>
                </a:lnTo>
                <a:cubicBezTo>
                  <a:pt x="3850" y="60314"/>
                  <a:pt x="0" y="64164"/>
                  <a:pt x="0" y="68930"/>
                </a:cubicBezTo>
                <a:cubicBezTo>
                  <a:pt x="0" y="73696"/>
                  <a:pt x="3850" y="77546"/>
                  <a:pt x="8616" y="77546"/>
                </a:cubicBezTo>
                <a:lnTo>
                  <a:pt x="108430" y="77546"/>
                </a:lnTo>
                <a:lnTo>
                  <a:pt x="80050" y="105926"/>
                </a:lnTo>
                <a:cubicBezTo>
                  <a:pt x="76685" y="109292"/>
                  <a:pt x="76685" y="114758"/>
                  <a:pt x="80050" y="118123"/>
                </a:cubicBezTo>
                <a:cubicBezTo>
                  <a:pt x="83416" y="121489"/>
                  <a:pt x="88882" y="121489"/>
                  <a:pt x="92248" y="118123"/>
                </a:cubicBezTo>
                <a:lnTo>
                  <a:pt x="135329" y="75042"/>
                </a:lnTo>
                <a:close/>
              </a:path>
            </a:pathLst>
          </a:custGeom>
          <a:solidFill>
            <a:srgbClr val="2E7D32"/>
          </a:solidFill>
        </p:spPr>
      </p:sp>
      <p:sp>
        <p:nvSpPr>
          <p:cNvPr id="81" name="Text 79"/>
          <p:cNvSpPr/>
          <p:nvPr/>
        </p:nvSpPr>
        <p:spPr>
          <a:xfrm>
            <a:off x="8677361" y="5995853"/>
            <a:ext cx="1387217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为政府部门提供决策支撑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453384" y="6254265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35329" y="75015"/>
                </a:moveTo>
                <a:cubicBezTo>
                  <a:pt x="138695" y="71650"/>
                  <a:pt x="138695" y="66184"/>
                  <a:pt x="135329" y="62818"/>
                </a:cubicBezTo>
                <a:lnTo>
                  <a:pt x="92248" y="19737"/>
                </a:lnTo>
                <a:cubicBezTo>
                  <a:pt x="88882" y="16371"/>
                  <a:pt x="83416" y="16371"/>
                  <a:pt x="80050" y="19737"/>
                </a:cubicBezTo>
                <a:cubicBezTo>
                  <a:pt x="76685" y="23102"/>
                  <a:pt x="76685" y="28568"/>
                  <a:pt x="80050" y="31934"/>
                </a:cubicBezTo>
                <a:lnTo>
                  <a:pt x="108430" y="60314"/>
                </a:lnTo>
                <a:lnTo>
                  <a:pt x="8616" y="60314"/>
                </a:lnTo>
                <a:cubicBezTo>
                  <a:pt x="3850" y="60314"/>
                  <a:pt x="0" y="64164"/>
                  <a:pt x="0" y="68930"/>
                </a:cubicBezTo>
                <a:cubicBezTo>
                  <a:pt x="0" y="73696"/>
                  <a:pt x="3850" y="77546"/>
                  <a:pt x="8616" y="77546"/>
                </a:cubicBezTo>
                <a:lnTo>
                  <a:pt x="108430" y="77546"/>
                </a:lnTo>
                <a:lnTo>
                  <a:pt x="80050" y="105926"/>
                </a:lnTo>
                <a:cubicBezTo>
                  <a:pt x="76685" y="109292"/>
                  <a:pt x="76685" y="114758"/>
                  <a:pt x="80050" y="118123"/>
                </a:cubicBezTo>
                <a:cubicBezTo>
                  <a:pt x="83416" y="121489"/>
                  <a:pt x="88882" y="121489"/>
                  <a:pt x="92248" y="118123"/>
                </a:cubicBezTo>
                <a:lnTo>
                  <a:pt x="135329" y="75042"/>
                </a:lnTo>
                <a:close/>
              </a:path>
            </a:pathLst>
          </a:custGeom>
          <a:solidFill>
            <a:srgbClr val="2E7D32"/>
          </a:solidFill>
        </p:spPr>
      </p:sp>
      <p:sp>
        <p:nvSpPr>
          <p:cNvPr id="83" name="Text 81"/>
          <p:cNvSpPr/>
          <p:nvPr/>
        </p:nvSpPr>
        <p:spPr>
          <a:xfrm>
            <a:off x="8677361" y="6237058"/>
            <a:ext cx="1025334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拓展项目推广渠道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8453384" y="6495469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35329" y="75015"/>
                </a:moveTo>
                <a:cubicBezTo>
                  <a:pt x="138695" y="71650"/>
                  <a:pt x="138695" y="66184"/>
                  <a:pt x="135329" y="62818"/>
                </a:cubicBezTo>
                <a:lnTo>
                  <a:pt x="92248" y="19737"/>
                </a:lnTo>
                <a:cubicBezTo>
                  <a:pt x="88882" y="16371"/>
                  <a:pt x="83416" y="16371"/>
                  <a:pt x="80050" y="19737"/>
                </a:cubicBezTo>
                <a:cubicBezTo>
                  <a:pt x="76685" y="23102"/>
                  <a:pt x="76685" y="28568"/>
                  <a:pt x="80050" y="31934"/>
                </a:cubicBezTo>
                <a:lnTo>
                  <a:pt x="108430" y="60314"/>
                </a:lnTo>
                <a:lnTo>
                  <a:pt x="8616" y="60314"/>
                </a:lnTo>
                <a:cubicBezTo>
                  <a:pt x="3850" y="60314"/>
                  <a:pt x="0" y="64164"/>
                  <a:pt x="0" y="68930"/>
                </a:cubicBezTo>
                <a:cubicBezTo>
                  <a:pt x="0" y="73696"/>
                  <a:pt x="3850" y="77546"/>
                  <a:pt x="8616" y="77546"/>
                </a:cubicBezTo>
                <a:lnTo>
                  <a:pt x="108430" y="77546"/>
                </a:lnTo>
                <a:lnTo>
                  <a:pt x="80050" y="105926"/>
                </a:lnTo>
                <a:cubicBezTo>
                  <a:pt x="76685" y="109292"/>
                  <a:pt x="76685" y="114758"/>
                  <a:pt x="80050" y="118123"/>
                </a:cubicBezTo>
                <a:cubicBezTo>
                  <a:pt x="83416" y="121489"/>
                  <a:pt x="88882" y="121489"/>
                  <a:pt x="92248" y="118123"/>
                </a:cubicBezTo>
                <a:lnTo>
                  <a:pt x="135329" y="75042"/>
                </a:lnTo>
                <a:close/>
              </a:path>
            </a:pathLst>
          </a:custGeom>
          <a:solidFill>
            <a:srgbClr val="2E7D32"/>
          </a:solidFill>
        </p:spPr>
      </p:sp>
      <p:sp>
        <p:nvSpPr>
          <p:cNvPr id="85" name="Text 83"/>
          <p:cNvSpPr/>
          <p:nvPr/>
        </p:nvSpPr>
        <p:spPr>
          <a:xfrm>
            <a:off x="8677361" y="6478271"/>
            <a:ext cx="784079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212529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降低推广成本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17170" y="132715"/>
            <a:ext cx="6096000" cy="48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545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  <a:sym typeface="+mn-ea"/>
              </a:rPr>
              <a:t>团队</a:t>
            </a:r>
            <a:r>
              <a:rPr lang="zh-CN" altLang="en-US" sz="2545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  <a:sym typeface="+mn-ea"/>
              </a:rPr>
              <a:t>人员</a:t>
            </a:r>
            <a:r>
              <a:rPr lang="zh-CN" altLang="en-US" sz="2545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  <a:sym typeface="+mn-ea"/>
              </a:rPr>
              <a:t>分配</a:t>
            </a:r>
            <a:endParaRPr lang="zh-CN" altLang="en-US" sz="2545" b="1" dirty="0">
              <a:solidFill>
                <a:srgbClr val="2A574A"/>
              </a:solidFill>
              <a:latin typeface="Alimama ShuHeiTi" pitchFamily="34" charset="-122"/>
              <a:ea typeface="Alimama ShuHeiTi" pitchFamily="34" charset="-122"/>
              <a:cs typeface="Alimama ShuHeiTi" pitchFamily="34" charset="-12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59965" y="680085"/>
            <a:ext cx="1290955" cy="18091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95400" y="2929255"/>
            <a:ext cx="3437255" cy="233807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1600"/>
              <a:t>王鹏飞，</a:t>
            </a:r>
            <a:r>
              <a:rPr lang="en-US" altLang="zh-CN" sz="1600"/>
              <a:t>23</a:t>
            </a:r>
            <a:r>
              <a:rPr lang="zh-CN" altLang="en-US" sz="1600"/>
              <a:t>物联网专业，项目负责人，</a:t>
            </a:r>
            <a:r>
              <a:rPr lang="en-US" altLang="zh-CN" sz="1600"/>
              <a:t>23 </a:t>
            </a:r>
            <a:r>
              <a:rPr lang="zh-CN" altLang="en-US" sz="1600"/>
              <a:t>级物联网专业，统筹项目整体推进，协调各岗位工作，对接政企合作、负责项目推广与用户对接，把控项目进度和质量</a:t>
            </a: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参与多个技术项目，具备良好的团队协作意识。主要负责数据处理与分析，擅长编写代码与优化算法，同时关注计算机视觉和人机交互技术的发展，积极推动团队创新与实践。</a:t>
            </a:r>
            <a:endParaRPr lang="zh-CN" altLang="en-US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695" y="582930"/>
            <a:ext cx="1386840" cy="19062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565140" y="3062605"/>
            <a:ext cx="3587750" cy="207137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1600"/>
              <a:t>鲍蕴航，</a:t>
            </a:r>
            <a:r>
              <a:rPr lang="en-US" altLang="zh-CN" sz="1600"/>
              <a:t>23</a:t>
            </a:r>
            <a:r>
              <a:rPr lang="zh-CN" altLang="en-US" sz="1600"/>
              <a:t>物联网专业，负责前端程序开发与页面视觉实现，完成界面设计落地、多终端兼容适配及用户交互体验优化，高效对接后端接口实现前后端数据联调，保障前端功能稳定、界面美观与操作流畅。</a:t>
            </a:r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2740" y="248920"/>
            <a:ext cx="6096000" cy="48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545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  <a:sym typeface="+mn-ea"/>
              </a:rPr>
              <a:t>团队</a:t>
            </a:r>
            <a:r>
              <a:rPr lang="zh-CN" altLang="en-US" sz="2545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  <a:sym typeface="+mn-ea"/>
              </a:rPr>
              <a:t>人员分配</a:t>
            </a:r>
            <a:endParaRPr lang="zh-CN" altLang="en-US" sz="2545" b="1" dirty="0">
              <a:solidFill>
                <a:srgbClr val="2A574A"/>
              </a:solidFill>
              <a:latin typeface="Alimama ShuHeiTi" pitchFamily="34" charset="-122"/>
              <a:ea typeface="Alimama ShuHeiTi" pitchFamily="34" charset="-122"/>
              <a:cs typeface="Alimama ShuHeiTi" pitchFamily="34" charset="-12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110230" y="248920"/>
            <a:ext cx="1442085" cy="192341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332990" y="2559050"/>
            <a:ext cx="299593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果家弘，</a:t>
            </a:r>
            <a:r>
              <a:rPr lang="en-US" altLang="zh-CN"/>
              <a:t>24</a:t>
            </a:r>
            <a:r>
              <a:rPr lang="zh-CN" altLang="en-US"/>
              <a:t>级物联网工程专业，具备良好的团队协作意识与工程实践能力。主要统筹项目的技术落地与资源对接，同时协助班级日常管理与学风建设，在公益服务与专业实践中践行责任与创新。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995795" y="248920"/>
            <a:ext cx="1441450" cy="192341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6428740" y="2625090"/>
            <a:ext cx="362204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王希，</a:t>
            </a:r>
            <a:r>
              <a:rPr lang="en-US" altLang="zh-CN"/>
              <a:t>24</a:t>
            </a:r>
            <a:r>
              <a:rPr lang="zh-CN" altLang="en-US"/>
              <a:t>级物联网工程专业，现任院学生会综合协调部部长，同时任职学习委员和环保协会社团副社长，曾荣获校级优秀学生等荣誉，具备良好的团队协作精神与责任意识，主要负责统筹规划各类活动，协调各部门成员推进活动开展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332990" y="5406390"/>
            <a:ext cx="7777480" cy="645160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800"/>
              <a:t>谢毅，</a:t>
            </a:r>
            <a:r>
              <a:rPr lang="en-US" altLang="zh-CN" sz="1800"/>
              <a:t>23</a:t>
            </a:r>
            <a:r>
              <a:rPr lang="zh-CN" altLang="en-US" sz="1800"/>
              <a:t>物联网工程专业负责后端程序开发、接口搭建、数据存储、接口对接（AI模型、天气、位置），保障程序稳定运行</a:t>
            </a:r>
            <a:endParaRPr lang="zh-CN" alt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三年发展规划与财务计划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07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4" name="Shape 2"/>
          <p:cNvSpPr/>
          <p:nvPr/>
        </p:nvSpPr>
        <p:spPr>
          <a:xfrm>
            <a:off x="381000" y="1047007"/>
            <a:ext cx="3705225" cy="3142721"/>
          </a:xfrm>
          <a:custGeom>
            <a:avLst/>
            <a:gdLst/>
            <a:ahLst/>
            <a:cxnLst/>
            <a:rect l="l" t="t" r="r" b="b"/>
            <a:pathLst>
              <a:path w="3705225" h="3142721">
                <a:moveTo>
                  <a:pt x="37042" y="0"/>
                </a:moveTo>
                <a:lnTo>
                  <a:pt x="3668183" y="0"/>
                </a:lnTo>
                <a:cubicBezTo>
                  <a:pt x="3688641" y="0"/>
                  <a:pt x="3705225" y="16584"/>
                  <a:pt x="3705225" y="37042"/>
                </a:cubicBezTo>
                <a:lnTo>
                  <a:pt x="3705225" y="3028420"/>
                </a:lnTo>
                <a:cubicBezTo>
                  <a:pt x="3705225" y="3091547"/>
                  <a:pt x="3654051" y="3142721"/>
                  <a:pt x="3590924" y="3142721"/>
                </a:cubicBezTo>
                <a:lnTo>
                  <a:pt x="114301" y="3142721"/>
                </a:lnTo>
                <a:cubicBezTo>
                  <a:pt x="51174" y="3142721"/>
                  <a:pt x="0" y="3091547"/>
                  <a:pt x="0" y="3028420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1000" y="1047007"/>
            <a:ext cx="3705225" cy="37042"/>
          </a:xfrm>
          <a:custGeom>
            <a:avLst/>
            <a:gdLst/>
            <a:ahLst/>
            <a:cxnLst/>
            <a:rect l="l" t="t" r="r" b="b"/>
            <a:pathLst>
              <a:path w="3705225" h="37042">
                <a:moveTo>
                  <a:pt x="37042" y="0"/>
                </a:moveTo>
                <a:lnTo>
                  <a:pt x="3668183" y="0"/>
                </a:lnTo>
                <a:cubicBezTo>
                  <a:pt x="3688641" y="0"/>
                  <a:pt x="3705225" y="16584"/>
                  <a:pt x="3705225" y="37042"/>
                </a:cubicBezTo>
                <a:lnTo>
                  <a:pt x="3705225" y="37042"/>
                </a:lnTo>
                <a:lnTo>
                  <a:pt x="0" y="37042"/>
                </a:ln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6" name="Shape 4"/>
          <p:cNvSpPr/>
          <p:nvPr/>
        </p:nvSpPr>
        <p:spPr>
          <a:xfrm>
            <a:off x="571500" y="125602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7" name="Text 5"/>
          <p:cNvSpPr/>
          <p:nvPr/>
        </p:nvSpPr>
        <p:spPr>
          <a:xfrm>
            <a:off x="523875" y="1256026"/>
            <a:ext cx="62865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Y1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150" y="1294144"/>
            <a:ext cx="666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第一年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150" y="1560788"/>
            <a:ext cx="638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2026年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1941788"/>
            <a:ext cx="3400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产品研发与试点推广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122" y="226549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12" name="Text 10"/>
          <p:cNvSpPr/>
          <p:nvPr/>
        </p:nvSpPr>
        <p:spPr>
          <a:xfrm>
            <a:off x="814255" y="2246477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完成核心程序开发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122" y="24940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14" name="Text 12"/>
          <p:cNvSpPr/>
          <p:nvPr/>
        </p:nvSpPr>
        <p:spPr>
          <a:xfrm>
            <a:off x="814255" y="2475012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上线初始版本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122" y="272255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16" name="Text 14"/>
          <p:cNvSpPr/>
          <p:nvPr/>
        </p:nvSpPr>
        <p:spPr>
          <a:xfrm>
            <a:off x="814255" y="2703547"/>
            <a:ext cx="1057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服务500+种植户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3046428"/>
            <a:ext cx="1628775" cy="571500"/>
          </a:xfrm>
          <a:custGeom>
            <a:avLst/>
            <a:gdLst/>
            <a:ahLst/>
            <a:cxnLst/>
            <a:rect l="l" t="t" r="r" b="b"/>
            <a:pathLst>
              <a:path w="1628775" h="571500">
                <a:moveTo>
                  <a:pt x="76198" y="0"/>
                </a:moveTo>
                <a:lnTo>
                  <a:pt x="1552577" y="0"/>
                </a:lnTo>
                <a:cubicBezTo>
                  <a:pt x="1594660" y="0"/>
                  <a:pt x="1628775" y="34115"/>
                  <a:pt x="1628775" y="76198"/>
                </a:cubicBezTo>
                <a:lnTo>
                  <a:pt x="1628775" y="495302"/>
                </a:lnTo>
                <a:cubicBezTo>
                  <a:pt x="1628775" y="537385"/>
                  <a:pt x="1594660" y="571500"/>
                  <a:pt x="15525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2A574A">
              <a:alpha val="5098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600025" y="3122581"/>
            <a:ext cx="1571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50万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9075" y="3389226"/>
            <a:ext cx="15335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投入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273267" y="3046428"/>
            <a:ext cx="1628775" cy="571500"/>
          </a:xfrm>
          <a:custGeom>
            <a:avLst/>
            <a:gdLst/>
            <a:ahLst/>
            <a:cxnLst/>
            <a:rect l="l" t="t" r="r" b="b"/>
            <a:pathLst>
              <a:path w="1628775" h="571500">
                <a:moveTo>
                  <a:pt x="76198" y="0"/>
                </a:moveTo>
                <a:lnTo>
                  <a:pt x="1552577" y="0"/>
                </a:lnTo>
                <a:cubicBezTo>
                  <a:pt x="1594660" y="0"/>
                  <a:pt x="1628775" y="34115"/>
                  <a:pt x="1628775" y="76198"/>
                </a:cubicBezTo>
                <a:lnTo>
                  <a:pt x="1628775" y="495302"/>
                </a:lnTo>
                <a:cubicBezTo>
                  <a:pt x="1628775" y="537385"/>
                  <a:pt x="1594660" y="571500"/>
                  <a:pt x="15525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2A574A">
              <a:alpha val="5098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2301792" y="3122581"/>
            <a:ext cx="1571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8万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320842" y="3389226"/>
            <a:ext cx="15335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4350" y="3693830"/>
            <a:ext cx="34385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05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净亏损42万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41767" y="1047007"/>
            <a:ext cx="3705225" cy="3142721"/>
          </a:xfrm>
          <a:custGeom>
            <a:avLst/>
            <a:gdLst/>
            <a:ahLst/>
            <a:cxnLst/>
            <a:rect l="l" t="t" r="r" b="b"/>
            <a:pathLst>
              <a:path w="3705225" h="3142721">
                <a:moveTo>
                  <a:pt x="37042" y="0"/>
                </a:moveTo>
                <a:lnTo>
                  <a:pt x="3668183" y="0"/>
                </a:lnTo>
                <a:cubicBezTo>
                  <a:pt x="3688641" y="0"/>
                  <a:pt x="3705225" y="16584"/>
                  <a:pt x="3705225" y="37042"/>
                </a:cubicBezTo>
                <a:lnTo>
                  <a:pt x="3705225" y="3028420"/>
                </a:lnTo>
                <a:cubicBezTo>
                  <a:pt x="3705225" y="3091547"/>
                  <a:pt x="3654051" y="3142721"/>
                  <a:pt x="3590924" y="3142721"/>
                </a:cubicBezTo>
                <a:lnTo>
                  <a:pt x="114301" y="3142721"/>
                </a:lnTo>
                <a:cubicBezTo>
                  <a:pt x="51174" y="3142721"/>
                  <a:pt x="0" y="3091547"/>
                  <a:pt x="0" y="3028420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41767" y="1047007"/>
            <a:ext cx="3705225" cy="37042"/>
          </a:xfrm>
          <a:custGeom>
            <a:avLst/>
            <a:gdLst/>
            <a:ahLst/>
            <a:cxnLst/>
            <a:rect l="l" t="t" r="r" b="b"/>
            <a:pathLst>
              <a:path w="3705225" h="37042">
                <a:moveTo>
                  <a:pt x="37042" y="0"/>
                </a:moveTo>
                <a:lnTo>
                  <a:pt x="3668183" y="0"/>
                </a:lnTo>
                <a:cubicBezTo>
                  <a:pt x="3688641" y="0"/>
                  <a:pt x="3705225" y="16584"/>
                  <a:pt x="3705225" y="37042"/>
                </a:cubicBezTo>
                <a:lnTo>
                  <a:pt x="3705225" y="37042"/>
                </a:lnTo>
                <a:lnTo>
                  <a:pt x="0" y="37042"/>
                </a:ln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26" name="Shape 24"/>
          <p:cNvSpPr/>
          <p:nvPr/>
        </p:nvSpPr>
        <p:spPr>
          <a:xfrm>
            <a:off x="4432267" y="125602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27" name="Text 25"/>
          <p:cNvSpPr/>
          <p:nvPr/>
        </p:nvSpPr>
        <p:spPr>
          <a:xfrm>
            <a:off x="4384642" y="1256026"/>
            <a:ext cx="62865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Y2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79918" y="1294144"/>
            <a:ext cx="666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第二年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79918" y="1560788"/>
            <a:ext cx="638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2027年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32267" y="1941788"/>
            <a:ext cx="3400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市场拓展与盈利提升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54889" y="226549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32" name="Text 30"/>
          <p:cNvSpPr/>
          <p:nvPr/>
        </p:nvSpPr>
        <p:spPr>
          <a:xfrm>
            <a:off x="4675022" y="2246477"/>
            <a:ext cx="857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推出APP版本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54889" y="24940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34" name="Text 32"/>
          <p:cNvSpPr/>
          <p:nvPr/>
        </p:nvSpPr>
        <p:spPr>
          <a:xfrm>
            <a:off x="4675022" y="2475012"/>
            <a:ext cx="1076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覆盖5个重点区域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54889" y="272255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AA39B"/>
          </a:solidFill>
        </p:spPr>
      </p:sp>
      <p:sp>
        <p:nvSpPr>
          <p:cNvPr id="36" name="Text 34"/>
          <p:cNvSpPr/>
          <p:nvPr/>
        </p:nvSpPr>
        <p:spPr>
          <a:xfrm>
            <a:off x="4675022" y="2703547"/>
            <a:ext cx="1114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服务1000+种植户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32267" y="3046428"/>
            <a:ext cx="1628775" cy="571500"/>
          </a:xfrm>
          <a:custGeom>
            <a:avLst/>
            <a:gdLst/>
            <a:ahLst/>
            <a:cxnLst/>
            <a:rect l="l" t="t" r="r" b="b"/>
            <a:pathLst>
              <a:path w="1628775" h="571500">
                <a:moveTo>
                  <a:pt x="76198" y="0"/>
                </a:moveTo>
                <a:lnTo>
                  <a:pt x="1552577" y="0"/>
                </a:lnTo>
                <a:cubicBezTo>
                  <a:pt x="1594660" y="0"/>
                  <a:pt x="1628775" y="34115"/>
                  <a:pt x="1628775" y="76198"/>
                </a:cubicBezTo>
                <a:lnTo>
                  <a:pt x="1628775" y="495302"/>
                </a:lnTo>
                <a:cubicBezTo>
                  <a:pt x="1628775" y="537385"/>
                  <a:pt x="1594660" y="571500"/>
                  <a:pt x="15525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8AA39B">
              <a:alpha val="5098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4460793" y="3122581"/>
            <a:ext cx="1571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8AA39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30万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79843" y="3389226"/>
            <a:ext cx="15335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投入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34034" y="3046428"/>
            <a:ext cx="1628775" cy="571500"/>
          </a:xfrm>
          <a:custGeom>
            <a:avLst/>
            <a:gdLst/>
            <a:ahLst/>
            <a:cxnLst/>
            <a:rect l="l" t="t" r="r" b="b"/>
            <a:pathLst>
              <a:path w="1628775" h="571500">
                <a:moveTo>
                  <a:pt x="76198" y="0"/>
                </a:moveTo>
                <a:lnTo>
                  <a:pt x="1552577" y="0"/>
                </a:lnTo>
                <a:cubicBezTo>
                  <a:pt x="1594660" y="0"/>
                  <a:pt x="1628775" y="34115"/>
                  <a:pt x="1628775" y="76198"/>
                </a:cubicBezTo>
                <a:lnTo>
                  <a:pt x="1628775" y="495302"/>
                </a:lnTo>
                <a:cubicBezTo>
                  <a:pt x="1628775" y="537385"/>
                  <a:pt x="1594660" y="571500"/>
                  <a:pt x="15525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8AA39B">
              <a:alpha val="5098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6162559" y="3122581"/>
            <a:ext cx="1571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8AA39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40万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181609" y="3389226"/>
            <a:ext cx="15335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收入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375117" y="3693830"/>
            <a:ext cx="34385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盈利10万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02535" y="1047007"/>
            <a:ext cx="3705225" cy="3142721"/>
          </a:xfrm>
          <a:custGeom>
            <a:avLst/>
            <a:gdLst/>
            <a:ahLst/>
            <a:cxnLst/>
            <a:rect l="l" t="t" r="r" b="b"/>
            <a:pathLst>
              <a:path w="3705225" h="3142721">
                <a:moveTo>
                  <a:pt x="37042" y="0"/>
                </a:moveTo>
                <a:lnTo>
                  <a:pt x="3668183" y="0"/>
                </a:lnTo>
                <a:cubicBezTo>
                  <a:pt x="3688641" y="0"/>
                  <a:pt x="3705225" y="16584"/>
                  <a:pt x="3705225" y="37042"/>
                </a:cubicBezTo>
                <a:lnTo>
                  <a:pt x="3705225" y="3028420"/>
                </a:lnTo>
                <a:cubicBezTo>
                  <a:pt x="3705225" y="3091547"/>
                  <a:pt x="3654051" y="3142721"/>
                  <a:pt x="3590924" y="3142721"/>
                </a:cubicBezTo>
                <a:lnTo>
                  <a:pt x="114301" y="3142721"/>
                </a:lnTo>
                <a:cubicBezTo>
                  <a:pt x="51174" y="3142721"/>
                  <a:pt x="0" y="3091547"/>
                  <a:pt x="0" y="3028420"/>
                </a:cubicBez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102535" y="1047007"/>
            <a:ext cx="3705225" cy="37042"/>
          </a:xfrm>
          <a:custGeom>
            <a:avLst/>
            <a:gdLst/>
            <a:ahLst/>
            <a:cxnLst/>
            <a:rect l="l" t="t" r="r" b="b"/>
            <a:pathLst>
              <a:path w="3705225" h="37042">
                <a:moveTo>
                  <a:pt x="37042" y="0"/>
                </a:moveTo>
                <a:lnTo>
                  <a:pt x="3668183" y="0"/>
                </a:lnTo>
                <a:cubicBezTo>
                  <a:pt x="3688641" y="0"/>
                  <a:pt x="3705225" y="16584"/>
                  <a:pt x="3705225" y="37042"/>
                </a:cubicBezTo>
                <a:lnTo>
                  <a:pt x="3705225" y="37042"/>
                </a:lnTo>
                <a:lnTo>
                  <a:pt x="0" y="37042"/>
                </a:lnTo>
                <a:lnTo>
                  <a:pt x="0" y="37042"/>
                </a:lnTo>
                <a:cubicBezTo>
                  <a:pt x="0" y="16598"/>
                  <a:pt x="16598" y="0"/>
                  <a:pt x="37042" y="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46" name="Shape 44"/>
          <p:cNvSpPr/>
          <p:nvPr/>
        </p:nvSpPr>
        <p:spPr>
          <a:xfrm>
            <a:off x="8293035" y="125602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47" name="Text 45"/>
          <p:cNvSpPr/>
          <p:nvPr/>
        </p:nvSpPr>
        <p:spPr>
          <a:xfrm>
            <a:off x="8245410" y="1256026"/>
            <a:ext cx="62865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Y3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940685" y="1294144"/>
            <a:ext cx="666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第三年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940685" y="1560788"/>
            <a:ext cx="638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2028年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93035" y="1941788"/>
            <a:ext cx="3400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品牌巩固与生态拓展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15656" y="226549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52" name="Text 50"/>
          <p:cNvSpPr/>
          <p:nvPr/>
        </p:nvSpPr>
        <p:spPr>
          <a:xfrm>
            <a:off x="8535789" y="2246477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拓展其他作物识别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15656" y="24940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54" name="Text 52"/>
          <p:cNvSpPr/>
          <p:nvPr/>
        </p:nvSpPr>
        <p:spPr>
          <a:xfrm>
            <a:off x="8535789" y="2475012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构建防控生态平台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15656" y="272255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56" name="Text 54"/>
          <p:cNvSpPr/>
          <p:nvPr/>
        </p:nvSpPr>
        <p:spPr>
          <a:xfrm>
            <a:off x="8535789" y="2703547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E2D2B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服务2000+种植户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93035" y="3046428"/>
            <a:ext cx="1628775" cy="571500"/>
          </a:xfrm>
          <a:custGeom>
            <a:avLst/>
            <a:gdLst/>
            <a:ahLst/>
            <a:cxnLst/>
            <a:rect l="l" t="t" r="r" b="b"/>
            <a:pathLst>
              <a:path w="1628775" h="571500">
                <a:moveTo>
                  <a:pt x="76198" y="0"/>
                </a:moveTo>
                <a:lnTo>
                  <a:pt x="1552577" y="0"/>
                </a:lnTo>
                <a:cubicBezTo>
                  <a:pt x="1594660" y="0"/>
                  <a:pt x="1628775" y="34115"/>
                  <a:pt x="1628775" y="76198"/>
                </a:cubicBezTo>
                <a:lnTo>
                  <a:pt x="1628775" y="495302"/>
                </a:lnTo>
                <a:cubicBezTo>
                  <a:pt x="1628775" y="537385"/>
                  <a:pt x="1594660" y="571500"/>
                  <a:pt x="15525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D4A056">
              <a:alpha val="5098"/>
            </a:srgbClr>
          </a:solidFill>
        </p:spPr>
      </p:sp>
      <p:sp>
        <p:nvSpPr>
          <p:cNvPr id="58" name="Text 56"/>
          <p:cNvSpPr/>
          <p:nvPr/>
        </p:nvSpPr>
        <p:spPr>
          <a:xfrm>
            <a:off x="8321560" y="3122581"/>
            <a:ext cx="1571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D4A05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40万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340610" y="3389226"/>
            <a:ext cx="15335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投入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994802" y="3046428"/>
            <a:ext cx="1628775" cy="571500"/>
          </a:xfrm>
          <a:custGeom>
            <a:avLst/>
            <a:gdLst/>
            <a:ahLst/>
            <a:cxnLst/>
            <a:rect l="l" t="t" r="r" b="b"/>
            <a:pathLst>
              <a:path w="1628775" h="571500">
                <a:moveTo>
                  <a:pt x="76198" y="0"/>
                </a:moveTo>
                <a:lnTo>
                  <a:pt x="1552577" y="0"/>
                </a:lnTo>
                <a:cubicBezTo>
                  <a:pt x="1594660" y="0"/>
                  <a:pt x="1628775" y="34115"/>
                  <a:pt x="1628775" y="76198"/>
                </a:cubicBezTo>
                <a:lnTo>
                  <a:pt x="1628775" y="495302"/>
                </a:lnTo>
                <a:cubicBezTo>
                  <a:pt x="1628775" y="537385"/>
                  <a:pt x="1594660" y="571500"/>
                  <a:pt x="15525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D4A056">
              <a:alpha val="5098"/>
            </a:srgbClr>
          </a:solidFill>
        </p:spPr>
      </p:sp>
      <p:sp>
        <p:nvSpPr>
          <p:cNvPr id="61" name="Text 59"/>
          <p:cNvSpPr/>
          <p:nvPr/>
        </p:nvSpPr>
        <p:spPr>
          <a:xfrm>
            <a:off x="10023327" y="3122581"/>
            <a:ext cx="1571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D4A05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120万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042377" y="3389226"/>
            <a:ext cx="15335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E2D2B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收入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235885" y="3693830"/>
            <a:ext cx="34385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A574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盈利80万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81000" y="4341484"/>
            <a:ext cx="11430000" cy="2495550"/>
          </a:xfrm>
          <a:custGeom>
            <a:avLst/>
            <a:gdLst/>
            <a:ahLst/>
            <a:cxnLst/>
            <a:rect l="l" t="t" r="r" b="b"/>
            <a:pathLst>
              <a:path w="11430000" h="2495550">
                <a:moveTo>
                  <a:pt x="114296" y="0"/>
                </a:moveTo>
                <a:lnTo>
                  <a:pt x="11315704" y="0"/>
                </a:lnTo>
                <a:cubicBezTo>
                  <a:pt x="11378828" y="0"/>
                  <a:pt x="11430000" y="51172"/>
                  <a:pt x="11430000" y="114296"/>
                </a:cubicBezTo>
                <a:lnTo>
                  <a:pt x="11430000" y="2381254"/>
                </a:lnTo>
                <a:cubicBezTo>
                  <a:pt x="11430000" y="2444378"/>
                  <a:pt x="11378828" y="2495550"/>
                  <a:pt x="11315704" y="2495550"/>
                </a:cubicBezTo>
                <a:lnTo>
                  <a:pt x="114296" y="2495550"/>
                </a:lnTo>
                <a:cubicBezTo>
                  <a:pt x="51172" y="2495550"/>
                  <a:pt x="0" y="2444378"/>
                  <a:pt x="0" y="238125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A574A"/>
          </a:solidFill>
        </p:spPr>
      </p:sp>
      <p:sp>
        <p:nvSpPr>
          <p:cNvPr id="65" name="Shape 63"/>
          <p:cNvSpPr/>
          <p:nvPr/>
        </p:nvSpPr>
        <p:spPr>
          <a:xfrm>
            <a:off x="600075" y="457001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42863"/>
                </a:moveTo>
                <a:lnTo>
                  <a:pt x="57150" y="35719"/>
                </a:lnTo>
                <a:cubicBezTo>
                  <a:pt x="57150" y="15984"/>
                  <a:pt x="95548" y="0"/>
                  <a:pt x="142875" y="0"/>
                </a:cubicBezTo>
                <a:cubicBezTo>
                  <a:pt x="190202" y="0"/>
                  <a:pt x="228600" y="15984"/>
                  <a:pt x="228600" y="35719"/>
                </a:cubicBezTo>
                <a:lnTo>
                  <a:pt x="228600" y="42863"/>
                </a:lnTo>
                <a:cubicBezTo>
                  <a:pt x="228600" y="56525"/>
                  <a:pt x="210160" y="68401"/>
                  <a:pt x="183059" y="74429"/>
                </a:cubicBezTo>
                <a:cubicBezTo>
                  <a:pt x="181987" y="73179"/>
                  <a:pt x="180871" y="71973"/>
                  <a:pt x="179755" y="70857"/>
                </a:cubicBezTo>
                <a:cubicBezTo>
                  <a:pt x="172834" y="64026"/>
                  <a:pt x="163904" y="58847"/>
                  <a:pt x="154573" y="55007"/>
                </a:cubicBezTo>
                <a:cubicBezTo>
                  <a:pt x="135865" y="47193"/>
                  <a:pt x="111487" y="42907"/>
                  <a:pt x="85725" y="42907"/>
                </a:cubicBezTo>
                <a:cubicBezTo>
                  <a:pt x="75947" y="42907"/>
                  <a:pt x="66392" y="43532"/>
                  <a:pt x="57239" y="44738"/>
                </a:cubicBezTo>
                <a:cubicBezTo>
                  <a:pt x="57150" y="44157"/>
                  <a:pt x="57150" y="43532"/>
                  <a:pt x="57150" y="42907"/>
                </a:cubicBezTo>
                <a:close/>
                <a:moveTo>
                  <a:pt x="192881" y="157609"/>
                </a:moveTo>
                <a:lnTo>
                  <a:pt x="192881" y="136981"/>
                </a:lnTo>
                <a:cubicBezTo>
                  <a:pt x="199623" y="135240"/>
                  <a:pt x="205963" y="133186"/>
                  <a:pt x="211723" y="130775"/>
                </a:cubicBezTo>
                <a:cubicBezTo>
                  <a:pt x="217616" y="128320"/>
                  <a:pt x="223376" y="125328"/>
                  <a:pt x="228600" y="121712"/>
                </a:cubicBezTo>
                <a:lnTo>
                  <a:pt x="228600" y="128588"/>
                </a:lnTo>
                <a:cubicBezTo>
                  <a:pt x="228600" y="140553"/>
                  <a:pt x="214536" y="151135"/>
                  <a:pt x="192881" y="157609"/>
                </a:cubicBezTo>
                <a:close/>
                <a:moveTo>
                  <a:pt x="192881" y="114746"/>
                </a:moveTo>
                <a:lnTo>
                  <a:pt x="192881" y="100013"/>
                </a:lnTo>
                <a:cubicBezTo>
                  <a:pt x="192881" y="98003"/>
                  <a:pt x="192703" y="96083"/>
                  <a:pt x="192435" y="94208"/>
                </a:cubicBezTo>
                <a:cubicBezTo>
                  <a:pt x="199355" y="92467"/>
                  <a:pt x="205829" y="90368"/>
                  <a:pt x="211723" y="87868"/>
                </a:cubicBezTo>
                <a:cubicBezTo>
                  <a:pt x="217616" y="85368"/>
                  <a:pt x="223376" y="82421"/>
                  <a:pt x="228600" y="78804"/>
                </a:cubicBezTo>
                <a:lnTo>
                  <a:pt x="228600" y="85680"/>
                </a:lnTo>
                <a:cubicBezTo>
                  <a:pt x="228600" y="97646"/>
                  <a:pt x="214536" y="108228"/>
                  <a:pt x="192881" y="114702"/>
                </a:cubicBezTo>
                <a:close/>
                <a:moveTo>
                  <a:pt x="0" y="107156"/>
                </a:moveTo>
                <a:lnTo>
                  <a:pt x="0" y="100013"/>
                </a:lnTo>
                <a:cubicBezTo>
                  <a:pt x="0" y="80278"/>
                  <a:pt x="38398" y="64294"/>
                  <a:pt x="85725" y="64294"/>
                </a:cubicBezTo>
                <a:cubicBezTo>
                  <a:pt x="133052" y="64294"/>
                  <a:pt x="171450" y="80278"/>
                  <a:pt x="171450" y="100013"/>
                </a:cubicBezTo>
                <a:lnTo>
                  <a:pt x="171450" y="107156"/>
                </a:lnTo>
                <a:cubicBezTo>
                  <a:pt x="171450" y="126891"/>
                  <a:pt x="133052" y="142875"/>
                  <a:pt x="85725" y="142875"/>
                </a:cubicBezTo>
                <a:cubicBezTo>
                  <a:pt x="38398" y="142875"/>
                  <a:pt x="0" y="126891"/>
                  <a:pt x="0" y="107156"/>
                </a:cubicBezTo>
                <a:close/>
                <a:moveTo>
                  <a:pt x="171450" y="150019"/>
                </a:moveTo>
                <a:cubicBezTo>
                  <a:pt x="171450" y="169753"/>
                  <a:pt x="133052" y="185738"/>
                  <a:pt x="85725" y="185738"/>
                </a:cubicBezTo>
                <a:cubicBezTo>
                  <a:pt x="38398" y="185738"/>
                  <a:pt x="0" y="169753"/>
                  <a:pt x="0" y="150019"/>
                </a:cubicBezTo>
                <a:lnTo>
                  <a:pt x="0" y="143143"/>
                </a:lnTo>
                <a:cubicBezTo>
                  <a:pt x="5179" y="146759"/>
                  <a:pt x="10939" y="149706"/>
                  <a:pt x="16877" y="152207"/>
                </a:cubicBezTo>
                <a:cubicBezTo>
                  <a:pt x="35585" y="160020"/>
                  <a:pt x="59963" y="164306"/>
                  <a:pt x="85725" y="164306"/>
                </a:cubicBezTo>
                <a:cubicBezTo>
                  <a:pt x="111487" y="164306"/>
                  <a:pt x="135865" y="159975"/>
                  <a:pt x="154573" y="152207"/>
                </a:cubicBezTo>
                <a:cubicBezTo>
                  <a:pt x="160466" y="149751"/>
                  <a:pt x="166226" y="146759"/>
                  <a:pt x="171450" y="143143"/>
                </a:cubicBezTo>
                <a:lnTo>
                  <a:pt x="171450" y="150019"/>
                </a:lnTo>
                <a:close/>
                <a:moveTo>
                  <a:pt x="171450" y="186005"/>
                </a:moveTo>
                <a:lnTo>
                  <a:pt x="171450" y="192881"/>
                </a:lnTo>
                <a:cubicBezTo>
                  <a:pt x="171450" y="212616"/>
                  <a:pt x="133052" y="228600"/>
                  <a:pt x="85725" y="228600"/>
                </a:cubicBezTo>
                <a:cubicBezTo>
                  <a:pt x="38398" y="228600"/>
                  <a:pt x="0" y="212616"/>
                  <a:pt x="0" y="192881"/>
                </a:cubicBezTo>
                <a:lnTo>
                  <a:pt x="0" y="186005"/>
                </a:lnTo>
                <a:cubicBezTo>
                  <a:pt x="5179" y="189622"/>
                  <a:pt x="10939" y="192569"/>
                  <a:pt x="16877" y="195069"/>
                </a:cubicBezTo>
                <a:cubicBezTo>
                  <a:pt x="35585" y="202883"/>
                  <a:pt x="59963" y="207169"/>
                  <a:pt x="85725" y="207169"/>
                </a:cubicBezTo>
                <a:cubicBezTo>
                  <a:pt x="111487" y="207169"/>
                  <a:pt x="135865" y="202838"/>
                  <a:pt x="154573" y="195069"/>
                </a:cubicBezTo>
                <a:cubicBezTo>
                  <a:pt x="160466" y="192613"/>
                  <a:pt x="166226" y="189622"/>
                  <a:pt x="171450" y="186005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66" name="Text 64"/>
          <p:cNvSpPr/>
          <p:nvPr/>
        </p:nvSpPr>
        <p:spPr>
          <a:xfrm>
            <a:off x="971434" y="4531984"/>
            <a:ext cx="289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融资计划（总投资50万元）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71500" y="4989128"/>
            <a:ext cx="2647950" cy="1657350"/>
          </a:xfrm>
          <a:custGeom>
            <a:avLst/>
            <a:gdLst/>
            <a:ahLst/>
            <a:cxnLst/>
            <a:rect l="l" t="t" r="r" b="b"/>
            <a:pathLst>
              <a:path w="2647950" h="1657350">
                <a:moveTo>
                  <a:pt x="114307" y="0"/>
                </a:moveTo>
                <a:lnTo>
                  <a:pt x="2533643" y="0"/>
                </a:lnTo>
                <a:cubicBezTo>
                  <a:pt x="2596773" y="0"/>
                  <a:pt x="2647950" y="51177"/>
                  <a:pt x="2647950" y="114307"/>
                </a:cubicBezTo>
                <a:lnTo>
                  <a:pt x="2647950" y="1543043"/>
                </a:lnTo>
                <a:cubicBezTo>
                  <a:pt x="2647950" y="1606173"/>
                  <a:pt x="2596773" y="1657350"/>
                  <a:pt x="2533643" y="1657350"/>
                </a:cubicBezTo>
                <a:lnTo>
                  <a:pt x="114307" y="1657350"/>
                </a:lnTo>
                <a:cubicBezTo>
                  <a:pt x="51177" y="1657350"/>
                  <a:pt x="0" y="1606173"/>
                  <a:pt x="0" y="15430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</p:spPr>
      </p:sp>
      <p:sp>
        <p:nvSpPr>
          <p:cNvPr id="68" name="Shape 66"/>
          <p:cNvSpPr/>
          <p:nvPr/>
        </p:nvSpPr>
        <p:spPr>
          <a:xfrm>
            <a:off x="1754915" y="514151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33220" y="2846"/>
                </a:moveTo>
                <a:cubicBezTo>
                  <a:pt x="139080" y="-949"/>
                  <a:pt x="146670" y="-949"/>
                  <a:pt x="152530" y="2846"/>
                </a:cubicBezTo>
                <a:lnTo>
                  <a:pt x="277546" y="83214"/>
                </a:lnTo>
                <a:cubicBezTo>
                  <a:pt x="284187" y="87511"/>
                  <a:pt x="287257" y="95659"/>
                  <a:pt x="285024" y="103250"/>
                </a:cubicBezTo>
                <a:cubicBezTo>
                  <a:pt x="282792" y="110840"/>
                  <a:pt x="275816" y="116086"/>
                  <a:pt x="267891" y="116086"/>
                </a:cubicBezTo>
                <a:lnTo>
                  <a:pt x="250031" y="116086"/>
                </a:lnTo>
                <a:lnTo>
                  <a:pt x="250031" y="232172"/>
                </a:lnTo>
                <a:lnTo>
                  <a:pt x="278606" y="253603"/>
                </a:lnTo>
                <a:cubicBezTo>
                  <a:pt x="283127" y="256952"/>
                  <a:pt x="285750" y="262254"/>
                  <a:pt x="285750" y="267891"/>
                </a:cubicBezTo>
                <a:cubicBezTo>
                  <a:pt x="285750" y="277769"/>
                  <a:pt x="277769" y="285750"/>
                  <a:pt x="267891" y="285750"/>
                </a:cubicBezTo>
                <a:lnTo>
                  <a:pt x="17859" y="285750"/>
                </a:lnTo>
                <a:cubicBezTo>
                  <a:pt x="7981" y="285750"/>
                  <a:pt x="0" y="277769"/>
                  <a:pt x="0" y="267891"/>
                </a:cubicBezTo>
                <a:cubicBezTo>
                  <a:pt x="0" y="262254"/>
                  <a:pt x="2623" y="256952"/>
                  <a:pt x="7144" y="253603"/>
                </a:cubicBezTo>
                <a:lnTo>
                  <a:pt x="35719" y="232172"/>
                </a:lnTo>
                <a:lnTo>
                  <a:pt x="35719" y="232172"/>
                </a:lnTo>
                <a:lnTo>
                  <a:pt x="35719" y="116086"/>
                </a:lnTo>
                <a:lnTo>
                  <a:pt x="17859" y="116086"/>
                </a:lnTo>
                <a:cubicBezTo>
                  <a:pt x="9934" y="116086"/>
                  <a:pt x="2958" y="110840"/>
                  <a:pt x="726" y="103250"/>
                </a:cubicBezTo>
                <a:cubicBezTo>
                  <a:pt x="-1507" y="95659"/>
                  <a:pt x="1563" y="87455"/>
                  <a:pt x="8204" y="83214"/>
                </a:cubicBezTo>
                <a:lnTo>
                  <a:pt x="133220" y="2846"/>
                </a:lnTo>
                <a:close/>
                <a:moveTo>
                  <a:pt x="187523" y="116086"/>
                </a:moveTo>
                <a:lnTo>
                  <a:pt x="187523" y="232172"/>
                </a:lnTo>
                <a:lnTo>
                  <a:pt x="223242" y="232172"/>
                </a:lnTo>
                <a:lnTo>
                  <a:pt x="223242" y="116086"/>
                </a:lnTo>
                <a:lnTo>
                  <a:pt x="187523" y="116086"/>
                </a:lnTo>
                <a:close/>
                <a:moveTo>
                  <a:pt x="125016" y="232172"/>
                </a:moveTo>
                <a:lnTo>
                  <a:pt x="160734" y="232172"/>
                </a:lnTo>
                <a:lnTo>
                  <a:pt x="160734" y="116086"/>
                </a:lnTo>
                <a:lnTo>
                  <a:pt x="125016" y="116086"/>
                </a:lnTo>
                <a:lnTo>
                  <a:pt x="125016" y="232172"/>
                </a:lnTo>
                <a:close/>
                <a:moveTo>
                  <a:pt x="62508" y="116086"/>
                </a:moveTo>
                <a:lnTo>
                  <a:pt x="62508" y="232172"/>
                </a:lnTo>
                <a:lnTo>
                  <a:pt x="98227" y="232172"/>
                </a:lnTo>
                <a:lnTo>
                  <a:pt x="98227" y="116086"/>
                </a:lnTo>
                <a:lnTo>
                  <a:pt x="62508" y="116086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69" name="Text 67"/>
          <p:cNvSpPr/>
          <p:nvPr/>
        </p:nvSpPr>
        <p:spPr>
          <a:xfrm>
            <a:off x="681021" y="5541532"/>
            <a:ext cx="2428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政府扶持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52446" y="5884413"/>
            <a:ext cx="24860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05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15万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90546" y="6303448"/>
            <a:ext cx="2409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农业科技扶持资金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371784" y="4989128"/>
            <a:ext cx="2647950" cy="1657350"/>
          </a:xfrm>
          <a:custGeom>
            <a:avLst/>
            <a:gdLst/>
            <a:ahLst/>
            <a:cxnLst/>
            <a:rect l="l" t="t" r="r" b="b"/>
            <a:pathLst>
              <a:path w="2647950" h="1657350">
                <a:moveTo>
                  <a:pt x="114307" y="0"/>
                </a:moveTo>
                <a:lnTo>
                  <a:pt x="2533643" y="0"/>
                </a:lnTo>
                <a:cubicBezTo>
                  <a:pt x="2596773" y="0"/>
                  <a:pt x="2647950" y="51177"/>
                  <a:pt x="2647950" y="114307"/>
                </a:cubicBezTo>
                <a:lnTo>
                  <a:pt x="2647950" y="1543043"/>
                </a:lnTo>
                <a:cubicBezTo>
                  <a:pt x="2647950" y="1606173"/>
                  <a:pt x="2596773" y="1657350"/>
                  <a:pt x="2533643" y="1657350"/>
                </a:cubicBezTo>
                <a:lnTo>
                  <a:pt x="114307" y="1657350"/>
                </a:lnTo>
                <a:cubicBezTo>
                  <a:pt x="51177" y="1657350"/>
                  <a:pt x="0" y="1606173"/>
                  <a:pt x="0" y="15430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</p:spPr>
      </p:sp>
      <p:sp>
        <p:nvSpPr>
          <p:cNvPr id="73" name="Shape 71"/>
          <p:cNvSpPr/>
          <p:nvPr/>
        </p:nvSpPr>
        <p:spPr>
          <a:xfrm>
            <a:off x="4537422" y="5141519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60734" y="-8930"/>
                </a:moveTo>
                <a:cubicBezTo>
                  <a:pt x="153312" y="-8930"/>
                  <a:pt x="147340" y="-2958"/>
                  <a:pt x="147340" y="4465"/>
                </a:cubicBezTo>
                <a:lnTo>
                  <a:pt x="147340" y="11162"/>
                </a:lnTo>
                <a:lnTo>
                  <a:pt x="146335" y="11162"/>
                </a:lnTo>
                <a:cubicBezTo>
                  <a:pt x="125909" y="11162"/>
                  <a:pt x="109389" y="27738"/>
                  <a:pt x="109389" y="48109"/>
                </a:cubicBezTo>
                <a:cubicBezTo>
                  <a:pt x="109389" y="66749"/>
                  <a:pt x="123285" y="82488"/>
                  <a:pt x="141759" y="84776"/>
                </a:cubicBezTo>
                <a:lnTo>
                  <a:pt x="175803" y="89018"/>
                </a:lnTo>
                <a:cubicBezTo>
                  <a:pt x="178650" y="89353"/>
                  <a:pt x="180826" y="91808"/>
                  <a:pt x="180826" y="94710"/>
                </a:cubicBezTo>
                <a:cubicBezTo>
                  <a:pt x="180826" y="97892"/>
                  <a:pt x="178259" y="100403"/>
                  <a:pt x="175133" y="100403"/>
                </a:cubicBezTo>
                <a:lnTo>
                  <a:pt x="133945" y="100459"/>
                </a:lnTo>
                <a:cubicBezTo>
                  <a:pt x="125295" y="100459"/>
                  <a:pt x="118318" y="107435"/>
                  <a:pt x="118318" y="116086"/>
                </a:cubicBezTo>
                <a:cubicBezTo>
                  <a:pt x="118318" y="124737"/>
                  <a:pt x="125295" y="131713"/>
                  <a:pt x="133945" y="131713"/>
                </a:cubicBezTo>
                <a:lnTo>
                  <a:pt x="147340" y="131713"/>
                </a:lnTo>
                <a:lnTo>
                  <a:pt x="147340" y="138410"/>
                </a:lnTo>
                <a:cubicBezTo>
                  <a:pt x="147340" y="145833"/>
                  <a:pt x="153312" y="151805"/>
                  <a:pt x="160734" y="151805"/>
                </a:cubicBezTo>
                <a:cubicBezTo>
                  <a:pt x="168157" y="151805"/>
                  <a:pt x="174129" y="145833"/>
                  <a:pt x="174129" y="138410"/>
                </a:cubicBezTo>
                <a:lnTo>
                  <a:pt x="174129" y="131713"/>
                </a:lnTo>
                <a:lnTo>
                  <a:pt x="175133" y="131713"/>
                </a:lnTo>
                <a:cubicBezTo>
                  <a:pt x="195560" y="131713"/>
                  <a:pt x="212080" y="115137"/>
                  <a:pt x="212080" y="94766"/>
                </a:cubicBezTo>
                <a:cubicBezTo>
                  <a:pt x="212080" y="76126"/>
                  <a:pt x="198183" y="60387"/>
                  <a:pt x="179710" y="58099"/>
                </a:cubicBezTo>
                <a:lnTo>
                  <a:pt x="145666" y="53857"/>
                </a:lnTo>
                <a:cubicBezTo>
                  <a:pt x="142819" y="53522"/>
                  <a:pt x="140643" y="51067"/>
                  <a:pt x="140643" y="48165"/>
                </a:cubicBezTo>
                <a:cubicBezTo>
                  <a:pt x="140643" y="44983"/>
                  <a:pt x="143210" y="42472"/>
                  <a:pt x="146335" y="42472"/>
                </a:cubicBezTo>
                <a:lnTo>
                  <a:pt x="183059" y="42416"/>
                </a:lnTo>
                <a:cubicBezTo>
                  <a:pt x="191709" y="42416"/>
                  <a:pt x="198686" y="35440"/>
                  <a:pt x="198686" y="26789"/>
                </a:cubicBezTo>
                <a:cubicBezTo>
                  <a:pt x="198686" y="18138"/>
                  <a:pt x="191709" y="11162"/>
                  <a:pt x="183059" y="11162"/>
                </a:cubicBezTo>
                <a:lnTo>
                  <a:pt x="174129" y="11162"/>
                </a:lnTo>
                <a:lnTo>
                  <a:pt x="174129" y="4465"/>
                </a:lnTo>
                <a:cubicBezTo>
                  <a:pt x="174129" y="-2958"/>
                  <a:pt x="168157" y="-8930"/>
                  <a:pt x="160734" y="-8930"/>
                </a:cubicBezTo>
                <a:close/>
                <a:moveTo>
                  <a:pt x="61001" y="190593"/>
                </a:moveTo>
                <a:lnTo>
                  <a:pt x="37226" y="214313"/>
                </a:lnTo>
                <a:lnTo>
                  <a:pt x="17859" y="214313"/>
                </a:lnTo>
                <a:cubicBezTo>
                  <a:pt x="7981" y="214313"/>
                  <a:pt x="0" y="222293"/>
                  <a:pt x="0" y="232172"/>
                </a:cubicBezTo>
                <a:lnTo>
                  <a:pt x="0" y="267891"/>
                </a:lnTo>
                <a:cubicBezTo>
                  <a:pt x="0" y="277769"/>
                  <a:pt x="7981" y="285750"/>
                  <a:pt x="17859" y="285750"/>
                </a:cubicBezTo>
                <a:lnTo>
                  <a:pt x="196732" y="285750"/>
                </a:lnTo>
                <a:cubicBezTo>
                  <a:pt x="212917" y="285750"/>
                  <a:pt x="228712" y="280560"/>
                  <a:pt x="241771" y="270960"/>
                </a:cubicBezTo>
                <a:lnTo>
                  <a:pt x="312427" y="218889"/>
                </a:lnTo>
                <a:cubicBezTo>
                  <a:pt x="322362" y="211578"/>
                  <a:pt x="324483" y="197625"/>
                  <a:pt x="317171" y="187691"/>
                </a:cubicBezTo>
                <a:cubicBezTo>
                  <a:pt x="309860" y="177757"/>
                  <a:pt x="295908" y="175636"/>
                  <a:pt x="285973" y="182947"/>
                </a:cubicBezTo>
                <a:lnTo>
                  <a:pt x="219112" y="232172"/>
                </a:lnTo>
                <a:lnTo>
                  <a:pt x="156270" y="232172"/>
                </a:lnTo>
                <a:cubicBezTo>
                  <a:pt x="148847" y="232172"/>
                  <a:pt x="142875" y="226200"/>
                  <a:pt x="142875" y="218777"/>
                </a:cubicBezTo>
                <a:cubicBezTo>
                  <a:pt x="142875" y="211355"/>
                  <a:pt x="148847" y="205383"/>
                  <a:pt x="156270" y="205383"/>
                </a:cubicBezTo>
                <a:lnTo>
                  <a:pt x="196453" y="205383"/>
                </a:lnTo>
                <a:cubicBezTo>
                  <a:pt x="206332" y="205383"/>
                  <a:pt x="214313" y="197402"/>
                  <a:pt x="214313" y="187523"/>
                </a:cubicBezTo>
                <a:cubicBezTo>
                  <a:pt x="214313" y="177645"/>
                  <a:pt x="206332" y="169664"/>
                  <a:pt x="196453" y="169664"/>
                </a:cubicBezTo>
                <a:lnTo>
                  <a:pt x="111509" y="169664"/>
                </a:lnTo>
                <a:cubicBezTo>
                  <a:pt x="92590" y="169664"/>
                  <a:pt x="74395" y="177198"/>
                  <a:pt x="61001" y="190593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74" name="Text 72"/>
          <p:cNvSpPr/>
          <p:nvPr/>
        </p:nvSpPr>
        <p:spPr>
          <a:xfrm>
            <a:off x="3481305" y="5541532"/>
            <a:ext cx="2428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天使投资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3452730" y="5884413"/>
            <a:ext cx="24860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05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20万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3490830" y="6303448"/>
            <a:ext cx="2409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农业领域投资机构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172151" y="4989128"/>
            <a:ext cx="2647950" cy="1657350"/>
          </a:xfrm>
          <a:custGeom>
            <a:avLst/>
            <a:gdLst/>
            <a:ahLst/>
            <a:cxnLst/>
            <a:rect l="l" t="t" r="r" b="b"/>
            <a:pathLst>
              <a:path w="2647950" h="1657350">
                <a:moveTo>
                  <a:pt x="114307" y="0"/>
                </a:moveTo>
                <a:lnTo>
                  <a:pt x="2533643" y="0"/>
                </a:lnTo>
                <a:cubicBezTo>
                  <a:pt x="2596773" y="0"/>
                  <a:pt x="2647950" y="51177"/>
                  <a:pt x="2647950" y="114307"/>
                </a:cubicBezTo>
                <a:lnTo>
                  <a:pt x="2647950" y="1543043"/>
                </a:lnTo>
                <a:cubicBezTo>
                  <a:pt x="2647950" y="1606173"/>
                  <a:pt x="2596773" y="1657350"/>
                  <a:pt x="2533643" y="1657350"/>
                </a:cubicBezTo>
                <a:lnTo>
                  <a:pt x="114307" y="1657350"/>
                </a:lnTo>
                <a:cubicBezTo>
                  <a:pt x="51177" y="1657350"/>
                  <a:pt x="0" y="1606173"/>
                  <a:pt x="0" y="15430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</p:spPr>
      </p:sp>
      <p:sp>
        <p:nvSpPr>
          <p:cNvPr id="78" name="Shape 76"/>
          <p:cNvSpPr/>
          <p:nvPr/>
        </p:nvSpPr>
        <p:spPr>
          <a:xfrm>
            <a:off x="7337789" y="5141519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50075" y="47551"/>
                </a:moveTo>
                <a:lnTo>
                  <a:pt x="84999" y="119881"/>
                </a:lnTo>
                <a:cubicBezTo>
                  <a:pt x="82432" y="122727"/>
                  <a:pt x="82544" y="127136"/>
                  <a:pt x="85279" y="129871"/>
                </a:cubicBezTo>
                <a:cubicBezTo>
                  <a:pt x="102301" y="146893"/>
                  <a:pt x="129927" y="146893"/>
                  <a:pt x="146949" y="129871"/>
                </a:cubicBezTo>
                <a:lnTo>
                  <a:pt x="164697" y="112123"/>
                </a:lnTo>
                <a:cubicBezTo>
                  <a:pt x="167041" y="109779"/>
                  <a:pt x="169999" y="108496"/>
                  <a:pt x="173013" y="108272"/>
                </a:cubicBezTo>
                <a:cubicBezTo>
                  <a:pt x="176808" y="107938"/>
                  <a:pt x="180715" y="109221"/>
                  <a:pt x="183617" y="112123"/>
                </a:cubicBezTo>
                <a:lnTo>
                  <a:pt x="282178" y="209848"/>
                </a:lnTo>
                <a:lnTo>
                  <a:pt x="321469" y="178594"/>
                </a:lnTo>
                <a:lnTo>
                  <a:pt x="321469" y="17859"/>
                </a:lnTo>
                <a:lnTo>
                  <a:pt x="258961" y="53578"/>
                </a:lnTo>
                <a:lnTo>
                  <a:pt x="245678" y="44704"/>
                </a:lnTo>
                <a:cubicBezTo>
                  <a:pt x="236860" y="38844"/>
                  <a:pt x="226535" y="35719"/>
                  <a:pt x="215931" y="35719"/>
                </a:cubicBezTo>
                <a:lnTo>
                  <a:pt x="176640" y="35719"/>
                </a:lnTo>
                <a:cubicBezTo>
                  <a:pt x="176026" y="35719"/>
                  <a:pt x="175357" y="35719"/>
                  <a:pt x="174743" y="35775"/>
                </a:cubicBezTo>
                <a:cubicBezTo>
                  <a:pt x="165311" y="36277"/>
                  <a:pt x="156437" y="40518"/>
                  <a:pt x="150075" y="47551"/>
                </a:cubicBezTo>
                <a:close/>
                <a:moveTo>
                  <a:pt x="65075" y="101966"/>
                </a:moveTo>
                <a:lnTo>
                  <a:pt x="124681" y="35719"/>
                </a:lnTo>
                <a:lnTo>
                  <a:pt x="102580" y="35719"/>
                </a:lnTo>
                <a:cubicBezTo>
                  <a:pt x="88348" y="35719"/>
                  <a:pt x="74730" y="41356"/>
                  <a:pt x="64684" y="51402"/>
                </a:cubicBezTo>
                <a:lnTo>
                  <a:pt x="62508" y="53578"/>
                </a:lnTo>
                <a:lnTo>
                  <a:pt x="0" y="17859"/>
                </a:lnTo>
                <a:lnTo>
                  <a:pt x="0" y="178594"/>
                </a:lnTo>
                <a:lnTo>
                  <a:pt x="87288" y="251315"/>
                </a:lnTo>
                <a:cubicBezTo>
                  <a:pt x="100124" y="262031"/>
                  <a:pt x="116309" y="267891"/>
                  <a:pt x="132997" y="267891"/>
                </a:cubicBezTo>
                <a:lnTo>
                  <a:pt x="141759" y="267891"/>
                </a:lnTo>
                <a:lnTo>
                  <a:pt x="137852" y="263984"/>
                </a:lnTo>
                <a:cubicBezTo>
                  <a:pt x="132606" y="258738"/>
                  <a:pt x="132606" y="250254"/>
                  <a:pt x="137852" y="245064"/>
                </a:cubicBezTo>
                <a:cubicBezTo>
                  <a:pt x="143098" y="239874"/>
                  <a:pt x="151581" y="239818"/>
                  <a:pt x="156772" y="245064"/>
                </a:cubicBezTo>
                <a:lnTo>
                  <a:pt x="179654" y="267946"/>
                </a:lnTo>
                <a:lnTo>
                  <a:pt x="184677" y="267946"/>
                </a:lnTo>
                <a:cubicBezTo>
                  <a:pt x="195337" y="267946"/>
                  <a:pt x="205773" y="265547"/>
                  <a:pt x="215261" y="261082"/>
                </a:cubicBezTo>
                <a:lnTo>
                  <a:pt x="200360" y="246125"/>
                </a:lnTo>
                <a:cubicBezTo>
                  <a:pt x="195114" y="240878"/>
                  <a:pt x="195114" y="232395"/>
                  <a:pt x="200360" y="227205"/>
                </a:cubicBezTo>
                <a:cubicBezTo>
                  <a:pt x="205606" y="222014"/>
                  <a:pt x="214089" y="221959"/>
                  <a:pt x="219280" y="227205"/>
                </a:cubicBezTo>
                <a:lnTo>
                  <a:pt x="237139" y="245064"/>
                </a:lnTo>
                <a:lnTo>
                  <a:pt x="246906" y="235297"/>
                </a:lnTo>
                <a:cubicBezTo>
                  <a:pt x="251873" y="230330"/>
                  <a:pt x="253324" y="223131"/>
                  <a:pt x="251147" y="216824"/>
                </a:cubicBezTo>
                <a:lnTo>
                  <a:pt x="174185" y="140475"/>
                </a:lnTo>
                <a:lnTo>
                  <a:pt x="165869" y="148791"/>
                </a:lnTo>
                <a:cubicBezTo>
                  <a:pt x="138354" y="176306"/>
                  <a:pt x="93818" y="176306"/>
                  <a:pt x="66303" y="148791"/>
                </a:cubicBezTo>
                <a:cubicBezTo>
                  <a:pt x="53467" y="135954"/>
                  <a:pt x="52964" y="115360"/>
                  <a:pt x="65075" y="10191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79" name="Text 77"/>
          <p:cNvSpPr/>
          <p:nvPr/>
        </p:nvSpPr>
        <p:spPr>
          <a:xfrm>
            <a:off x="6281672" y="5541532"/>
            <a:ext cx="2428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政企合作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253097" y="5884413"/>
            <a:ext cx="24860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05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10万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6291197" y="6303448"/>
            <a:ext cx="2409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技术推广中心合作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972517" y="4989128"/>
            <a:ext cx="2647950" cy="1657350"/>
          </a:xfrm>
          <a:custGeom>
            <a:avLst/>
            <a:gdLst/>
            <a:ahLst/>
            <a:cxnLst/>
            <a:rect l="l" t="t" r="r" b="b"/>
            <a:pathLst>
              <a:path w="2647950" h="1657350">
                <a:moveTo>
                  <a:pt x="114307" y="0"/>
                </a:moveTo>
                <a:lnTo>
                  <a:pt x="2533643" y="0"/>
                </a:lnTo>
                <a:cubicBezTo>
                  <a:pt x="2596773" y="0"/>
                  <a:pt x="2647950" y="51177"/>
                  <a:pt x="2647950" y="114307"/>
                </a:cubicBezTo>
                <a:lnTo>
                  <a:pt x="2647950" y="1543043"/>
                </a:lnTo>
                <a:cubicBezTo>
                  <a:pt x="2647950" y="1606173"/>
                  <a:pt x="2596773" y="1657350"/>
                  <a:pt x="2533643" y="1657350"/>
                </a:cubicBezTo>
                <a:lnTo>
                  <a:pt x="114307" y="1657350"/>
                </a:lnTo>
                <a:cubicBezTo>
                  <a:pt x="51177" y="1657350"/>
                  <a:pt x="0" y="1606173"/>
                  <a:pt x="0" y="15430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</p:spPr>
      </p:sp>
      <p:sp>
        <p:nvSpPr>
          <p:cNvPr id="83" name="Shape 81"/>
          <p:cNvSpPr/>
          <p:nvPr/>
        </p:nvSpPr>
        <p:spPr>
          <a:xfrm>
            <a:off x="10138156" y="5141519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60734" y="-17859"/>
                </a:moveTo>
                <a:cubicBezTo>
                  <a:pt x="190305" y="-17859"/>
                  <a:pt x="214313" y="6148"/>
                  <a:pt x="214313" y="35719"/>
                </a:cubicBezTo>
                <a:cubicBezTo>
                  <a:pt x="214313" y="65289"/>
                  <a:pt x="190305" y="89297"/>
                  <a:pt x="160734" y="89297"/>
                </a:cubicBezTo>
                <a:cubicBezTo>
                  <a:pt x="131164" y="89297"/>
                  <a:pt x="107156" y="65289"/>
                  <a:pt x="107156" y="35719"/>
                </a:cubicBezTo>
                <a:cubicBezTo>
                  <a:pt x="107156" y="6148"/>
                  <a:pt x="131164" y="-17859"/>
                  <a:pt x="160734" y="-17859"/>
                </a:cubicBezTo>
                <a:close/>
                <a:moveTo>
                  <a:pt x="26789" y="169664"/>
                </a:moveTo>
                <a:cubicBezTo>
                  <a:pt x="26789" y="130541"/>
                  <a:pt x="53020" y="96329"/>
                  <a:pt x="92143" y="77632"/>
                </a:cubicBezTo>
                <a:cubicBezTo>
                  <a:pt x="106263" y="100682"/>
                  <a:pt x="131713" y="116086"/>
                  <a:pt x="160734" y="116086"/>
                </a:cubicBezTo>
                <a:cubicBezTo>
                  <a:pt x="191821" y="116086"/>
                  <a:pt x="218833" y="98394"/>
                  <a:pt x="232172" y="72554"/>
                </a:cubicBezTo>
                <a:cubicBezTo>
                  <a:pt x="240990" y="66247"/>
                  <a:pt x="251761" y="62508"/>
                  <a:pt x="263426" y="62508"/>
                </a:cubicBezTo>
                <a:lnTo>
                  <a:pt x="274309" y="62508"/>
                </a:lnTo>
                <a:cubicBezTo>
                  <a:pt x="280113" y="62508"/>
                  <a:pt x="284355" y="67977"/>
                  <a:pt x="282959" y="73614"/>
                </a:cubicBezTo>
                <a:lnTo>
                  <a:pt x="273416" y="111733"/>
                </a:lnTo>
                <a:cubicBezTo>
                  <a:pt x="278941" y="118653"/>
                  <a:pt x="283573" y="126076"/>
                  <a:pt x="287034" y="133945"/>
                </a:cubicBezTo>
                <a:lnTo>
                  <a:pt x="299145" y="133945"/>
                </a:lnTo>
                <a:cubicBezTo>
                  <a:pt x="306567" y="133945"/>
                  <a:pt x="312539" y="139917"/>
                  <a:pt x="312539" y="147340"/>
                </a:cubicBezTo>
                <a:lnTo>
                  <a:pt x="312539" y="209848"/>
                </a:lnTo>
                <a:cubicBezTo>
                  <a:pt x="312539" y="217270"/>
                  <a:pt x="306567" y="223242"/>
                  <a:pt x="299145" y="223242"/>
                </a:cubicBezTo>
                <a:lnTo>
                  <a:pt x="276820" y="223242"/>
                </a:lnTo>
                <a:cubicBezTo>
                  <a:pt x="267612" y="235521"/>
                  <a:pt x="255333" y="245343"/>
                  <a:pt x="241102" y="251538"/>
                </a:cubicBezTo>
                <a:lnTo>
                  <a:pt x="241102" y="267891"/>
                </a:lnTo>
                <a:cubicBezTo>
                  <a:pt x="241102" y="277769"/>
                  <a:pt x="233121" y="285750"/>
                  <a:pt x="223242" y="285750"/>
                </a:cubicBezTo>
                <a:lnTo>
                  <a:pt x="204825" y="285750"/>
                </a:lnTo>
                <a:cubicBezTo>
                  <a:pt x="196844" y="285750"/>
                  <a:pt x="189867" y="280448"/>
                  <a:pt x="187635" y="272802"/>
                </a:cubicBezTo>
                <a:lnTo>
                  <a:pt x="183673" y="258961"/>
                </a:lnTo>
                <a:lnTo>
                  <a:pt x="137740" y="258961"/>
                </a:lnTo>
                <a:lnTo>
                  <a:pt x="133778" y="272802"/>
                </a:lnTo>
                <a:cubicBezTo>
                  <a:pt x="131601" y="280448"/>
                  <a:pt x="124625" y="285750"/>
                  <a:pt x="116644" y="285750"/>
                </a:cubicBezTo>
                <a:lnTo>
                  <a:pt x="98227" y="285750"/>
                </a:lnTo>
                <a:cubicBezTo>
                  <a:pt x="88348" y="285750"/>
                  <a:pt x="80367" y="277769"/>
                  <a:pt x="80367" y="267891"/>
                </a:cubicBezTo>
                <a:lnTo>
                  <a:pt x="80367" y="251538"/>
                </a:lnTo>
                <a:cubicBezTo>
                  <a:pt x="48834" y="237753"/>
                  <a:pt x="26789" y="206276"/>
                  <a:pt x="26789" y="169664"/>
                </a:cubicBezTo>
                <a:close/>
                <a:moveTo>
                  <a:pt x="236637" y="178594"/>
                </a:moveTo>
                <a:cubicBezTo>
                  <a:pt x="244029" y="178594"/>
                  <a:pt x="250031" y="172592"/>
                  <a:pt x="250031" y="165199"/>
                </a:cubicBezTo>
                <a:cubicBezTo>
                  <a:pt x="250031" y="157807"/>
                  <a:pt x="244029" y="151805"/>
                  <a:pt x="236637" y="151805"/>
                </a:cubicBezTo>
                <a:cubicBezTo>
                  <a:pt x="229244" y="151805"/>
                  <a:pt x="223242" y="157807"/>
                  <a:pt x="223242" y="165199"/>
                </a:cubicBezTo>
                <a:cubicBezTo>
                  <a:pt x="223242" y="172592"/>
                  <a:pt x="229244" y="178594"/>
                  <a:pt x="236637" y="178594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84" name="Text 82"/>
          <p:cNvSpPr/>
          <p:nvPr/>
        </p:nvSpPr>
        <p:spPr>
          <a:xfrm>
            <a:off x="9082038" y="5541532"/>
            <a:ext cx="2428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自有资金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9053463" y="5884413"/>
            <a:ext cx="24860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05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5万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9091563" y="6303448"/>
            <a:ext cx="2409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团队启动资金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57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icl-group.com/e3214e304cbd7f01c39aaad636340b2d146cf434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7834" b="783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A574A">
                  <a:alpha val="95000"/>
                </a:srgbClr>
              </a:gs>
              <a:gs pos="50000">
                <a:srgbClr val="2A574A">
                  <a:alpha val="85000"/>
                </a:srgbClr>
              </a:gs>
              <a:gs pos="100000">
                <a:srgbClr val="2A574A">
                  <a:alpha val="70000"/>
                </a:srgbClr>
              </a:gs>
            </a:gsLst>
            <a:lin ang="2700000" scaled="1"/>
          </a:gradFill>
        </p:spPr>
      </p:sp>
      <p:sp>
        <p:nvSpPr>
          <p:cNvPr id="4" name="Text 1"/>
          <p:cNvSpPr/>
          <p:nvPr/>
        </p:nvSpPr>
        <p:spPr>
          <a:xfrm>
            <a:off x="238125" y="685763"/>
            <a:ext cx="1171575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感谢观看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334000" y="1409653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6" name="Text 3"/>
          <p:cNvSpPr/>
          <p:nvPr/>
        </p:nvSpPr>
        <p:spPr>
          <a:xfrm>
            <a:off x="309563" y="1695320"/>
            <a:ext cx="11572875" cy="466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F4F7F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科技赋能农业，精准防控病害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23850" y="2312045"/>
            <a:ext cx="1154430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D4A05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让每一块马铃薯都健康生长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707639" y="3187233"/>
            <a:ext cx="1434042" cy="1872192"/>
          </a:xfrm>
          <a:custGeom>
            <a:avLst/>
            <a:gdLst/>
            <a:ahLst/>
            <a:cxnLst/>
            <a:rect l="l" t="t" r="r" b="b"/>
            <a:pathLst>
              <a:path w="1434042" h="1872192">
                <a:moveTo>
                  <a:pt x="114293" y="0"/>
                </a:moveTo>
                <a:lnTo>
                  <a:pt x="1319749" y="0"/>
                </a:lnTo>
                <a:cubicBezTo>
                  <a:pt x="1382871" y="0"/>
                  <a:pt x="1434042" y="51171"/>
                  <a:pt x="1434042" y="114293"/>
                </a:cubicBezTo>
                <a:lnTo>
                  <a:pt x="1434042" y="1757899"/>
                </a:lnTo>
                <a:cubicBezTo>
                  <a:pt x="1434042" y="1821021"/>
                  <a:pt x="1382871" y="1872192"/>
                  <a:pt x="1319749" y="1872192"/>
                </a:cubicBezTo>
                <a:lnTo>
                  <a:pt x="114293" y="1872192"/>
                </a:lnTo>
                <a:cubicBezTo>
                  <a:pt x="51171" y="1872192"/>
                  <a:pt x="0" y="1821021"/>
                  <a:pt x="0" y="1757899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  <a:ln w="7056">
            <a:solidFill>
              <a:srgbClr val="F4F7F6">
                <a:alpha val="2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54368" y="341841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00038" y="171450"/>
                </a:moveTo>
                <a:cubicBezTo>
                  <a:pt x="300038" y="100481"/>
                  <a:pt x="242419" y="42863"/>
                  <a:pt x="171450" y="42863"/>
                </a:cubicBezTo>
                <a:cubicBezTo>
                  <a:pt x="100481" y="42863"/>
                  <a:pt x="42863" y="100481"/>
                  <a:pt x="42863" y="171450"/>
                </a:cubicBezTo>
                <a:cubicBezTo>
                  <a:pt x="42863" y="242419"/>
                  <a:pt x="100481" y="300038"/>
                  <a:pt x="171450" y="300038"/>
                </a:cubicBezTo>
                <a:cubicBezTo>
                  <a:pt x="242419" y="300038"/>
                  <a:pt x="300038" y="242419"/>
                  <a:pt x="300038" y="171450"/>
                </a:cubicBezTo>
                <a:close/>
                <a:moveTo>
                  <a:pt x="0" y="171450"/>
                </a:moveTo>
                <a:cubicBezTo>
                  <a:pt x="0" y="76824"/>
                  <a:pt x="76824" y="0"/>
                  <a:pt x="171450" y="0"/>
                </a:cubicBez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lose/>
                <a:moveTo>
                  <a:pt x="171450" y="225028"/>
                </a:moveTo>
                <a:cubicBezTo>
                  <a:pt x="201021" y="225028"/>
                  <a:pt x="225028" y="201021"/>
                  <a:pt x="225028" y="171450"/>
                </a:cubicBezTo>
                <a:cubicBezTo>
                  <a:pt x="225028" y="141879"/>
                  <a:pt x="201021" y="117872"/>
                  <a:pt x="171450" y="117872"/>
                </a:cubicBezTo>
                <a:cubicBezTo>
                  <a:pt x="141879" y="117872"/>
                  <a:pt x="117872" y="141879"/>
                  <a:pt x="117872" y="171450"/>
                </a:cubicBezTo>
                <a:cubicBezTo>
                  <a:pt x="117872" y="201021"/>
                  <a:pt x="141879" y="225028"/>
                  <a:pt x="171450" y="225028"/>
                </a:cubicBezTo>
                <a:close/>
                <a:moveTo>
                  <a:pt x="171450" y="75009"/>
                </a:moveTo>
                <a:cubicBezTo>
                  <a:pt x="224677" y="75009"/>
                  <a:pt x="267891" y="118223"/>
                  <a:pt x="267891" y="171450"/>
                </a:cubicBezTo>
                <a:cubicBezTo>
                  <a:pt x="267891" y="224677"/>
                  <a:pt x="224677" y="267891"/>
                  <a:pt x="171450" y="267891"/>
                </a:cubicBezTo>
                <a:cubicBezTo>
                  <a:pt x="118223" y="267891"/>
                  <a:pt x="75009" y="224677"/>
                  <a:pt x="75009" y="171450"/>
                </a:cubicBezTo>
                <a:cubicBezTo>
                  <a:pt x="75009" y="118223"/>
                  <a:pt x="118223" y="75009"/>
                  <a:pt x="171450" y="75009"/>
                </a:cubicBezTo>
                <a:close/>
                <a:moveTo>
                  <a:pt x="150019" y="171450"/>
                </a:moveTo>
                <a:cubicBezTo>
                  <a:pt x="150019" y="159622"/>
                  <a:pt x="159622" y="150019"/>
                  <a:pt x="171450" y="150019"/>
                </a:cubicBezTo>
                <a:cubicBezTo>
                  <a:pt x="183278" y="150019"/>
                  <a:pt x="192881" y="159622"/>
                  <a:pt x="192881" y="171450"/>
                </a:cubicBezTo>
                <a:cubicBezTo>
                  <a:pt x="192881" y="183278"/>
                  <a:pt x="183278" y="192881"/>
                  <a:pt x="171450" y="192881"/>
                </a:cubicBezTo>
                <a:cubicBezTo>
                  <a:pt x="159622" y="192881"/>
                  <a:pt x="150019" y="183278"/>
                  <a:pt x="150019" y="17145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10" name="Text 7"/>
          <p:cNvSpPr/>
          <p:nvPr/>
        </p:nvSpPr>
        <p:spPr>
          <a:xfrm>
            <a:off x="3891194" y="3875568"/>
            <a:ext cx="1066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精准识别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67382" y="4218366"/>
            <a:ext cx="11144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05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≥95%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900719" y="4599282"/>
            <a:ext cx="1047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F7F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识别准确率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377822" y="3187233"/>
            <a:ext cx="1434042" cy="1872192"/>
          </a:xfrm>
          <a:custGeom>
            <a:avLst/>
            <a:gdLst/>
            <a:ahLst/>
            <a:cxnLst/>
            <a:rect l="l" t="t" r="r" b="b"/>
            <a:pathLst>
              <a:path w="1434042" h="1872192">
                <a:moveTo>
                  <a:pt x="114293" y="0"/>
                </a:moveTo>
                <a:lnTo>
                  <a:pt x="1319749" y="0"/>
                </a:lnTo>
                <a:cubicBezTo>
                  <a:pt x="1382871" y="0"/>
                  <a:pt x="1434042" y="51171"/>
                  <a:pt x="1434042" y="114293"/>
                </a:cubicBezTo>
                <a:lnTo>
                  <a:pt x="1434042" y="1757899"/>
                </a:lnTo>
                <a:cubicBezTo>
                  <a:pt x="1434042" y="1821021"/>
                  <a:pt x="1382871" y="1872192"/>
                  <a:pt x="1319749" y="1872192"/>
                </a:cubicBezTo>
                <a:lnTo>
                  <a:pt x="114293" y="1872192"/>
                </a:lnTo>
                <a:cubicBezTo>
                  <a:pt x="51171" y="1872192"/>
                  <a:pt x="0" y="1821021"/>
                  <a:pt x="0" y="1757899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  <a:ln w="7056">
            <a:solidFill>
              <a:srgbClr val="F4F7F6">
                <a:alpha val="2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81688" y="3418415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14313" y="10716"/>
                </a:moveTo>
                <a:cubicBezTo>
                  <a:pt x="252754" y="10716"/>
                  <a:pt x="283964" y="41925"/>
                  <a:pt x="283964" y="80367"/>
                </a:cubicBezTo>
                <a:cubicBezTo>
                  <a:pt x="283964" y="118809"/>
                  <a:pt x="252754" y="150019"/>
                  <a:pt x="214313" y="150019"/>
                </a:cubicBezTo>
                <a:cubicBezTo>
                  <a:pt x="175871" y="150019"/>
                  <a:pt x="144661" y="118809"/>
                  <a:pt x="144661" y="80367"/>
                </a:cubicBezTo>
                <a:cubicBezTo>
                  <a:pt x="144661" y="41925"/>
                  <a:pt x="175871" y="10716"/>
                  <a:pt x="214313" y="10716"/>
                </a:cubicBezTo>
                <a:close/>
                <a:moveTo>
                  <a:pt x="64294" y="58936"/>
                </a:moveTo>
                <a:cubicBezTo>
                  <a:pt x="90907" y="58936"/>
                  <a:pt x="112514" y="80543"/>
                  <a:pt x="112514" y="107156"/>
                </a:cubicBezTo>
                <a:cubicBezTo>
                  <a:pt x="112514" y="133770"/>
                  <a:pt x="90907" y="155377"/>
                  <a:pt x="64294" y="155377"/>
                </a:cubicBezTo>
                <a:cubicBezTo>
                  <a:pt x="37680" y="155377"/>
                  <a:pt x="16073" y="133770"/>
                  <a:pt x="16073" y="107156"/>
                </a:cubicBezTo>
                <a:cubicBezTo>
                  <a:pt x="16073" y="80543"/>
                  <a:pt x="37680" y="58936"/>
                  <a:pt x="64294" y="58936"/>
                </a:cubicBezTo>
                <a:close/>
                <a:moveTo>
                  <a:pt x="0" y="278606"/>
                </a:moveTo>
                <a:cubicBezTo>
                  <a:pt x="0" y="231257"/>
                  <a:pt x="38375" y="192881"/>
                  <a:pt x="85725" y="192881"/>
                </a:cubicBezTo>
                <a:cubicBezTo>
                  <a:pt x="94298" y="192881"/>
                  <a:pt x="102602" y="194154"/>
                  <a:pt x="110438" y="196498"/>
                </a:cubicBezTo>
                <a:cubicBezTo>
                  <a:pt x="88404" y="221144"/>
                  <a:pt x="75009" y="253692"/>
                  <a:pt x="75009" y="289322"/>
                </a:cubicBezTo>
                <a:lnTo>
                  <a:pt x="75009" y="300038"/>
                </a:lnTo>
                <a:cubicBezTo>
                  <a:pt x="75009" y="307672"/>
                  <a:pt x="76617" y="314905"/>
                  <a:pt x="79497" y="321469"/>
                </a:cubicBezTo>
                <a:lnTo>
                  <a:pt x="21431" y="321469"/>
                </a:lnTo>
                <a:cubicBezTo>
                  <a:pt x="9577" y="321469"/>
                  <a:pt x="0" y="311892"/>
                  <a:pt x="0" y="300038"/>
                </a:cubicBezTo>
                <a:lnTo>
                  <a:pt x="0" y="278606"/>
                </a:lnTo>
                <a:close/>
                <a:moveTo>
                  <a:pt x="349128" y="321469"/>
                </a:moveTo>
                <a:cubicBezTo>
                  <a:pt x="352008" y="314905"/>
                  <a:pt x="353616" y="307672"/>
                  <a:pt x="353616" y="300038"/>
                </a:cubicBezTo>
                <a:lnTo>
                  <a:pt x="353616" y="289322"/>
                </a:lnTo>
                <a:cubicBezTo>
                  <a:pt x="353616" y="253692"/>
                  <a:pt x="340221" y="221144"/>
                  <a:pt x="318187" y="196498"/>
                </a:cubicBezTo>
                <a:cubicBezTo>
                  <a:pt x="326023" y="194154"/>
                  <a:pt x="334328" y="192881"/>
                  <a:pt x="342900" y="192881"/>
                </a:cubicBezTo>
                <a:cubicBezTo>
                  <a:pt x="390250" y="192881"/>
                  <a:pt x="428625" y="231257"/>
                  <a:pt x="428625" y="278606"/>
                </a:cubicBezTo>
                <a:lnTo>
                  <a:pt x="428625" y="300038"/>
                </a:lnTo>
                <a:cubicBezTo>
                  <a:pt x="428625" y="311892"/>
                  <a:pt x="419048" y="321469"/>
                  <a:pt x="407194" y="321469"/>
                </a:cubicBezTo>
                <a:lnTo>
                  <a:pt x="349128" y="321469"/>
                </a:lnTo>
                <a:close/>
                <a:moveTo>
                  <a:pt x="316111" y="107156"/>
                </a:moveTo>
                <a:cubicBezTo>
                  <a:pt x="316111" y="80543"/>
                  <a:pt x="337718" y="58936"/>
                  <a:pt x="364331" y="58936"/>
                </a:cubicBezTo>
                <a:cubicBezTo>
                  <a:pt x="390945" y="58936"/>
                  <a:pt x="412552" y="80543"/>
                  <a:pt x="412552" y="107156"/>
                </a:cubicBezTo>
                <a:cubicBezTo>
                  <a:pt x="412552" y="133770"/>
                  <a:pt x="390945" y="155377"/>
                  <a:pt x="364331" y="155377"/>
                </a:cubicBezTo>
                <a:cubicBezTo>
                  <a:pt x="337718" y="155377"/>
                  <a:pt x="316111" y="133770"/>
                  <a:pt x="316111" y="107156"/>
                </a:cubicBezTo>
                <a:close/>
                <a:moveTo>
                  <a:pt x="107156" y="289322"/>
                </a:moveTo>
                <a:cubicBezTo>
                  <a:pt x="107156" y="230118"/>
                  <a:pt x="155109" y="182166"/>
                  <a:pt x="214313" y="182166"/>
                </a:cubicBezTo>
                <a:cubicBezTo>
                  <a:pt x="273516" y="182166"/>
                  <a:pt x="321469" y="230118"/>
                  <a:pt x="321469" y="289322"/>
                </a:cubicBezTo>
                <a:lnTo>
                  <a:pt x="321469" y="300038"/>
                </a:lnTo>
                <a:cubicBezTo>
                  <a:pt x="321469" y="311892"/>
                  <a:pt x="311892" y="321469"/>
                  <a:pt x="300038" y="321469"/>
                </a:cubicBezTo>
                <a:lnTo>
                  <a:pt x="128588" y="321469"/>
                </a:lnTo>
                <a:cubicBezTo>
                  <a:pt x="116733" y="321469"/>
                  <a:pt x="107156" y="311892"/>
                  <a:pt x="107156" y="300038"/>
                </a:cubicBezTo>
                <a:lnTo>
                  <a:pt x="107156" y="289322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15" name="Text 12"/>
          <p:cNvSpPr/>
          <p:nvPr/>
        </p:nvSpPr>
        <p:spPr>
          <a:xfrm>
            <a:off x="5561377" y="3875568"/>
            <a:ext cx="1066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服务用户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537564" y="4218366"/>
            <a:ext cx="11144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05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2000+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570902" y="4599282"/>
            <a:ext cx="1047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F7F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种植户/合作社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048004" y="3187233"/>
            <a:ext cx="1434042" cy="1872192"/>
          </a:xfrm>
          <a:custGeom>
            <a:avLst/>
            <a:gdLst/>
            <a:ahLst/>
            <a:cxnLst/>
            <a:rect l="l" t="t" r="r" b="b"/>
            <a:pathLst>
              <a:path w="1434042" h="1872192">
                <a:moveTo>
                  <a:pt x="114293" y="0"/>
                </a:moveTo>
                <a:lnTo>
                  <a:pt x="1319749" y="0"/>
                </a:lnTo>
                <a:cubicBezTo>
                  <a:pt x="1382871" y="0"/>
                  <a:pt x="1434042" y="51171"/>
                  <a:pt x="1434042" y="114293"/>
                </a:cubicBezTo>
                <a:lnTo>
                  <a:pt x="1434042" y="1757899"/>
                </a:lnTo>
                <a:cubicBezTo>
                  <a:pt x="1434042" y="1821021"/>
                  <a:pt x="1382871" y="1872192"/>
                  <a:pt x="1319749" y="1872192"/>
                </a:cubicBezTo>
                <a:lnTo>
                  <a:pt x="114293" y="1872192"/>
                </a:lnTo>
                <a:cubicBezTo>
                  <a:pt x="51171" y="1872192"/>
                  <a:pt x="0" y="1821021"/>
                  <a:pt x="0" y="1757899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F4F7F6">
              <a:alpha val="10196"/>
            </a:srgbClr>
          </a:solidFill>
          <a:ln w="7056">
            <a:solidFill>
              <a:srgbClr val="F4F7F6">
                <a:alpha val="2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94733" y="341841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5725" y="214313"/>
                </a:moveTo>
                <a:lnTo>
                  <a:pt x="16408" y="214313"/>
                </a:lnTo>
                <a:cubicBezTo>
                  <a:pt x="-268" y="214313"/>
                  <a:pt x="-10515" y="196163"/>
                  <a:pt x="-1942" y="181831"/>
                </a:cubicBezTo>
                <a:lnTo>
                  <a:pt x="33486" y="122761"/>
                </a:lnTo>
                <a:cubicBezTo>
                  <a:pt x="39313" y="113050"/>
                  <a:pt x="49761" y="107156"/>
                  <a:pt x="61079" y="107156"/>
                </a:cubicBezTo>
                <a:lnTo>
                  <a:pt x="124703" y="107156"/>
                </a:lnTo>
                <a:cubicBezTo>
                  <a:pt x="175669" y="20828"/>
                  <a:pt x="251683" y="16475"/>
                  <a:pt x="302515" y="23909"/>
                </a:cubicBezTo>
                <a:cubicBezTo>
                  <a:pt x="311088" y="25182"/>
                  <a:pt x="317785" y="31879"/>
                  <a:pt x="318991" y="40385"/>
                </a:cubicBezTo>
                <a:cubicBezTo>
                  <a:pt x="326425" y="91217"/>
                  <a:pt x="322072" y="167231"/>
                  <a:pt x="235744" y="218197"/>
                </a:cubicBezTo>
                <a:lnTo>
                  <a:pt x="235744" y="281821"/>
                </a:lnTo>
                <a:cubicBezTo>
                  <a:pt x="235744" y="293139"/>
                  <a:pt x="229850" y="303587"/>
                  <a:pt x="220139" y="309414"/>
                </a:cubicBezTo>
                <a:lnTo>
                  <a:pt x="161069" y="344842"/>
                </a:lnTo>
                <a:cubicBezTo>
                  <a:pt x="146804" y="353415"/>
                  <a:pt x="128588" y="343101"/>
                  <a:pt x="128588" y="326492"/>
                </a:cubicBezTo>
                <a:lnTo>
                  <a:pt x="128588" y="257175"/>
                </a:lnTo>
                <a:cubicBezTo>
                  <a:pt x="128588" y="233534"/>
                  <a:pt x="109366" y="214313"/>
                  <a:pt x="85725" y="214313"/>
                </a:cubicBezTo>
                <a:lnTo>
                  <a:pt x="85658" y="214313"/>
                </a:lnTo>
                <a:close/>
                <a:moveTo>
                  <a:pt x="267891" y="107156"/>
                </a:moveTo>
                <a:cubicBezTo>
                  <a:pt x="267891" y="89414"/>
                  <a:pt x="253486" y="75009"/>
                  <a:pt x="235744" y="75009"/>
                </a:cubicBezTo>
                <a:cubicBezTo>
                  <a:pt x="218001" y="75009"/>
                  <a:pt x="203597" y="89414"/>
                  <a:pt x="203597" y="107156"/>
                </a:cubicBezTo>
                <a:cubicBezTo>
                  <a:pt x="203597" y="124899"/>
                  <a:pt x="218001" y="139303"/>
                  <a:pt x="235744" y="139303"/>
                </a:cubicBezTo>
                <a:cubicBezTo>
                  <a:pt x="253486" y="139303"/>
                  <a:pt x="267891" y="124899"/>
                  <a:pt x="267891" y="107156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0" name="Text 17"/>
          <p:cNvSpPr/>
          <p:nvPr/>
        </p:nvSpPr>
        <p:spPr>
          <a:xfrm>
            <a:off x="7231559" y="3875568"/>
            <a:ext cx="1066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4F7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持续创新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207747" y="4218366"/>
            <a:ext cx="11144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05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数字化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241084" y="4599282"/>
            <a:ext cx="1047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F7F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推动农业转型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33375" y="5562702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4F7F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项目负责人：王鹏飞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38138" y="5905500"/>
            <a:ext cx="11515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4F7F6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2026年北京农学院"农林杯"创业计划竞赛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58.35,&quot;left&quot;:43.4,&quot;top&quot;:98,&quot;width&quot;:829.65}"/>
</p:tagLst>
</file>

<file path=ppt/tags/tag2.xml><?xml version="1.0" encoding="utf-8"?>
<p:tagLst xmlns:p="http://schemas.openxmlformats.org/presentationml/2006/main">
  <p:tag name="KSO_WM_DIAGRAM_VIRTUALLY_FRAME" val="{&quot;height&quot;:346.95,&quot;left&quot;:183.7,&quot;top&quot;:19.6,&quot;width&quot;:607.7}"/>
</p:tagLst>
</file>

<file path=ppt/tags/tag3.xml><?xml version="1.0" encoding="utf-8"?>
<p:tagLst xmlns:p="http://schemas.openxmlformats.org/presentationml/2006/main">
  <p:tag name="KSO_WM_DIAGRAM_VIRTUALLY_FRAME" val="{&quot;height&quot;:346.95,&quot;left&quot;:183.7,&quot;top&quot;:19.6,&quot;width&quot;:607.7}"/>
</p:tagLst>
</file>

<file path=ppt/tags/tag4.xml><?xml version="1.0" encoding="utf-8"?>
<p:tagLst xmlns:p="http://schemas.openxmlformats.org/presentationml/2006/main">
  <p:tag name="KSO_WM_DIAGRAM_VIRTUALLY_FRAME" val="{&quot;height&quot;:346.95,&quot;left&quot;:183.7,&quot;top&quot;:19.6,&quot;width&quot;:607.7}"/>
</p:tagLst>
</file>

<file path=ppt/tags/tag5.xml><?xml version="1.0" encoding="utf-8"?>
<p:tagLst xmlns:p="http://schemas.openxmlformats.org/presentationml/2006/main">
  <p:tag name="KSO_WM_DIAGRAM_VIRTUALLY_FRAME" val="{&quot;height&quot;:346.95,&quot;left&quot;:183.7,&quot;top&quot;:19.6,&quot;width&quot;:607.7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3877</Words>
  <Application>WPS 演示</Application>
  <PresentationFormat>On-screen Show (16:9)</PresentationFormat>
  <Paragraphs>767</Paragraphs>
  <Slides>20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宋体</vt:lpstr>
      <vt:lpstr>Wingdings</vt:lpstr>
      <vt:lpstr>MiSans</vt:lpstr>
      <vt:lpstr>MiSans</vt:lpstr>
      <vt:lpstr>Alimama ShuHeiTi</vt:lpstr>
      <vt:lpstr>Alimama ShuHeiTi</vt:lpstr>
      <vt:lpstr>Calibri</vt:lpstr>
      <vt:lpstr>微软雅黑</vt:lpstr>
      <vt:lpstr>Arial Unicode MS</vt:lpstr>
      <vt:lpstr>等线</vt:lpstr>
      <vt:lpstr>仿宋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薯安智检——马铃薯病害智能识别系统</dc:title>
  <dc:creator>Kimi</dc:creator>
  <dc:subject>薯安智检——马铃薯病害智能识别系统</dc:subject>
  <cp:lastModifiedBy>早已放下</cp:lastModifiedBy>
  <cp:revision>2</cp:revision>
  <dcterms:created xsi:type="dcterms:W3CDTF">2026-03-26T17:38:00Z</dcterms:created>
  <dcterms:modified xsi:type="dcterms:W3CDTF">2026-03-26T18:06:32Z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薯安智检——马铃薯病害智能识别系统","ContentProducer":"001191110108MACG2KBH8F10000","ProduceID":"19d2b35e-2ed2-8b57-8000-000060dce584","ReservedCode1":"","ContentPropagator":"001191110108MACG2KBH8F20000","PropagateID":"19d2b35e-2ed2-8b57-8000-000060dce584","ReservedCode2":""}</vt:lpwstr>
  </property>
  <property fmtid="{D5CDD505-2E9C-101B-9397-08002B2CF9AE}" pid="3" name="KSOProductBuildVer">
    <vt:lpwstr>2052-12.1.0.25225</vt:lpwstr>
  </property>
  <property fmtid="{D5CDD505-2E9C-101B-9397-08002B2CF9AE}" pid="4" name="ICV">
    <vt:lpwstr>88BF54535CEE4BB29A73F1A8FFAC83B2_12</vt:lpwstr>
  </property>
</Properties>
</file>